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11"/>
  </p:notesMasterIdLst>
  <p:handoutMasterIdLst>
    <p:handoutMasterId r:id="rId12"/>
  </p:handoutMasterIdLst>
  <p:sldIdLst>
    <p:sldId id="259" r:id="rId2"/>
    <p:sldId id="268" r:id="rId3"/>
    <p:sldId id="260" r:id="rId4"/>
    <p:sldId id="261" r:id="rId5"/>
    <p:sldId id="267" r:id="rId6"/>
    <p:sldId id="266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gxin Yuan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48" y="5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84620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22330" y="371475"/>
            <a:ext cx="974725" cy="1847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1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35665" y="365125"/>
            <a:ext cx="948055" cy="1797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0" imgH="0" progId="TCLayout.ActiveDocument.1">
                  <p:embed/>
                </p:oleObj>
              </mc:Choice>
              <mc:Fallback>
                <p:oleObj name="think-cell 幻灯片" r:id="rId7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51AF666-2BD4-4FC4-B77F-9044D192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45" y="1528261"/>
            <a:ext cx="4698474" cy="440758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爆炸图</a:t>
            </a: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08710"/>
              </p:ext>
            </p:extLst>
          </p:nvPr>
        </p:nvGraphicFramePr>
        <p:xfrm>
          <a:off x="6879771" y="2426649"/>
          <a:ext cx="4026104" cy="2427563"/>
        </p:xfrm>
        <a:graphic>
          <a:graphicData uri="http://schemas.openxmlformats.org/drawingml/2006/table">
            <a:tbl>
              <a:tblPr/>
              <a:tblGrid>
                <a:gridCol w="1110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1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Item</a:t>
                      </a: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 </a:t>
                      </a:r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No.</a:t>
                      </a:r>
                      <a:endParaRPr lang="zh-CN" altLang="en-US" sz="1200" b="1" kern="1200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Item</a:t>
                      </a: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 </a:t>
                      </a:r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Name</a:t>
                      </a:r>
                      <a:endParaRPr lang="zh-CN" altLang="en-US" sz="1200" b="1" kern="1200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03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200" b="1" baseline="0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1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上壳体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kumimoji="1" lang="en-US" altLang="zh-CN" sz="1200" b="1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cs typeface="+mn-ea"/>
                          <a:sym typeface="+mn-lt"/>
                        </a:rPr>
                        <a:t>2</a:t>
                      </a:r>
                      <a:endParaRPr lang="zh-CN" altLang="en-US" sz="1200" b="1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导热胶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微软雅黑" charset="-122"/>
                          <a:ea typeface="微软雅黑" charset="-122"/>
                        </a:rPr>
                        <a:t>3</a:t>
                      </a:r>
                      <a:endParaRPr lang="zh-CN" altLang="en-US" sz="1200" b="1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1200" dirty="0"/>
                        <a:t>PCBA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27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微软雅黑" charset="-122"/>
                          <a:ea typeface="微软雅黑" charset="-122"/>
                        </a:rPr>
                        <a:t>4</a:t>
                      </a:r>
                      <a:endParaRPr lang="zh-CN" altLang="en-US" sz="1200" b="1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下壳体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微软雅黑" charset="-122"/>
                          <a:ea typeface="微软雅黑" charset="-122"/>
                        </a:rPr>
                        <a:t>5</a:t>
                      </a:r>
                      <a:endParaRPr lang="zh-CN" altLang="en-US" sz="1200" b="1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螺钉</a:t>
                      </a:r>
                      <a:r>
                        <a:rPr lang="en-US" altLang="zh-CN" sz="1200" dirty="0"/>
                        <a:t>*6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0603183-33C5-7503-6D64-895C23F998D1}"/>
              </a:ext>
            </a:extLst>
          </p:cNvPr>
          <p:cNvSpPr txBox="1"/>
          <p:nvPr/>
        </p:nvSpPr>
        <p:spPr>
          <a:xfrm>
            <a:off x="6879771" y="5498402"/>
            <a:ext cx="3600000" cy="30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200" dirty="0"/>
              <a:t>尺寸：</a:t>
            </a:r>
            <a:r>
              <a:rPr lang="en-US" altLang="zh-CN" sz="1200" dirty="0"/>
              <a:t>127mm*112mm*31mm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9AE904-36C6-4FEC-FDA8-4C00BC37C0C8}"/>
              </a:ext>
            </a:extLst>
          </p:cNvPr>
          <p:cNvSpPr txBox="1"/>
          <p:nvPr/>
        </p:nvSpPr>
        <p:spPr>
          <a:xfrm>
            <a:off x="5390585" y="1874002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7F02F2-8044-124B-EC88-71B743C6F2F9}"/>
              </a:ext>
            </a:extLst>
          </p:cNvPr>
          <p:cNvSpPr txBox="1"/>
          <p:nvPr/>
        </p:nvSpPr>
        <p:spPr>
          <a:xfrm>
            <a:off x="2181860" y="2684947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914702-70FF-7D5A-BECE-848B49E76AD9}"/>
              </a:ext>
            </a:extLst>
          </p:cNvPr>
          <p:cNvSpPr txBox="1"/>
          <p:nvPr/>
        </p:nvSpPr>
        <p:spPr>
          <a:xfrm>
            <a:off x="5118840" y="3271098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9B885F-71C9-9BF5-9F70-BE93F2B7CE01}"/>
              </a:ext>
            </a:extLst>
          </p:cNvPr>
          <p:cNvSpPr txBox="1"/>
          <p:nvPr/>
        </p:nvSpPr>
        <p:spPr>
          <a:xfrm>
            <a:off x="5118840" y="4234140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5BAD16-B720-13BB-F904-34A94DCEF3A0}"/>
              </a:ext>
            </a:extLst>
          </p:cNvPr>
          <p:cNvSpPr txBox="1"/>
          <p:nvPr/>
        </p:nvSpPr>
        <p:spPr>
          <a:xfrm>
            <a:off x="5118840" y="4854212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8C9E2D-BB19-4CBE-B3A0-F446954B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A7C4DA-F3C7-4112-B030-2F0E58B2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EF082A-9D29-48CB-B139-7EC176C8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2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A0C583-370F-4E70-895E-CAF8658BD6BC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硬件</a:t>
            </a:r>
            <a:r>
              <a:rPr lang="en-US" altLang="zh-CN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-</a:t>
            </a: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机械零件材料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9C458B9-07C2-4228-8FB3-81FE8B438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40060"/>
              </p:ext>
            </p:extLst>
          </p:nvPr>
        </p:nvGraphicFramePr>
        <p:xfrm>
          <a:off x="1249680" y="1686419"/>
          <a:ext cx="9692640" cy="34851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3313871245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876176406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726332593"/>
                    </a:ext>
                  </a:extLst>
                </a:gridCol>
              </a:tblGrid>
              <a:tr h="5432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Mechanical parts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material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standards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844490"/>
                  </a:ext>
                </a:extLst>
              </a:tr>
              <a:tr h="735471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   CARRIER-Casting</a:t>
                      </a:r>
                    </a:p>
                    <a:p>
                      <a:pPr algn="ctr"/>
                      <a:r>
                        <a:rPr lang="en-US" altLang="zh-CN" sz="1600" dirty="0"/>
                        <a:t>COVER-Casting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effectLst/>
                        </a:rPr>
                        <a:t>AlSi12Cu1(Fe)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EN AC-47100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853486"/>
                  </a:ext>
                </a:extLst>
              </a:tr>
              <a:tr h="73547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effectLst/>
                        </a:rPr>
                        <a:t>AlSi10MnMg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effectLst/>
                        </a:rPr>
                        <a:t>EN AC-43500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54332"/>
                  </a:ext>
                </a:extLst>
              </a:tr>
              <a:tr h="73547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dirty="0">
                          <a:solidFill>
                            <a:schemeClr val="dk1"/>
                          </a:solidFill>
                          <a:effectLst/>
                        </a:rPr>
                        <a:t>AlSi12(Fe)(a)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EN AC-44300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075065"/>
                  </a:ext>
                </a:extLst>
              </a:tr>
              <a:tr h="735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COVER-Stamping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DC51D+Z</a:t>
                      </a:r>
                      <a:endParaRPr lang="en-US" altLang="zh-CN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Q/BQB 425-2019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840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98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7B0E674-D3E5-48F6-95A5-317096564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1117716"/>
            <a:ext cx="7717227" cy="2311284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连接器清单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138"/>
              </p:ext>
            </p:extLst>
          </p:nvPr>
        </p:nvGraphicFramePr>
        <p:xfrm>
          <a:off x="769620" y="3738003"/>
          <a:ext cx="10774820" cy="1897380"/>
        </p:xfrm>
        <a:graphic>
          <a:graphicData uri="http://schemas.openxmlformats.org/drawingml/2006/table">
            <a:tbl>
              <a:tblPr/>
              <a:tblGrid>
                <a:gridCol w="94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0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003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序号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接口名称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接口描述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零件号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供应商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System Connector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Provide POWER CAN signal …interface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30059-01K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THB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Ethernet Connector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1000BASE Ethernet interface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E3SN1A-BMR131-S00P780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Amphenol AACS</a:t>
                      </a:r>
                      <a:endParaRPr 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4 in 1 mini FAKRA code B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Mini FAKRA interface</a:t>
                      </a:r>
                      <a:endParaRPr lang="zh-CN" altLang="en-US" sz="1050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208244-0201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MOLEX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66210"/>
                  </a:ext>
                </a:extLst>
              </a:tr>
              <a:tr h="407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4 in 1 mini FAKRA code A</a:t>
                      </a:r>
                      <a:endParaRPr lang="zh-CN" altLang="en-US" sz="1050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Mini FAKRA interface</a:t>
                      </a:r>
                      <a:endParaRPr lang="zh-CN" altLang="en-US" sz="1050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208244-0200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MOLEX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710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C98FF49-C2AE-FE5C-6C75-75B6139A91B3}"/>
              </a:ext>
            </a:extLst>
          </p:cNvPr>
          <p:cNvSpPr txBox="1"/>
          <p:nvPr/>
        </p:nvSpPr>
        <p:spPr>
          <a:xfrm>
            <a:off x="2192020" y="2606640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105F00-F894-43B7-C86D-D6A8C99F9D09}"/>
              </a:ext>
            </a:extLst>
          </p:cNvPr>
          <p:cNvSpPr txBox="1"/>
          <p:nvPr/>
        </p:nvSpPr>
        <p:spPr>
          <a:xfrm>
            <a:off x="4316200" y="2606640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E0F381-8B4C-E21D-89AB-74C69AF9042C}"/>
              </a:ext>
            </a:extLst>
          </p:cNvPr>
          <p:cNvSpPr txBox="1"/>
          <p:nvPr/>
        </p:nvSpPr>
        <p:spPr>
          <a:xfrm>
            <a:off x="8542020" y="2606640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2A24CB-849A-69DD-B130-7E44377E3BD6}"/>
              </a:ext>
            </a:extLst>
          </p:cNvPr>
          <p:cNvSpPr txBox="1"/>
          <p:nvPr/>
        </p:nvSpPr>
        <p:spPr>
          <a:xfrm>
            <a:off x="6833163" y="2606640"/>
            <a:ext cx="4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15716"/>
              </p:ext>
            </p:extLst>
          </p:nvPr>
        </p:nvGraphicFramePr>
        <p:xfrm>
          <a:off x="838200" y="1825625"/>
          <a:ext cx="4512265" cy="1643117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311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5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副标题 2"/>
          <p:cNvSpPr txBox="1"/>
          <p:nvPr/>
        </p:nvSpPr>
        <p:spPr>
          <a:xfrm>
            <a:off x="787540" y="3848855"/>
            <a:ext cx="4712793" cy="2522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板端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型号：</a:t>
            </a:r>
            <a:r>
              <a:rPr lang="en-US" altLang="zh-CN" sz="1200" kern="10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30059-01K</a:t>
            </a:r>
            <a:r>
              <a: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，</a:t>
            </a:r>
            <a:r>
              <a:rPr kumimoji="0" lang="en-US" altLang="zh-CN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Natural</a:t>
            </a:r>
          </a:p>
          <a:p>
            <a:pPr algn="l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Spec Rating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1.Maximun rating current: power pin 5A</a:t>
            </a:r>
          </a:p>
          <a:p>
            <a:pPr algn="l">
              <a:defRPr/>
            </a:pPr>
            <a:r>
              <a:rPr lang="zh-CN" altLang="en-US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线端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型号：</a:t>
            </a:r>
            <a:endParaRPr kumimoji="0" lang="en-US" altLang="zh-CN" sz="1200" b="0" i="0" u="none" strike="noStrike" kern="1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algn="l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</a:t>
            </a:r>
          </a:p>
          <a:p>
            <a:pPr algn="l"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PIN</a:t>
            </a:r>
            <a:r>
              <a:rPr lang="zh-CN" altLang="en-US" sz="1200" dirty="0">
                <a:solidFill>
                  <a:sysClr val="windowText" lastClr="000000"/>
                </a:solidFill>
                <a:latin typeface="微软雅黑"/>
                <a:ea typeface="微软雅黑"/>
                <a:cs typeface="Arial" panose="020B0604020202090204" pitchFamily="34" charset="0"/>
              </a:rPr>
              <a:t>针型号：</a:t>
            </a:r>
            <a:endParaRPr lang="en-US" altLang="zh-CN" sz="1200" dirty="0">
              <a:solidFill>
                <a:sysClr val="windowText" lastClr="000000"/>
              </a:solidFill>
              <a:latin typeface="微软雅黑"/>
              <a:ea typeface="微软雅黑"/>
              <a:cs typeface="Arial" panose="020B0604020202090204" pitchFamily="34" charset="0"/>
            </a:endParaRPr>
          </a:p>
          <a:p>
            <a:pPr algn="l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40</a:t>
            </a:r>
          </a:p>
          <a:p>
            <a:pPr algn="l"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9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9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r>
              <a:rPr lang="zh-CN" altLang="zh-CN" dirty="0"/>
              <a:t>硬件</a:t>
            </a:r>
            <a:r>
              <a:rPr lang="en-US" altLang="zh-CN" dirty="0"/>
              <a:t>-</a:t>
            </a:r>
            <a:r>
              <a:rPr lang="zh-CN" altLang="en-US" dirty="0"/>
              <a:t>主</a:t>
            </a:r>
            <a:r>
              <a:rPr lang="zh-CN" altLang="zh-CN" dirty="0"/>
              <a:t>连接器</a:t>
            </a:r>
            <a:endParaRPr lang="zh-CN" altLang="zh-CN" dirty="0">
              <a:effectLst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5725"/>
              </p:ext>
            </p:extLst>
          </p:nvPr>
        </p:nvGraphicFramePr>
        <p:xfrm>
          <a:off x="5603375" y="1124712"/>
          <a:ext cx="6121130" cy="4681336"/>
        </p:xfrm>
        <a:graphic>
          <a:graphicData uri="http://schemas.openxmlformats.org/drawingml/2006/table">
            <a:tbl>
              <a:tblPr/>
              <a:tblGrid>
                <a:gridCol w="1269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274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 definition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Function description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Pin</a:t>
                      </a:r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Function description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HEATER</a:t>
                      </a:r>
                      <a:endParaRPr lang="zh-CN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USS-SUP-CH0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GND</a:t>
                      </a:r>
                      <a:endParaRPr lang="zh-CN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GND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CAN1-L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USS-SUP-CH1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22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CAN1-H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GND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CAN2-L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USS-SUP-CH2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CAN2-H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GND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CAN3-L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USS-RRM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68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CAN3-H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USS-RLM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CAN4-L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USS-RRS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CAN4-H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USS-RLS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CAN5-L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USS-FRS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CAN5-H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USS-FRM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USS-FLM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USS-FLS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GND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USS-RR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1166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effectLst/>
                        </a:rPr>
                        <a:t>KL15</a:t>
                      </a:r>
                      <a:endParaRPr lang="en-US" altLang="zh-CN" sz="1000" dirty="0"/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USS-FR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116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GND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USS-RL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354505"/>
                  </a:ext>
                </a:extLst>
              </a:tr>
              <a:tr h="21116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GND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USS-FL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325770"/>
                  </a:ext>
                </a:extLst>
              </a:tr>
              <a:tr h="21116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BATT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42545"/>
                  </a:ext>
                </a:extLst>
              </a:tr>
              <a:tr h="21116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BATT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369952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B3AECA36-17FE-4B6E-A4E8-C100939DF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97" y="1903992"/>
            <a:ext cx="2087266" cy="1169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28403" y="1383434"/>
          <a:ext cx="4512265" cy="2186132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613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0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硬件</a:t>
            </a:r>
            <a:r>
              <a:rPr lang="en-US" altLang="zh-CN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- Mini </a:t>
            </a:r>
            <a:r>
              <a:rPr lang="en-US" altLang="zh-CN" dirty="0" err="1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fakra</a:t>
            </a: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连接器 </a:t>
            </a:r>
            <a:r>
              <a:rPr lang="en-US" altLang="zh-CN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code A</a:t>
            </a:r>
            <a:endParaRPr lang="zh-CN" altLang="en-US" dirty="0">
              <a:solidFill>
                <a:srgbClr val="131319"/>
              </a:solidFill>
              <a:latin typeface="Arial" panose="020B0604020202090204" pitchFamily="34" charset="0"/>
              <a:ea typeface="微软雅黑" charset="-122"/>
              <a:sym typeface="Arial" panose="020B0604020202090204" pitchFamily="3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828403" y="3894542"/>
            <a:ext cx="4712793" cy="67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型号：</a:t>
            </a:r>
            <a:r>
              <a:rPr lang="en-US" altLang="zh-CN" sz="1200" kern="100" dirty="0">
                <a:effectLst/>
                <a:latin typeface="+mj-ea"/>
                <a:ea typeface="+mj-ea"/>
              </a:rPr>
              <a:t>208244-0200 Black</a:t>
            </a:r>
            <a:endParaRPr lang="zh-CN" altLang="en-US" sz="1200" kern="100" dirty="0">
              <a:effectLst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C32709-8902-4E49-9CA6-A43AB054D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43" y="1439512"/>
            <a:ext cx="1636158" cy="1820973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8430DD3-3769-4E63-80B8-F781E1D4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58608"/>
              </p:ext>
            </p:extLst>
          </p:nvPr>
        </p:nvGraphicFramePr>
        <p:xfrm>
          <a:off x="5541196" y="1383434"/>
          <a:ext cx="6138339" cy="1491594"/>
        </p:xfrm>
        <a:graphic>
          <a:graphicData uri="http://schemas.openxmlformats.org/drawingml/2006/table">
            <a:tbl>
              <a:tblPr/>
              <a:tblGrid>
                <a:gridCol w="122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599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kern="100" dirty="0">
                          <a:latin typeface="+mn-ea"/>
                          <a:ea typeface="+mn-ea"/>
                        </a:rPr>
                        <a:t>4in1 mini FAKRA </a:t>
                      </a:r>
                      <a:r>
                        <a:rPr lang="zh-CN" altLang="en-US" sz="1000" kern="100" dirty="0">
                          <a:latin typeface="+mn-ea"/>
                          <a:ea typeface="+mn-ea"/>
                        </a:rPr>
                        <a:t>接前视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Function description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Signal definition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Go To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FRONT-CAM-GMSL-A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8M camera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DMS-GMSL-B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DMS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9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AVM-VIDEO-GMSL-OUT1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IVI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89253"/>
                  </a:ext>
                </a:extLst>
              </a:tr>
              <a:tr h="24859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DVR-GMSL-OUT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DVR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240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8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28403" y="1383434"/>
          <a:ext cx="4512265" cy="2186132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613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0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硬件</a:t>
            </a:r>
            <a:r>
              <a:rPr lang="en-US" altLang="zh-CN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- Mini </a:t>
            </a:r>
            <a:r>
              <a:rPr lang="en-US" altLang="zh-CN" dirty="0" err="1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fakra</a:t>
            </a: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连接器 </a:t>
            </a:r>
            <a:r>
              <a:rPr lang="en-US" altLang="zh-CN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code B</a:t>
            </a:r>
          </a:p>
        </p:txBody>
      </p:sp>
      <p:sp>
        <p:nvSpPr>
          <p:cNvPr id="7" name="副标题 2"/>
          <p:cNvSpPr txBox="1"/>
          <p:nvPr/>
        </p:nvSpPr>
        <p:spPr>
          <a:xfrm>
            <a:off x="828403" y="3894542"/>
            <a:ext cx="4712793" cy="67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型号：</a:t>
            </a:r>
            <a:r>
              <a:rPr lang="en-US" altLang="zh-CN" sz="1200" kern="100" dirty="0">
                <a:effectLst/>
                <a:latin typeface="+mj-ea"/>
                <a:ea typeface="+mj-ea"/>
              </a:rPr>
              <a:t>208244-0201 White</a:t>
            </a:r>
            <a:endParaRPr lang="zh-CN" altLang="en-US" sz="1200" kern="100" dirty="0">
              <a:effectLst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750155"/>
              </p:ext>
            </p:extLst>
          </p:nvPr>
        </p:nvGraphicFramePr>
        <p:xfrm>
          <a:off x="5541196" y="1383434"/>
          <a:ext cx="6138339" cy="1491594"/>
        </p:xfrm>
        <a:graphic>
          <a:graphicData uri="http://schemas.openxmlformats.org/drawingml/2006/table">
            <a:tbl>
              <a:tblPr/>
              <a:tblGrid>
                <a:gridCol w="122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599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kern="100" dirty="0">
                          <a:latin typeface="+mn-ea"/>
                          <a:ea typeface="+mn-ea"/>
                        </a:rPr>
                        <a:t>4in1 mini FAKRA </a:t>
                      </a:r>
                      <a:r>
                        <a:rPr lang="zh-CN" altLang="en-US" sz="1000" kern="100" dirty="0">
                          <a:latin typeface="+mn-ea"/>
                          <a:ea typeface="+mn-ea"/>
                        </a:rPr>
                        <a:t>接鱼眼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Function description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Signal definition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Go To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AVM-CAM-GMSL-C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3M 360camera REAR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99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AVM-CAM-GMSL-D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3M 360camera FRONT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9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AVM-CAM-GMSL-A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3M 360camera LEFT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89253"/>
                  </a:ext>
                </a:extLst>
              </a:tr>
              <a:tr h="24859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AVM-CAM-GMSL-B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GMSL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3M 360camera RIGHT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240995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D7C32709-8902-4E49-9CA6-A43AB054D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43" y="1439512"/>
            <a:ext cx="1636158" cy="182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3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28403" y="1383434"/>
          <a:ext cx="4512265" cy="2186132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613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0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7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r>
              <a:rPr lang="zh-CN" altLang="zh-CN" dirty="0"/>
              <a:t>硬件</a:t>
            </a:r>
            <a:r>
              <a:rPr lang="en-US" altLang="zh-CN" dirty="0"/>
              <a:t>-</a:t>
            </a:r>
            <a:r>
              <a:rPr lang="zh-CN" altLang="zh-CN" dirty="0"/>
              <a:t>以太网连接器</a:t>
            </a:r>
            <a:endParaRPr lang="zh-CN" altLang="zh-CN" dirty="0">
              <a:effectLst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828403" y="3894542"/>
            <a:ext cx="4712793" cy="67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型号：</a:t>
            </a:r>
            <a:r>
              <a:rPr lang="en-US" altLang="zh-CN" sz="1200" kern="100" dirty="0">
                <a:effectLst/>
                <a:latin typeface="+mj-ea"/>
                <a:ea typeface="+mj-ea"/>
              </a:rPr>
              <a:t>E3SN1A-BMR131-S00P780</a:t>
            </a:r>
            <a:r>
              <a: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</a:t>
            </a:r>
            <a:r>
              <a:rPr kumimoji="0" lang="en-US" altLang="zh-CN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</a:t>
            </a:r>
            <a:r>
              <a:rPr lang="en-US" altLang="zh-CN" sz="1200" kern="100" dirty="0">
                <a:solidFill>
                  <a:srgbClr val="131319"/>
                </a:solidFill>
                <a:latin typeface="微软雅黑"/>
                <a:ea typeface="微软雅黑"/>
              </a:rPr>
              <a:t>lack</a:t>
            </a:r>
          </a:p>
          <a:p>
            <a:pPr algn="l"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90204" pitchFamily="34" charset="0"/>
              </a:rPr>
              <a:t>1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68442"/>
              </p:ext>
            </p:extLst>
          </p:nvPr>
        </p:nvGraphicFramePr>
        <p:xfrm>
          <a:off x="5541196" y="1383435"/>
          <a:ext cx="6138339" cy="1096520"/>
        </p:xfrm>
        <a:graphic>
          <a:graphicData uri="http://schemas.openxmlformats.org/drawingml/2006/table">
            <a:tbl>
              <a:tblPr/>
              <a:tblGrid>
                <a:gridCol w="122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130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Ethernet Connector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3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Function description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Signal definition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Go To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13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MDIO-N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1000-BASE T1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OTA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13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MDIO-P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1000-BASE T1</a:t>
                      </a: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OTA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AD6C9249-B9E9-4812-92A6-6AC7476B6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615" y="1417838"/>
            <a:ext cx="1429857" cy="19064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2025/10/13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8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783771" y="1172329"/>
            <a:ext cx="5068389" cy="5163408"/>
          </a:xfrm>
          <a:prstGeom prst="roundRect">
            <a:avLst>
              <a:gd name="adj" fmla="val 4681"/>
            </a:avLst>
          </a:prstGeom>
          <a:solidFill>
            <a:sysClr val="window" lastClr="FFFFFF">
              <a:alpha val="50000"/>
            </a:sysClr>
          </a:solidFill>
          <a:ln w="12700" cap="flat" cmpd="sng" algn="ctr">
            <a:solidFill>
              <a:schemeClr val="bg2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5786" y="1331163"/>
            <a:ext cx="4784454" cy="328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散热要求：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散热方式：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自然冷却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安装建议：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J6B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域控支架的要求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和上壳体散热</a:t>
            </a: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fin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间隙</a:t>
            </a: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&gt;30mm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和一体机周围间隙单边</a:t>
            </a: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&gt;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50mm</a:t>
            </a:r>
          </a:p>
          <a:p>
            <a:pPr marL="285750" lvl="0" indent="-285750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J6B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域控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安装位置要求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副驾驶位置底盘上，通过螺母与底盘金属件紧固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Arial" panose="020B0604020202090204" pitchFamily="34" charset="0"/>
              </a:rPr>
              <a:t>周围无隔热材料覆盖，如隔音发泡胶，隔音棉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周边＜</a:t>
            </a: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200mm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内无大功率器件（＞</a:t>
            </a:r>
            <a:r>
              <a:rPr lang="en-US" altLang="zh-CN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3W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Arial" panose="020B0604020202090204" pitchFamily="34" charset="0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安装要求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DA54A3-9986-42AF-B7FA-894F1D84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686" y="1172328"/>
            <a:ext cx="4921596" cy="26422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B7CB806-9F6C-4918-A409-474BC56CC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687" y="3649553"/>
            <a:ext cx="4352474" cy="26561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A878FEE-B34D-1987-C32C-E884C37375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496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95" imgH="394" progId="TCLayout.ActiveDocument.1">
                  <p:embed/>
                </p:oleObj>
              </mc:Choice>
              <mc:Fallback>
                <p:oleObj name="think-cell 幻灯片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2025/10/13</a:t>
            </a:fld>
            <a:endParaRPr lang="en-US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9</a:t>
            </a:fld>
            <a:endParaRPr lang="en-US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658759"/>
              </p:ext>
            </p:extLst>
          </p:nvPr>
        </p:nvGraphicFramePr>
        <p:xfrm>
          <a:off x="730250" y="1030588"/>
          <a:ext cx="10368915" cy="4900311"/>
        </p:xfrm>
        <a:graphic>
          <a:graphicData uri="http://schemas.openxmlformats.org/drawingml/2006/table">
            <a:tbl>
              <a:tblPr/>
              <a:tblGrid>
                <a:gridCol w="51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9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域控结构</a:t>
                      </a:r>
                      <a:endParaRPr lang="zh-CN" altLang="en-US" sz="1000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仿真结果（示意图）</a:t>
                      </a:r>
                      <a:endParaRPr lang="zh-CN" altLang="en-US" sz="1000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02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altLang="en-US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altLang="en-US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仿真条件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仿真数据（数据表）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248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仿真条件：</a:t>
                      </a:r>
                      <a:endParaRPr lang="en-US" altLang="zh-CN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fontAlgn="t">
                        <a:buNone/>
                      </a:pP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、环境温度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85℃+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域控（基于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215*119*40</a:t>
                      </a:r>
                      <a:r>
                        <a:rPr 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mm）</a:t>
                      </a:r>
                    </a:p>
                    <a:p>
                      <a:pPr fontAlgn="t">
                        <a:buNone/>
                      </a:pPr>
                      <a:r>
                        <a:rPr 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2、J6B Plus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最大功耗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7.9</a:t>
                      </a:r>
                      <a:r>
                        <a:rPr 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W</a:t>
                      </a:r>
                    </a:p>
                    <a:p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、风速</a:t>
                      </a:r>
                      <a:r>
                        <a:rPr lang="en-US" altLang="zh-CN" sz="1000" dirty="0"/>
                        <a:t>0m/s</a:t>
                      </a:r>
                    </a:p>
                    <a:p>
                      <a:pPr fontAlgn="t">
                        <a:buNone/>
                      </a:pPr>
                      <a:endParaRPr lang="en-US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fontAlgn="t">
                        <a:buNone/>
                      </a:pPr>
                      <a:br>
                        <a:rPr lang="en-US" sz="1000" dirty="0">
                          <a:effectLst/>
                          <a:latin typeface="微软雅黑" charset="-122"/>
                          <a:ea typeface="微软雅黑" charset="-122"/>
                        </a:rPr>
                      </a:br>
                      <a:endParaRPr lang="en-US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总结：</a:t>
                      </a:r>
                      <a:endParaRPr lang="en-US" altLang="zh-CN" sz="100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fontAlgn="t">
                        <a:buNone/>
                      </a:pP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、基于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85°C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环境温度仿真，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SoC(SU9)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仿真结温为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115.13°C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，相对于阈值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(</a:t>
                      </a:r>
                      <a:r>
                        <a:rPr lang="en-US" altLang="zh-CN" sz="1000" dirty="0" err="1">
                          <a:effectLst/>
                          <a:latin typeface="微软雅黑" charset="-122"/>
                          <a:ea typeface="微软雅黑" charset="-122"/>
                        </a:rPr>
                        <a:t>Tj.Max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=125°C)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仍有较大余量（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9.87°C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），从仿真结果看，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SoC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高温风险较小；</a:t>
                      </a:r>
                    </a:p>
                    <a:p>
                      <a:pPr fontAlgn="t">
                        <a:buNone/>
                      </a:pP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2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、仿真使用最大功耗进行，</a:t>
                      </a:r>
                      <a:r>
                        <a:rPr lang="en-US" altLang="zh-CN" sz="1000" dirty="0">
                          <a:effectLst/>
                          <a:latin typeface="微软雅黑" charset="-122"/>
                          <a:ea typeface="微软雅黑" charset="-122"/>
                        </a:rPr>
                        <a:t>DDR</a:t>
                      </a:r>
                      <a:r>
                        <a:rPr lang="zh-CN" altLang="en-US" sz="1000" dirty="0">
                          <a:effectLst/>
                          <a:latin typeface="微软雅黑" charset="-122"/>
                          <a:ea typeface="微软雅黑" charset="-122"/>
                        </a:rPr>
                        <a:t>结温需要进行实测，确认风险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67238" y="2360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13" y="1403753"/>
            <a:ext cx="2306687" cy="150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016" y="1345312"/>
            <a:ext cx="2808742" cy="161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730250" y="5981999"/>
            <a:ext cx="782111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US" altLang="zh-CN" sz="1000" dirty="0">
                <a:latin typeface="微软雅黑" charset="-122"/>
                <a:ea typeface="微软雅黑" charset="-122"/>
              </a:rPr>
              <a:t>Note: </a:t>
            </a:r>
          </a:p>
          <a:p>
            <a:pPr marL="228600" lvl="0" indent="-228600" fontAlgn="t">
              <a:buAutoNum type="arabicPeriod"/>
              <a:defRPr/>
            </a:pPr>
            <a:r>
              <a:rPr lang="zh-CN" altLang="en-US" sz="1000" dirty="0">
                <a:latin typeface="微软雅黑" charset="-122"/>
                <a:ea typeface="微软雅黑" charset="-122"/>
              </a:rPr>
              <a:t>初步仿真数据基于</a:t>
            </a:r>
            <a:r>
              <a:rPr lang="en-US" altLang="zh-CN" sz="1000" dirty="0">
                <a:effectLst/>
                <a:latin typeface="微软雅黑" charset="-122"/>
                <a:ea typeface="微软雅黑" charset="-122"/>
              </a:rPr>
              <a:t>215*119*40mm</a:t>
            </a:r>
            <a:r>
              <a:rPr lang="zh-CN" altLang="en-US" sz="1000" dirty="0">
                <a:latin typeface="微软雅黑" charset="-122"/>
                <a:ea typeface="微软雅黑" charset="-122"/>
              </a:rPr>
              <a:t>尺寸，后续方案根据客户要求调整</a:t>
            </a:r>
            <a:endParaRPr lang="en-US" altLang="zh-CN" sz="1000" dirty="0">
              <a:latin typeface="微软雅黑" charset="-122"/>
              <a:ea typeface="微软雅黑" charset="-122"/>
            </a:endParaRPr>
          </a:p>
          <a:p>
            <a:pPr marL="228600" lvl="0" indent="-228600" fontAlgn="t">
              <a:buAutoNum type="arabicPeriod"/>
              <a:defRPr/>
            </a:pPr>
            <a:r>
              <a:rPr lang="zh-CN" altLang="en-US" sz="1000" dirty="0">
                <a:latin typeface="微软雅黑" charset="-122"/>
                <a:ea typeface="微软雅黑" charset="-122"/>
              </a:rPr>
              <a:t>后期数模锁定后同步更新仿真结果</a:t>
            </a:r>
            <a:endParaRPr lang="en-US" altLang="zh-CN" sz="1000" dirty="0">
              <a:latin typeface="微软雅黑" charset="-122"/>
              <a:ea typeface="微软雅黑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562" y="4057688"/>
            <a:ext cx="2439606" cy="184273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23" y="3812537"/>
            <a:ext cx="2676088" cy="20148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A91EF54-E5E4-1BC5-0D9D-D0D9D309E6E4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90204" pitchFamily="34" charset="0"/>
                <a:ea typeface="微软雅黑" charset="-122"/>
                <a:cs typeface="+mn-cs"/>
                <a:sym typeface="Arial" panose="020B0604020202090204" pitchFamily="34" charset="0"/>
              </a:rPr>
              <a:t>-</a:t>
            </a:r>
            <a:r>
              <a:rPr lang="zh-CN" altLang="en-US" dirty="0">
                <a:solidFill>
                  <a:srgbClr val="131319"/>
                </a:solidFill>
                <a:latin typeface="Arial" panose="020B0604020202090204" pitchFamily="34" charset="0"/>
                <a:ea typeface="微软雅黑" charset="-122"/>
                <a:sym typeface="Arial" panose="020B0604020202090204" pitchFamily="34" charset="0"/>
              </a:rPr>
              <a:t>热仿真测试</a:t>
            </a:r>
            <a:endParaRPr kumimoji="0" lang="zh-CN" altLang="en-US" sz="2600" b="0" i="0" u="none" strike="noStrike" kern="1200" cap="none" spc="30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90204" pitchFamily="34" charset="0"/>
              <a:ea typeface="微软雅黑" charset="-122"/>
              <a:cs typeface="+mn-cs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6*402"/>
  <p:tag name="TABLE_ENDDRAG_RECT" val="57*64*816*402"/>
</p:tagLst>
</file>

<file path=ppt/theme/theme1.xml><?xml version="1.0" encoding="utf-8"?>
<a:theme xmlns:a="http://schemas.openxmlformats.org/drawingml/2006/main" name="1_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地平线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5804</TotalTime>
  <Words>752</Words>
  <Application>Microsoft Office PowerPoint</Application>
  <PresentationFormat>宽屏</PresentationFormat>
  <Paragraphs>288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苹方-简</vt:lpstr>
      <vt:lpstr>Arial</vt:lpstr>
      <vt:lpstr>DengXian</vt:lpstr>
      <vt:lpstr>Microsoft YaHei</vt:lpstr>
      <vt:lpstr>1_Office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liqiong Zhao</cp:lastModifiedBy>
  <cp:revision>214</cp:revision>
  <dcterms:created xsi:type="dcterms:W3CDTF">2025-07-21T08:09:03Z</dcterms:created>
  <dcterms:modified xsi:type="dcterms:W3CDTF">2025-10-13T06:14:14Z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52E7DC420443135096F57D68BB64F454_41</vt:lpwstr>
  </property>
  <property fmtid="{D5CDD505-2E9C-101B-9397-08002B2CF9AE}" pid="4" name="CWM16a53b8097a911f08000753000007530">
    <vt:lpwstr>CWMxQA1t9YJSY79gH4nRmGU8A/Sv6W4wTP+pCPQZUtQ+jZ/eqJJpxGGerU5kM//Dj+CRbMDdWlV5uyRJCMC2obf7w==</vt:lpwstr>
  </property>
</Properties>
</file>