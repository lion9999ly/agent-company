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ags/tag1.xml" ContentType="application/vnd.openxmlformats-officedocument.presentationml.tags+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9"/>
  </p:notesMasterIdLst>
  <p:sldIdLst>
    <p:sldId id="485" r:id="rId2"/>
    <p:sldId id="489" r:id="rId3"/>
    <p:sldId id="490" r:id="rId4"/>
    <p:sldId id="488" r:id="rId5"/>
    <p:sldId id="486" r:id="rId6"/>
    <p:sldId id="425" r:id="rId7"/>
    <p:sldId id="475" r:id="rId8"/>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zhou.jiang" initials="z" lastIdx="13" clrIdx="0"/>
  <p:cmAuthor id="2" name="Microsoft Office User" initials="MOU" lastIdx="6" clrIdx="1"/>
  <p:cmAuthor id="3" name="ZhangLijun" initials="Z" lastIdx="0" clrIdx="2"/>
</p:cm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0A15C55-8517-42AA-B614-E9B94910E393}" styleName="中度样式 2 - 强调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5799" autoAdjust="0"/>
    <p:restoredTop sz="93438" autoAdjust="0"/>
  </p:normalViewPr>
  <p:slideViewPr>
    <p:cSldViewPr snapToGrid="0">
      <p:cViewPr varScale="1">
        <p:scale>
          <a:sx n="157" d="100"/>
          <a:sy n="157" d="100"/>
        </p:scale>
        <p:origin x="1192" y="16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commentAuthors" Target="commentAuthors.xml"/><Relationship Id="rId4" Type="http://schemas.openxmlformats.org/officeDocument/2006/relationships/slide" Target="slides/slide3.xml"/><Relationship Id="rId9" Type="http://schemas.openxmlformats.org/officeDocument/2006/relationships/notesMaster" Target="notesMasters/notesMaster1.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9997913-A8A7-4CF1-811B-D54915DDACE5}" type="datetimeFigureOut">
              <a:rPr lang="zh-CN" altLang="en-US" smtClean="0"/>
              <a:t>2026/2/10</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A15E446-F602-4539-B17E-84A577854BD0}"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4A15E446-F602-4539-B17E-84A577854BD0}" type="slidenum">
              <a:rPr lang="zh-CN" altLang="en-US" smtClean="0"/>
              <a:t>1</a:t>
            </a:fld>
            <a:endParaRPr lang="zh-CN" altLang="en-US"/>
          </a:p>
        </p:txBody>
      </p:sp>
    </p:spTree>
    <p:extLst>
      <p:ext uri="{BB962C8B-B14F-4D97-AF65-F5344CB8AC3E}">
        <p14:creationId xmlns:p14="http://schemas.microsoft.com/office/powerpoint/2010/main" val="99316932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4A15E446-F602-4539-B17E-84A577854BD0}" type="slidenum">
              <a:rPr lang="zh-CN" altLang="en-US" smtClean="0"/>
              <a:t>2</a:t>
            </a:fld>
            <a:endParaRPr lang="zh-CN" altLang="en-US"/>
          </a:p>
        </p:txBody>
      </p:sp>
    </p:spTree>
    <p:extLst>
      <p:ext uri="{BB962C8B-B14F-4D97-AF65-F5344CB8AC3E}">
        <p14:creationId xmlns:p14="http://schemas.microsoft.com/office/powerpoint/2010/main" val="38117559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4A15E446-F602-4539-B17E-84A577854BD0}" type="slidenum">
              <a:rPr lang="zh-CN" altLang="en-US" smtClean="0"/>
              <a:t>3</a:t>
            </a:fld>
            <a:endParaRPr lang="zh-CN" altLang="en-US"/>
          </a:p>
        </p:txBody>
      </p:sp>
    </p:spTree>
    <p:extLst>
      <p:ext uri="{BB962C8B-B14F-4D97-AF65-F5344CB8AC3E}">
        <p14:creationId xmlns:p14="http://schemas.microsoft.com/office/powerpoint/2010/main" val="267814154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4A15E446-F602-4539-B17E-84A577854BD0}" type="slidenum">
              <a:rPr lang="zh-CN" altLang="en-US" smtClean="0"/>
              <a:t>4</a:t>
            </a:fld>
            <a:endParaRPr lang="zh-CN" altLang="en-US"/>
          </a:p>
        </p:txBody>
      </p:sp>
    </p:spTree>
    <p:extLst>
      <p:ext uri="{BB962C8B-B14F-4D97-AF65-F5344CB8AC3E}">
        <p14:creationId xmlns:p14="http://schemas.microsoft.com/office/powerpoint/2010/main" val="287575541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4A15E446-F602-4539-B17E-84A577854BD0}" type="slidenum">
              <a:rPr lang="zh-CN" altLang="en-US" smtClean="0"/>
              <a:t>5</a:t>
            </a:fld>
            <a:endParaRPr lang="zh-CN" altLang="en-US"/>
          </a:p>
        </p:txBody>
      </p:sp>
    </p:spTree>
    <p:extLst>
      <p:ext uri="{BB962C8B-B14F-4D97-AF65-F5344CB8AC3E}">
        <p14:creationId xmlns:p14="http://schemas.microsoft.com/office/powerpoint/2010/main" val="406247355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685800" y="1143000"/>
            <a:ext cx="5486400" cy="30861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685800" y="1143000"/>
            <a:ext cx="5486400" cy="30861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图片背景">
    <p:spTree>
      <p:nvGrpSpPr>
        <p:cNvPr id="1" name=""/>
        <p:cNvGrpSpPr/>
        <p:nvPr/>
      </p:nvGrpSpPr>
      <p:grpSpPr>
        <a:xfrm>
          <a:off x="0" y="0"/>
          <a:ext cx="0" cy="0"/>
          <a:chOff x="0" y="0"/>
          <a:chExt cx="0" cy="0"/>
        </a:xfrm>
      </p:grpSpPr>
      <p:sp>
        <p:nvSpPr>
          <p:cNvPr id="7" name="矩形 6"/>
          <p:cNvSpPr/>
          <p:nvPr userDrawn="1"/>
        </p:nvSpPr>
        <p:spPr>
          <a:xfrm>
            <a:off x="0" y="0"/>
            <a:ext cx="12192000" cy="6858000"/>
          </a:xfrm>
          <a:prstGeom prst="rect">
            <a:avLst/>
          </a:prstGeom>
          <a:solidFill>
            <a:schemeClr val="bg1"/>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tLang="en-US" sz="2720"/>
          </a:p>
        </p:txBody>
      </p:sp>
      <p:sp>
        <p:nvSpPr>
          <p:cNvPr id="12" name="日期占位符 1"/>
          <p:cNvSpPr>
            <a:spLocks noGrp="1"/>
          </p:cNvSpPr>
          <p:nvPr>
            <p:ph type="dt" sz="half" idx="10"/>
          </p:nvPr>
        </p:nvSpPr>
        <p:spPr>
          <a:xfrm>
            <a:off x="769620" y="6484621"/>
            <a:ext cx="2743200" cy="365125"/>
          </a:xfrm>
        </p:spPr>
        <p:txBody>
          <a:bodyPr/>
          <a:lstStyle>
            <a:lvl1pPr>
              <a:defRPr sz="800">
                <a:solidFill>
                  <a:schemeClr val="bg1"/>
                </a:solidFill>
              </a:defRPr>
            </a:lvl1pPr>
          </a:lstStyle>
          <a:p>
            <a:fld id="{0B4571A7-0608-4CA0-91C4-DD76FEAC2393}" type="datetime1">
              <a:rPr lang="zh-CN" altLang="en-US" smtClean="0"/>
              <a:t>2026/2/10</a:t>
            </a:fld>
            <a:endParaRPr lang="en-US" altLang="en-US" dirty="0"/>
          </a:p>
        </p:txBody>
      </p:sp>
      <p:sp>
        <p:nvSpPr>
          <p:cNvPr id="13" name="页脚占位符 2"/>
          <p:cNvSpPr>
            <a:spLocks noGrp="1"/>
          </p:cNvSpPr>
          <p:nvPr>
            <p:ph type="ftr" sz="quarter" idx="11"/>
          </p:nvPr>
        </p:nvSpPr>
        <p:spPr>
          <a:xfrm>
            <a:off x="4038600" y="6484621"/>
            <a:ext cx="4114800" cy="365125"/>
          </a:xfrm>
        </p:spPr>
        <p:txBody>
          <a:bodyPr/>
          <a:lstStyle>
            <a:lvl1pPr>
              <a:defRPr sz="800">
                <a:solidFill>
                  <a:schemeClr val="bg1"/>
                </a:solidFill>
              </a:defRPr>
            </a:lvl1pPr>
          </a:lstStyle>
          <a:p>
            <a:r>
              <a:rPr lang="en-US" altLang="en-US" dirty="0">
                <a:sym typeface="+mn-ea"/>
              </a:rPr>
              <a:t>neueHCT 2024 -  Confidential Information Under NDA</a:t>
            </a:r>
            <a:endParaRPr lang="en-US" altLang="en-US" dirty="0"/>
          </a:p>
        </p:txBody>
      </p:sp>
      <p:sp>
        <p:nvSpPr>
          <p:cNvPr id="14" name="灯片编号占位符 3"/>
          <p:cNvSpPr>
            <a:spLocks noGrp="1"/>
          </p:cNvSpPr>
          <p:nvPr>
            <p:ph type="sldNum" sz="quarter" idx="12"/>
          </p:nvPr>
        </p:nvSpPr>
        <p:spPr>
          <a:xfrm>
            <a:off x="8663940" y="6484621"/>
            <a:ext cx="2743200" cy="365125"/>
          </a:xfrm>
        </p:spPr>
        <p:txBody>
          <a:bodyPr/>
          <a:lstStyle>
            <a:lvl1pPr>
              <a:defRPr sz="800">
                <a:solidFill>
                  <a:schemeClr val="bg1"/>
                </a:solidFill>
              </a:defRPr>
            </a:lvl1pPr>
          </a:lstStyle>
          <a:p>
            <a:fld id="{9CC13275-6251-4C40-AFE1-85D85DA07171}" type="slidenum">
              <a:rPr lang="en-US" altLang="en-US" smtClean="0"/>
              <a:t>‹#›</a:t>
            </a:fld>
            <a:endParaRPr lang="en-US" altLang="en-US" dirty="0"/>
          </a:p>
        </p:txBody>
      </p:sp>
      <p:pic>
        <p:nvPicPr>
          <p:cNvPr id="2" name="图片 1" descr="/Users/sunyu/Desktop/240918/241112/资源 4.png资源 4"/>
          <p:cNvPicPr>
            <a:picLocks noChangeAspect="1"/>
          </p:cNvPicPr>
          <p:nvPr userDrawn="1"/>
        </p:nvPicPr>
        <p:blipFill>
          <a:blip r:embed="rId2"/>
          <a:srcRect/>
          <a:stretch>
            <a:fillRect/>
          </a:stretch>
        </p:blipFill>
        <p:spPr>
          <a:xfrm>
            <a:off x="11022331" y="371476"/>
            <a:ext cx="974725" cy="184785"/>
          </a:xfrm>
          <a:prstGeom prst="rect">
            <a:avLst/>
          </a:prstGeom>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浅色背景1">
    <p:spTree>
      <p:nvGrpSpPr>
        <p:cNvPr id="1" name=""/>
        <p:cNvGrpSpPr/>
        <p:nvPr/>
      </p:nvGrpSpPr>
      <p:grpSpPr>
        <a:xfrm>
          <a:off x="0" y="0"/>
          <a:ext cx="0" cy="0"/>
          <a:chOff x="0" y="0"/>
          <a:chExt cx="0" cy="0"/>
        </a:xfrm>
      </p:grpSpPr>
      <p:pic>
        <p:nvPicPr>
          <p:cNvPr id="11" name="图片 10"/>
          <p:cNvPicPr>
            <a:picLocks noChangeAspect="1"/>
          </p:cNvPicPr>
          <p:nvPr userDrawn="1"/>
        </p:nvPicPr>
        <p:blipFill>
          <a:blip r:embed="rId2"/>
          <a:stretch>
            <a:fillRect/>
          </a:stretch>
        </p:blipFill>
        <p:spPr>
          <a:xfrm>
            <a:off x="0" y="5271770"/>
            <a:ext cx="12192000" cy="1586230"/>
          </a:xfrm>
          <a:prstGeom prst="rect">
            <a:avLst/>
          </a:prstGeom>
        </p:spPr>
      </p:pic>
      <p:sp>
        <p:nvSpPr>
          <p:cNvPr id="6" name="日期占位符 1"/>
          <p:cNvSpPr>
            <a:spLocks noGrp="1"/>
          </p:cNvSpPr>
          <p:nvPr>
            <p:ph type="dt" sz="half" idx="10"/>
          </p:nvPr>
        </p:nvSpPr>
        <p:spPr>
          <a:xfrm>
            <a:off x="769620" y="6484621"/>
            <a:ext cx="2743200" cy="365125"/>
          </a:xfrm>
        </p:spPr>
        <p:txBody>
          <a:bodyPr/>
          <a:lstStyle>
            <a:lvl1pPr>
              <a:defRPr sz="800">
                <a:solidFill>
                  <a:srgbClr val="131319"/>
                </a:solidFill>
              </a:defRPr>
            </a:lvl1pPr>
          </a:lstStyle>
          <a:p>
            <a:fld id="{0B4571A7-0608-4CA0-91C4-DD76FEAC2393}" type="datetime1">
              <a:rPr lang="zh-CN" altLang="en-US" smtClean="0"/>
              <a:t>2026/2/10</a:t>
            </a:fld>
            <a:endParaRPr lang="en-US" altLang="en-US" dirty="0"/>
          </a:p>
        </p:txBody>
      </p:sp>
      <p:sp>
        <p:nvSpPr>
          <p:cNvPr id="7" name="页脚占位符 2"/>
          <p:cNvSpPr>
            <a:spLocks noGrp="1"/>
          </p:cNvSpPr>
          <p:nvPr>
            <p:ph type="ftr" sz="quarter" idx="11"/>
          </p:nvPr>
        </p:nvSpPr>
        <p:spPr>
          <a:xfrm>
            <a:off x="3783332" y="6484621"/>
            <a:ext cx="4625339" cy="365125"/>
          </a:xfrm>
        </p:spPr>
        <p:txBody>
          <a:bodyPr/>
          <a:lstStyle>
            <a:lvl1pPr>
              <a:defRPr sz="800">
                <a:solidFill>
                  <a:srgbClr val="131319"/>
                </a:solidFill>
              </a:defRPr>
            </a:lvl1pPr>
          </a:lstStyle>
          <a:p>
            <a:r>
              <a:rPr lang="en-US" altLang="en-US" dirty="0">
                <a:sym typeface="+mn-ea"/>
              </a:rPr>
              <a:t>Horizon Continental Technology Shanghai Co.， Ltd -  Confidential Information Under NDA</a:t>
            </a:r>
          </a:p>
        </p:txBody>
      </p:sp>
      <p:sp>
        <p:nvSpPr>
          <p:cNvPr id="8" name="灯片编号占位符 3"/>
          <p:cNvSpPr>
            <a:spLocks noGrp="1"/>
          </p:cNvSpPr>
          <p:nvPr>
            <p:ph type="sldNum" sz="quarter" idx="12"/>
          </p:nvPr>
        </p:nvSpPr>
        <p:spPr>
          <a:xfrm>
            <a:off x="8663940" y="6484621"/>
            <a:ext cx="2743200" cy="365125"/>
          </a:xfrm>
        </p:spPr>
        <p:txBody>
          <a:bodyPr/>
          <a:lstStyle>
            <a:lvl1pPr>
              <a:defRPr sz="800">
                <a:solidFill>
                  <a:srgbClr val="131319"/>
                </a:solidFill>
              </a:defRPr>
            </a:lvl1pPr>
          </a:lstStyle>
          <a:p>
            <a:fld id="{9CC13275-6251-4C40-AFE1-85D85DA07171}" type="slidenum">
              <a:rPr lang="en-US" altLang="en-US" smtClean="0"/>
              <a:t>‹#›</a:t>
            </a:fld>
            <a:endParaRPr lang="en-US" altLang="en-US" dirty="0"/>
          </a:p>
        </p:txBody>
      </p:sp>
      <p:pic>
        <p:nvPicPr>
          <p:cNvPr id="3" name="图片 2" descr="/Users/sunyu/Desktop/240918/241112/资源 3.png资源 3"/>
          <p:cNvPicPr>
            <a:picLocks noChangeAspect="1"/>
          </p:cNvPicPr>
          <p:nvPr userDrawn="1"/>
        </p:nvPicPr>
        <p:blipFill>
          <a:blip r:embed="rId3"/>
          <a:srcRect/>
          <a:stretch>
            <a:fillRect/>
          </a:stretch>
        </p:blipFill>
        <p:spPr>
          <a:xfrm>
            <a:off x="11022331" y="370841"/>
            <a:ext cx="974725" cy="184785"/>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浅色背景2">
    <p:spTree>
      <p:nvGrpSpPr>
        <p:cNvPr id="1" name=""/>
        <p:cNvGrpSpPr/>
        <p:nvPr/>
      </p:nvGrpSpPr>
      <p:grpSpPr>
        <a:xfrm>
          <a:off x="0" y="0"/>
          <a:ext cx="0" cy="0"/>
          <a:chOff x="0" y="0"/>
          <a:chExt cx="0" cy="0"/>
        </a:xfrm>
      </p:grpSpPr>
      <p:sp>
        <p:nvSpPr>
          <p:cNvPr id="6" name="日期占位符 1"/>
          <p:cNvSpPr>
            <a:spLocks noGrp="1"/>
          </p:cNvSpPr>
          <p:nvPr>
            <p:ph type="dt" sz="half" idx="10"/>
          </p:nvPr>
        </p:nvSpPr>
        <p:spPr>
          <a:xfrm>
            <a:off x="769620" y="6484621"/>
            <a:ext cx="2743200" cy="365125"/>
          </a:xfrm>
        </p:spPr>
        <p:txBody>
          <a:bodyPr/>
          <a:lstStyle>
            <a:lvl1pPr>
              <a:defRPr sz="800">
                <a:solidFill>
                  <a:srgbClr val="131319"/>
                </a:solidFill>
              </a:defRPr>
            </a:lvl1pPr>
          </a:lstStyle>
          <a:p>
            <a:fld id="{0B4571A7-0608-4CA0-91C4-DD76FEAC2393}" type="datetime1">
              <a:rPr lang="zh-CN" altLang="en-US" smtClean="0"/>
              <a:t>2026/2/10</a:t>
            </a:fld>
            <a:endParaRPr lang="en-US" altLang="en-US" dirty="0"/>
          </a:p>
        </p:txBody>
      </p:sp>
      <p:sp>
        <p:nvSpPr>
          <p:cNvPr id="7" name="页脚占位符 2"/>
          <p:cNvSpPr>
            <a:spLocks noGrp="1"/>
          </p:cNvSpPr>
          <p:nvPr>
            <p:ph type="ftr" sz="quarter" idx="11"/>
          </p:nvPr>
        </p:nvSpPr>
        <p:spPr>
          <a:xfrm>
            <a:off x="3775709" y="6484621"/>
            <a:ext cx="4640582" cy="365125"/>
          </a:xfrm>
        </p:spPr>
        <p:txBody>
          <a:bodyPr/>
          <a:lstStyle>
            <a:lvl1pPr>
              <a:defRPr sz="800">
                <a:solidFill>
                  <a:srgbClr val="131319"/>
                </a:solidFill>
              </a:defRPr>
            </a:lvl1pPr>
          </a:lstStyle>
          <a:p>
            <a:r>
              <a:rPr lang="en-US" altLang="en-US" dirty="0">
                <a:sym typeface="+mn-ea"/>
              </a:rPr>
              <a:t>Horizon Continental Technology Shanghai Co.， Ltd -  Confidential Information Under NDA</a:t>
            </a:r>
          </a:p>
        </p:txBody>
      </p:sp>
      <p:sp>
        <p:nvSpPr>
          <p:cNvPr id="8" name="灯片编号占位符 3"/>
          <p:cNvSpPr>
            <a:spLocks noGrp="1"/>
          </p:cNvSpPr>
          <p:nvPr>
            <p:ph type="sldNum" sz="quarter" idx="12"/>
          </p:nvPr>
        </p:nvSpPr>
        <p:spPr>
          <a:xfrm>
            <a:off x="8663940" y="6484621"/>
            <a:ext cx="2743200" cy="365125"/>
          </a:xfrm>
        </p:spPr>
        <p:txBody>
          <a:bodyPr/>
          <a:lstStyle>
            <a:lvl1pPr>
              <a:defRPr sz="800">
                <a:solidFill>
                  <a:srgbClr val="131319"/>
                </a:solidFill>
              </a:defRPr>
            </a:lvl1pPr>
          </a:lstStyle>
          <a:p>
            <a:fld id="{9CC13275-6251-4C40-AFE1-85D85DA07171}" type="slidenum">
              <a:rPr lang="en-US" altLang="en-US" smtClean="0"/>
              <a:t>‹#›</a:t>
            </a:fld>
            <a:endParaRPr lang="en-US" altLang="en-US" dirty="0"/>
          </a:p>
        </p:txBody>
      </p:sp>
      <p:pic>
        <p:nvPicPr>
          <p:cNvPr id="3" name="图片 2" descr="/Users/sunyu/Desktop/240918/241112/资源 3.png资源 3"/>
          <p:cNvPicPr>
            <a:picLocks noChangeAspect="1"/>
          </p:cNvPicPr>
          <p:nvPr userDrawn="1"/>
        </p:nvPicPr>
        <p:blipFill>
          <a:blip r:embed="rId2"/>
          <a:srcRect/>
          <a:stretch>
            <a:fillRect/>
          </a:stretch>
        </p:blipFill>
        <p:spPr>
          <a:xfrm>
            <a:off x="11022331" y="370841"/>
            <a:ext cx="974725" cy="184785"/>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深色背景">
    <p:bg>
      <p:bgPr>
        <a:solidFill>
          <a:srgbClr val="131319"/>
        </a:solidFill>
        <a:effectLst/>
      </p:bgPr>
    </p:bg>
    <p:spTree>
      <p:nvGrpSpPr>
        <p:cNvPr id="1" name=""/>
        <p:cNvGrpSpPr/>
        <p:nvPr/>
      </p:nvGrpSpPr>
      <p:grpSpPr>
        <a:xfrm>
          <a:off x="0" y="0"/>
          <a:ext cx="0" cy="0"/>
          <a:chOff x="0" y="0"/>
          <a:chExt cx="0" cy="0"/>
        </a:xfrm>
      </p:grpSpPr>
      <p:sp>
        <p:nvSpPr>
          <p:cNvPr id="6" name="日期占位符 1"/>
          <p:cNvSpPr>
            <a:spLocks noGrp="1"/>
          </p:cNvSpPr>
          <p:nvPr>
            <p:ph type="dt" sz="half" idx="10"/>
          </p:nvPr>
        </p:nvSpPr>
        <p:spPr>
          <a:xfrm>
            <a:off x="769620" y="6484621"/>
            <a:ext cx="2743200" cy="365125"/>
          </a:xfrm>
        </p:spPr>
        <p:txBody>
          <a:bodyPr/>
          <a:lstStyle>
            <a:lvl1pPr>
              <a:defRPr sz="800">
                <a:solidFill>
                  <a:schemeClr val="bg1"/>
                </a:solidFill>
              </a:defRPr>
            </a:lvl1pPr>
          </a:lstStyle>
          <a:p>
            <a:fld id="{0B4571A7-0608-4CA0-91C4-DD76FEAC2393}" type="datetime1">
              <a:rPr lang="zh-CN" altLang="en-US" smtClean="0"/>
              <a:t>2026/2/10</a:t>
            </a:fld>
            <a:endParaRPr lang="en-US" altLang="en-US" dirty="0"/>
          </a:p>
        </p:txBody>
      </p:sp>
      <p:sp>
        <p:nvSpPr>
          <p:cNvPr id="7" name="页脚占位符 2"/>
          <p:cNvSpPr>
            <a:spLocks noGrp="1"/>
          </p:cNvSpPr>
          <p:nvPr>
            <p:ph type="ftr" sz="quarter" idx="11"/>
          </p:nvPr>
        </p:nvSpPr>
        <p:spPr>
          <a:xfrm>
            <a:off x="3775709" y="6484621"/>
            <a:ext cx="4640582" cy="365125"/>
          </a:xfrm>
        </p:spPr>
        <p:txBody>
          <a:bodyPr/>
          <a:lstStyle>
            <a:lvl1pPr>
              <a:defRPr sz="800">
                <a:solidFill>
                  <a:schemeClr val="bg1"/>
                </a:solidFill>
              </a:defRPr>
            </a:lvl1pPr>
          </a:lstStyle>
          <a:p>
            <a:r>
              <a:rPr lang="en-US" altLang="en-US" dirty="0">
                <a:sym typeface="+mn-ea"/>
              </a:rPr>
              <a:t>Horizon Continental Technology Shanghai Co.， Ltd -  Confidential Information Under NDA</a:t>
            </a:r>
          </a:p>
        </p:txBody>
      </p:sp>
      <p:sp>
        <p:nvSpPr>
          <p:cNvPr id="8" name="灯片编号占位符 3"/>
          <p:cNvSpPr>
            <a:spLocks noGrp="1"/>
          </p:cNvSpPr>
          <p:nvPr>
            <p:ph type="sldNum" sz="quarter" idx="12"/>
          </p:nvPr>
        </p:nvSpPr>
        <p:spPr>
          <a:xfrm>
            <a:off x="8663940" y="6484621"/>
            <a:ext cx="2743200" cy="365125"/>
          </a:xfrm>
        </p:spPr>
        <p:txBody>
          <a:bodyPr/>
          <a:lstStyle>
            <a:lvl1pPr>
              <a:defRPr sz="800">
                <a:solidFill>
                  <a:schemeClr val="bg1"/>
                </a:solidFill>
              </a:defRPr>
            </a:lvl1pPr>
          </a:lstStyle>
          <a:p>
            <a:fld id="{9CC13275-6251-4C40-AFE1-85D85DA07171}" type="slidenum">
              <a:rPr lang="en-US" altLang="en-US" smtClean="0"/>
              <a:t>‹#›</a:t>
            </a:fld>
            <a:endParaRPr lang="en-US" altLang="en-US" dirty="0"/>
          </a:p>
        </p:txBody>
      </p:sp>
      <p:pic>
        <p:nvPicPr>
          <p:cNvPr id="3" name="图片 2" descr="/Users/sunyu/Desktop/240918/241112/资源 4.png资源 4"/>
          <p:cNvPicPr>
            <a:picLocks noChangeAspect="1"/>
          </p:cNvPicPr>
          <p:nvPr userDrawn="1"/>
        </p:nvPicPr>
        <p:blipFill>
          <a:blip r:embed="rId2"/>
          <a:srcRect/>
          <a:stretch>
            <a:fillRect/>
          </a:stretch>
        </p:blipFill>
        <p:spPr>
          <a:xfrm>
            <a:off x="11035665" y="365126"/>
            <a:ext cx="948055" cy="179705"/>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userDrawn="1">
  <p:cSld name="中文新版式：渐变底条">
    <p:bg>
      <p:bgPr>
        <a:solidFill>
          <a:srgbClr val="FAFAFA"/>
        </a:solidFill>
        <a:effectLst/>
      </p:bgPr>
    </p:bg>
    <p:spTree>
      <p:nvGrpSpPr>
        <p:cNvPr id="1" name=""/>
        <p:cNvGrpSpPr/>
        <p:nvPr/>
      </p:nvGrpSpPr>
      <p:grpSpPr>
        <a:xfrm>
          <a:off x="0" y="0"/>
          <a:ext cx="0" cy="0"/>
          <a:chOff x="0" y="0"/>
          <a:chExt cx="0" cy="0"/>
        </a:xfrm>
      </p:grpSpPr>
      <p:pic>
        <p:nvPicPr>
          <p:cNvPr id="5" name="图形 4"/>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1096017" y="322484"/>
            <a:ext cx="767371" cy="232145"/>
          </a:xfrm>
          <a:prstGeom prst="rect">
            <a:avLst/>
          </a:prstGeom>
        </p:spPr>
      </p:pic>
      <p:sp>
        <p:nvSpPr>
          <p:cNvPr id="2" name="矩形 1"/>
          <p:cNvSpPr/>
          <p:nvPr userDrawn="1"/>
        </p:nvSpPr>
        <p:spPr>
          <a:xfrm>
            <a:off x="0" y="6589910"/>
            <a:ext cx="12192000" cy="268090"/>
          </a:xfrm>
          <a:prstGeom prst="rect">
            <a:avLst/>
          </a:prstGeom>
          <a:gradFill>
            <a:gsLst>
              <a:gs pos="50000">
                <a:schemeClr val="accent1"/>
              </a:gs>
              <a:gs pos="0">
                <a:schemeClr val="tx2"/>
              </a:gs>
              <a:gs pos="100000">
                <a:schemeClr val="tx2"/>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zh-CN" altLang="en-US" dirty="0"/>
          </a:p>
        </p:txBody>
      </p:sp>
      <p:sp>
        <p:nvSpPr>
          <p:cNvPr id="9" name="日期占位符 1"/>
          <p:cNvSpPr>
            <a:spLocks noGrp="1"/>
          </p:cNvSpPr>
          <p:nvPr>
            <p:ph type="dt" sz="half" idx="10"/>
          </p:nvPr>
        </p:nvSpPr>
        <p:spPr>
          <a:xfrm>
            <a:off x="769620" y="6588369"/>
            <a:ext cx="2743200" cy="261376"/>
          </a:xfrm>
          <a:prstGeom prst="rect">
            <a:avLst/>
          </a:prstGeom>
        </p:spPr>
        <p:txBody>
          <a:bodyPr anchor="ctr"/>
          <a:lstStyle>
            <a:lvl1pPr algn="l">
              <a:defRPr sz="800">
                <a:solidFill>
                  <a:schemeClr val="bg1"/>
                </a:solidFill>
                <a:latin typeface="+mn-lt"/>
              </a:defRPr>
            </a:lvl1pPr>
          </a:lstStyle>
          <a:p>
            <a:fld id="{0B4571A7-0608-4CA0-91C4-DD76FEAC2393}" type="datetime1">
              <a:rPr lang="zh-CN" altLang="en-US" smtClean="0"/>
              <a:t>2026/2/10</a:t>
            </a:fld>
            <a:endParaRPr lang="x-none" altLang="en-US" dirty="0"/>
          </a:p>
        </p:txBody>
      </p:sp>
      <p:sp>
        <p:nvSpPr>
          <p:cNvPr id="10" name="页脚占位符 2"/>
          <p:cNvSpPr>
            <a:spLocks noGrp="1"/>
          </p:cNvSpPr>
          <p:nvPr>
            <p:ph type="ftr" sz="quarter" idx="11"/>
          </p:nvPr>
        </p:nvSpPr>
        <p:spPr>
          <a:xfrm>
            <a:off x="4038600" y="6588369"/>
            <a:ext cx="4114800" cy="261376"/>
          </a:xfrm>
          <a:prstGeom prst="rect">
            <a:avLst/>
          </a:prstGeom>
        </p:spPr>
        <p:txBody>
          <a:bodyPr anchor="ctr"/>
          <a:lstStyle>
            <a:lvl1pPr algn="ctr">
              <a:defRPr sz="800">
                <a:solidFill>
                  <a:schemeClr val="bg1"/>
                </a:solidFill>
                <a:latin typeface="+mn-lt"/>
              </a:defRPr>
            </a:lvl1pPr>
          </a:lstStyle>
          <a:p>
            <a:r>
              <a:rPr lang="en-US" altLang="x-none" dirty="0"/>
              <a:t>Horizon Robotics 2024 -  Confidential Information Under NDA</a:t>
            </a:r>
          </a:p>
        </p:txBody>
      </p:sp>
      <p:sp>
        <p:nvSpPr>
          <p:cNvPr id="11" name="灯片编号占位符 3"/>
          <p:cNvSpPr>
            <a:spLocks noGrp="1"/>
          </p:cNvSpPr>
          <p:nvPr>
            <p:ph type="sldNum" sz="quarter" idx="12"/>
          </p:nvPr>
        </p:nvSpPr>
        <p:spPr>
          <a:xfrm>
            <a:off x="8663940" y="6588369"/>
            <a:ext cx="2743200" cy="261376"/>
          </a:xfrm>
          <a:prstGeom prst="rect">
            <a:avLst/>
          </a:prstGeom>
        </p:spPr>
        <p:txBody>
          <a:bodyPr anchor="ctr"/>
          <a:lstStyle>
            <a:lvl1pPr algn="r">
              <a:defRPr sz="800">
                <a:solidFill>
                  <a:schemeClr val="bg1"/>
                </a:solidFill>
                <a:latin typeface="+mn-lt"/>
              </a:defRPr>
            </a:lvl1pPr>
          </a:lstStyle>
          <a:p>
            <a:fld id="{9CC13275-6251-4C40-AFE1-85D85DA07171}" type="slidenum">
              <a:rPr lang="x-none" altLang="en-US" smtClean="0"/>
              <a:t>‹#›</a:t>
            </a:fld>
            <a:endParaRPr lang="x-none" alt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oleObject" Target="../embeddings/oleObject1.bin"/><Relationship Id="rId3" Type="http://schemas.openxmlformats.org/officeDocument/2006/relationships/slideLayout" Target="../slideLayouts/slideLayout3.xml"/><Relationship Id="rId7" Type="http://schemas.openxmlformats.org/officeDocument/2006/relationships/tags" Target="../tags/tag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image" Target="../media/image1.emf"/></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aphicFrame>
        <p:nvGraphicFramePr>
          <p:cNvPr id="7" name="think-cell data - do not delete" hidden="1"/>
          <p:cNvGraphicFramePr>
            <a:graphicFrameLocks noChangeAspect="1"/>
          </p:cNvGraphicFramePr>
          <p:nvPr userDrawn="1">
            <p:custDataLst>
              <p:tags r:id="rId7"/>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幻灯片" r:id="rId8" imgW="5715" imgH="5715" progId="TCLayout.ActiveDocument.1">
                  <p:embed/>
                </p:oleObj>
              </mc:Choice>
              <mc:Fallback>
                <p:oleObj name="think-cell 幻灯片" r:id="rId8" imgW="5715" imgH="5715" progId="TCLayout.ActiveDocument.1">
                  <p:embed/>
                  <p:pic>
                    <p:nvPicPr>
                      <p:cNvPr id="0" name="think-cell data - do not delete" hidden="1"/>
                      <p:cNvPicPr/>
                      <p:nvPr/>
                    </p:nvPicPr>
                    <p:blipFill>
                      <a:blip r:embed="rId9"/>
                      <a:stretch>
                        <a:fillRect/>
                      </a:stretch>
                    </p:blipFill>
                    <p:spPr>
                      <a:xfrm>
                        <a:off x="1588" y="1588"/>
                        <a:ext cx="1588" cy="1588"/>
                      </a:xfrm>
                      <a:prstGeom prst="rect">
                        <a:avLst/>
                      </a:prstGeom>
                    </p:spPr>
                  </p:pic>
                </p:oleObj>
              </mc:Fallback>
            </mc:AlternateContent>
          </a:graphicData>
        </a:graphic>
      </p:graphicFrame>
      <p:sp>
        <p:nvSpPr>
          <p:cNvPr id="2" name="标题占位符 1"/>
          <p:cNvSpPr>
            <a:spLocks noGrp="1"/>
          </p:cNvSpPr>
          <p:nvPr>
            <p:ph type="title"/>
          </p:nvPr>
        </p:nvSpPr>
        <p:spPr>
          <a:xfrm>
            <a:off x="838200" y="365126"/>
            <a:ext cx="10515600" cy="1325563"/>
          </a:xfrm>
          <a:prstGeom prst="rect">
            <a:avLst/>
          </a:prstGeom>
        </p:spPr>
        <p:txBody>
          <a:bodyPr vert="horz" lIns="91440" tIns="45720" rIns="91440" bIns="45720" rtlCol="0" anchor="ctr">
            <a:normAutofit/>
          </a:bodyPr>
          <a:lstStyle/>
          <a:p>
            <a:r>
              <a:rPr lang="zh-CN" altLang="en-US"/>
              <a:t>单击此处编辑母版标题样式</a:t>
            </a:r>
            <a:endParaRPr lang="en-US" altLang="en-US"/>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altLang="en-US"/>
          </a:p>
        </p:txBody>
      </p:sp>
      <p:sp>
        <p:nvSpPr>
          <p:cNvPr id="4" name="日期占位符 3"/>
          <p:cNvSpPr>
            <a:spLocks noGrp="1"/>
          </p:cNvSpPr>
          <p:nvPr>
            <p:ph type="dt" sz="half" idx="2"/>
          </p:nvPr>
        </p:nvSpPr>
        <p:spPr>
          <a:xfrm>
            <a:off x="838201"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2CF50D6-00DE-438E-96D7-E8522205D1AB}" type="datetime1">
              <a:rPr lang="zh-CN" altLang="en-US" smtClean="0"/>
              <a:t>2026/2/10</a:t>
            </a:fld>
            <a:endParaRPr lang="en-US" altLang="en-US" dirty="0"/>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ltLang="en-US" dirty="0" err="1"/>
              <a:t>neue</a:t>
            </a:r>
            <a:r>
              <a:rPr lang="en-US" altLang="en-US" dirty="0"/>
              <a:t> HCT 2024 </a:t>
            </a:r>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CC13275-6251-4C40-AFE1-85D85DA07171}" type="slidenum">
              <a:rPr lang="en-US" altLang="en-US" smtClean="0"/>
              <a:t>‹#›</a:t>
            </a:fld>
            <a:endParaRPr lang="en-US"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EBED4D25-161A-3782-A801-38E26BFD1EF5}"/>
              </a:ext>
            </a:extLst>
          </p:cNvPr>
          <p:cNvSpPr>
            <a:spLocks noGrp="1"/>
          </p:cNvSpPr>
          <p:nvPr>
            <p:ph type="dt" sz="half" idx="10"/>
          </p:nvPr>
        </p:nvSpPr>
        <p:spPr/>
        <p:txBody>
          <a:bodyPr/>
          <a:lstStyle/>
          <a:p>
            <a:fld id="{0B4571A7-0608-4CA0-91C4-DD76FEAC2393}" type="datetime1">
              <a:rPr lang="zh-CN" altLang="en-US" smtClean="0">
                <a:latin typeface="Arial" panose="020B0604020202020204" pitchFamily="34" charset="0"/>
                <a:ea typeface="微软雅黑" panose="020B0503020204020204" pitchFamily="34" charset="-122"/>
                <a:sym typeface="Arial" panose="020B0604020202020204" pitchFamily="34" charset="0"/>
              </a:rPr>
              <a:t>2026/2/10</a:t>
            </a:fld>
            <a:endParaRPr lang="en-US" altLang="en-US" dirty="0">
              <a:latin typeface="Arial" panose="020B0604020202020204" pitchFamily="34" charset="0"/>
              <a:ea typeface="微软雅黑" panose="020B0503020204020204" pitchFamily="34" charset="-122"/>
              <a:sym typeface="Arial" panose="020B0604020202020204" pitchFamily="34" charset="0"/>
            </a:endParaRPr>
          </a:p>
        </p:txBody>
      </p:sp>
      <p:sp>
        <p:nvSpPr>
          <p:cNvPr id="3" name="页脚占位符 2">
            <a:extLst>
              <a:ext uri="{FF2B5EF4-FFF2-40B4-BE49-F238E27FC236}">
                <a16:creationId xmlns:a16="http://schemas.microsoft.com/office/drawing/2014/main" id="{8E706A2D-8FE1-D17D-2D56-601130B04397}"/>
              </a:ext>
            </a:extLst>
          </p:cNvPr>
          <p:cNvSpPr>
            <a:spLocks noGrp="1"/>
          </p:cNvSpPr>
          <p:nvPr>
            <p:ph type="ftr" sz="quarter" idx="11"/>
          </p:nvPr>
        </p:nvSpPr>
        <p:spPr/>
        <p:txBody>
          <a:bodyPr/>
          <a:lstStyle/>
          <a:p>
            <a:r>
              <a:rPr lang="en-US" altLang="en-US" dirty="0">
                <a:latin typeface="Arial" panose="020B0604020202020204" pitchFamily="34" charset="0"/>
                <a:ea typeface="微软雅黑" panose="020B0503020204020204" pitchFamily="34" charset="-122"/>
                <a:sym typeface="Arial" panose="020B0604020202020204" pitchFamily="34" charset="0"/>
              </a:rPr>
              <a:t>Horizon Continental Technology Shanghai Co.， Ltd -  Confidential Information Under NDA</a:t>
            </a:r>
          </a:p>
        </p:txBody>
      </p:sp>
      <p:sp>
        <p:nvSpPr>
          <p:cNvPr id="4" name="灯片编号占位符 3">
            <a:extLst>
              <a:ext uri="{FF2B5EF4-FFF2-40B4-BE49-F238E27FC236}">
                <a16:creationId xmlns:a16="http://schemas.microsoft.com/office/drawing/2014/main" id="{B89D69CE-806A-3F9A-B701-E19B2336AA4B}"/>
              </a:ext>
            </a:extLst>
          </p:cNvPr>
          <p:cNvSpPr>
            <a:spLocks noGrp="1"/>
          </p:cNvSpPr>
          <p:nvPr>
            <p:ph type="sldNum" sz="quarter" idx="12"/>
          </p:nvPr>
        </p:nvSpPr>
        <p:spPr/>
        <p:txBody>
          <a:bodyPr/>
          <a:lstStyle/>
          <a:p>
            <a:fld id="{9CC13275-6251-4C40-AFE1-85D85DA07171}" type="slidenum">
              <a:rPr lang="en-US" altLang="en-US" smtClean="0">
                <a:latin typeface="Arial" panose="020B0604020202020204" pitchFamily="34" charset="0"/>
                <a:ea typeface="微软雅黑" panose="020B0503020204020204" pitchFamily="34" charset="-122"/>
                <a:sym typeface="Arial" panose="020B0604020202020204" pitchFamily="34" charset="0"/>
              </a:rPr>
              <a:t>1</a:t>
            </a:fld>
            <a:endParaRPr lang="en-US" altLang="en-US" dirty="0">
              <a:latin typeface="Arial" panose="020B0604020202020204" pitchFamily="34" charset="0"/>
              <a:ea typeface="微软雅黑" panose="020B0503020204020204" pitchFamily="34" charset="-122"/>
              <a:sym typeface="Arial" panose="020B0604020202020204" pitchFamily="34" charset="0"/>
            </a:endParaRPr>
          </a:p>
        </p:txBody>
      </p:sp>
      <p:sp>
        <p:nvSpPr>
          <p:cNvPr id="5" name="文本框 4">
            <a:extLst>
              <a:ext uri="{FF2B5EF4-FFF2-40B4-BE49-F238E27FC236}">
                <a16:creationId xmlns:a16="http://schemas.microsoft.com/office/drawing/2014/main" id="{FF7A5344-F765-5168-0F9F-F4B9B9392553}"/>
              </a:ext>
            </a:extLst>
          </p:cNvPr>
          <p:cNvSpPr txBox="1"/>
          <p:nvPr/>
        </p:nvSpPr>
        <p:spPr>
          <a:xfrm>
            <a:off x="777240" y="488315"/>
            <a:ext cx="10637520" cy="491490"/>
          </a:xfrm>
          <a:prstGeom prst="rect">
            <a:avLst/>
          </a:prstGeom>
          <a:noFill/>
        </p:spPr>
        <p:txBody>
          <a:bodyPr wrap="square">
            <a:spAutoFit/>
          </a:bodyPr>
          <a:lstStyle>
            <a:defPPr>
              <a:defRPr lang="en-US"/>
            </a:defPPr>
            <a:lvl1pPr algn="ctr">
              <a:defRPr sz="2600" b="0" spc="300">
                <a:solidFill>
                  <a:srgbClr val="001432"/>
                </a:solidFill>
                <a:latin typeface="+mj-ea"/>
                <a:ea typeface="+mj-ea"/>
              </a:defRPr>
            </a:lvl1pPr>
          </a:lstStyle>
          <a:p>
            <a:pPr lvl="0" defTabSz="914400">
              <a:defRPr/>
            </a:pPr>
            <a:r>
              <a:rPr lang="en-US" altLang="zh-CN" dirty="0">
                <a:solidFill>
                  <a:srgbClr val="131319"/>
                </a:solidFill>
                <a:latin typeface="Arial" panose="020B0604020202020204" pitchFamily="34" charset="0"/>
                <a:ea typeface="微软雅黑" panose="020B0503020204020204" pitchFamily="34" charset="-122"/>
                <a:sym typeface="Arial" panose="020B0604020202020204" pitchFamily="34" charset="0"/>
              </a:rPr>
              <a:t>Astra</a:t>
            </a:r>
            <a:r>
              <a:rPr lang="zh-CN" altLang="en-US" dirty="0">
                <a:solidFill>
                  <a:srgbClr val="131319"/>
                </a:solidFill>
                <a:latin typeface="Arial" panose="020B0604020202020204" pitchFamily="34" charset="0"/>
                <a:ea typeface="微软雅黑" panose="020B0503020204020204" pitchFamily="34" charset="-122"/>
                <a:sym typeface="Arial" panose="020B0604020202020204" pitchFamily="34" charset="0"/>
              </a:rPr>
              <a:t>行车功能列表</a:t>
            </a:r>
            <a:endParaRPr lang="zh-CN" altLang="en-US" sz="4000" dirty="0">
              <a:solidFill>
                <a:srgbClr val="131319"/>
              </a:solidFill>
              <a:latin typeface="Arial" panose="020B0604020202020204" pitchFamily="34" charset="0"/>
              <a:ea typeface="微软雅黑" panose="020B0503020204020204" pitchFamily="34" charset="-122"/>
              <a:sym typeface="Arial" panose="020B0604020202020204" pitchFamily="34" charset="0"/>
            </a:endParaRPr>
          </a:p>
        </p:txBody>
      </p:sp>
      <p:graphicFrame>
        <p:nvGraphicFramePr>
          <p:cNvPr id="7" name="表格 6">
            <a:extLst>
              <a:ext uri="{FF2B5EF4-FFF2-40B4-BE49-F238E27FC236}">
                <a16:creationId xmlns:a16="http://schemas.microsoft.com/office/drawing/2014/main" id="{8142C4A1-1702-D108-4946-DF7E5E43B209}"/>
              </a:ext>
            </a:extLst>
          </p:cNvPr>
          <p:cNvGraphicFramePr>
            <a:graphicFrameLocks noGrp="1"/>
          </p:cNvGraphicFramePr>
          <p:nvPr>
            <p:extLst>
              <p:ext uri="{D42A27DB-BD31-4B8C-83A1-F6EECF244321}">
                <p14:modId xmlns:p14="http://schemas.microsoft.com/office/powerpoint/2010/main" val="1256050678"/>
              </p:ext>
            </p:extLst>
          </p:nvPr>
        </p:nvGraphicFramePr>
        <p:xfrm>
          <a:off x="206246" y="979805"/>
          <a:ext cx="11779507" cy="5396000"/>
        </p:xfrm>
        <a:graphic>
          <a:graphicData uri="http://schemas.openxmlformats.org/drawingml/2006/table">
            <a:tbl>
              <a:tblPr/>
              <a:tblGrid>
                <a:gridCol w="717927">
                  <a:extLst>
                    <a:ext uri="{9D8B030D-6E8A-4147-A177-3AD203B41FA5}">
                      <a16:colId xmlns:a16="http://schemas.microsoft.com/office/drawing/2014/main" val="753555554"/>
                    </a:ext>
                  </a:extLst>
                </a:gridCol>
                <a:gridCol w="859745">
                  <a:extLst>
                    <a:ext uri="{9D8B030D-6E8A-4147-A177-3AD203B41FA5}">
                      <a16:colId xmlns:a16="http://schemas.microsoft.com/office/drawing/2014/main" val="1683866501"/>
                    </a:ext>
                  </a:extLst>
                </a:gridCol>
                <a:gridCol w="1018235">
                  <a:extLst>
                    <a:ext uri="{9D8B030D-6E8A-4147-A177-3AD203B41FA5}">
                      <a16:colId xmlns:a16="http://schemas.microsoft.com/office/drawing/2014/main" val="3663784263"/>
                    </a:ext>
                  </a:extLst>
                </a:gridCol>
                <a:gridCol w="6516000">
                  <a:extLst>
                    <a:ext uri="{9D8B030D-6E8A-4147-A177-3AD203B41FA5}">
                      <a16:colId xmlns:a16="http://schemas.microsoft.com/office/drawing/2014/main" val="2991448286"/>
                    </a:ext>
                  </a:extLst>
                </a:gridCol>
                <a:gridCol w="889200">
                  <a:extLst>
                    <a:ext uri="{9D8B030D-6E8A-4147-A177-3AD203B41FA5}">
                      <a16:colId xmlns:a16="http://schemas.microsoft.com/office/drawing/2014/main" val="577342126"/>
                    </a:ext>
                  </a:extLst>
                </a:gridCol>
                <a:gridCol w="889200">
                  <a:extLst>
                    <a:ext uri="{9D8B030D-6E8A-4147-A177-3AD203B41FA5}">
                      <a16:colId xmlns:a16="http://schemas.microsoft.com/office/drawing/2014/main" val="1391232952"/>
                    </a:ext>
                  </a:extLst>
                </a:gridCol>
                <a:gridCol w="889200">
                  <a:extLst>
                    <a:ext uri="{9D8B030D-6E8A-4147-A177-3AD203B41FA5}">
                      <a16:colId xmlns:a16="http://schemas.microsoft.com/office/drawing/2014/main" val="2161060958"/>
                    </a:ext>
                  </a:extLst>
                </a:gridCol>
              </a:tblGrid>
              <a:tr h="268531">
                <a:tc gridSpan="2">
                  <a:txBody>
                    <a:bodyPr/>
                    <a:lstStyle/>
                    <a:p>
                      <a:pPr algn="ctr" fontAlgn="ctr" latinLnBrk="0">
                        <a:lnSpc>
                          <a:spcPts val="1600"/>
                        </a:lnSpc>
                        <a:buNone/>
                      </a:pPr>
                      <a:r>
                        <a:rPr lang="zh-CN" altLang="en-US" sz="1200" b="1" i="0" dirty="0">
                          <a:solidFill>
                            <a:schemeClr val="bg1"/>
                          </a:solidFill>
                          <a:effectLst/>
                          <a:latin typeface="Arial" panose="020B0604020202020204" pitchFamily="34" charset="0"/>
                          <a:ea typeface="微软雅黑" panose="020B0503020204020204" pitchFamily="34" charset="-122"/>
                          <a:sym typeface="Arial" panose="020B0604020202020204" pitchFamily="34" charset="0"/>
                        </a:rPr>
                        <a:t>一级功能</a:t>
                      </a:r>
                    </a:p>
                  </a:txBody>
                  <a:tcPr marL="0" marR="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hMerge="1">
                  <a:txBody>
                    <a:bodyPr/>
                    <a:lstStyle/>
                    <a:p>
                      <a:endParaRPr lang="zh-CN" altLang="en-US"/>
                    </a:p>
                  </a:txBody>
                  <a:tcPr/>
                </a:tc>
                <a:tc>
                  <a:txBody>
                    <a:bodyPr/>
                    <a:lstStyle/>
                    <a:p>
                      <a:pPr algn="ctr" fontAlgn="ctr" latinLnBrk="0">
                        <a:lnSpc>
                          <a:spcPts val="1600"/>
                        </a:lnSpc>
                        <a:buNone/>
                      </a:pPr>
                      <a:r>
                        <a:rPr lang="zh-CN" altLang="en-US" sz="1200" b="1" i="0" dirty="0">
                          <a:solidFill>
                            <a:schemeClr val="bg1"/>
                          </a:solidFill>
                          <a:effectLst/>
                          <a:latin typeface="Arial" panose="020B0604020202020204" pitchFamily="34" charset="0"/>
                          <a:ea typeface="微软雅黑" panose="020B0503020204020204" pitchFamily="34" charset="-122"/>
                          <a:sym typeface="Arial" panose="020B0604020202020204" pitchFamily="34" charset="0"/>
                        </a:rPr>
                        <a:t>二级功能</a:t>
                      </a:r>
                    </a:p>
                  </a:txBody>
                  <a:tcPr marL="0" marR="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fontAlgn="ctr" latinLnBrk="0">
                        <a:lnSpc>
                          <a:spcPts val="1600"/>
                        </a:lnSpc>
                        <a:buNone/>
                      </a:pPr>
                      <a:r>
                        <a:rPr lang="zh-CN" altLang="en-US" sz="1200" b="1" i="0" dirty="0">
                          <a:solidFill>
                            <a:schemeClr val="bg1"/>
                          </a:solidFill>
                          <a:effectLst/>
                          <a:latin typeface="Arial" panose="020B0604020202020204" pitchFamily="34" charset="0"/>
                          <a:ea typeface="微软雅黑" panose="020B0503020204020204" pitchFamily="34" charset="-122"/>
                          <a:sym typeface="Arial" panose="020B0604020202020204" pitchFamily="34" charset="0"/>
                        </a:rPr>
                        <a:t>描述</a:t>
                      </a:r>
                    </a:p>
                  </a:txBody>
                  <a:tcPr marL="0" marR="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fontAlgn="ctr" latinLnBrk="0">
                        <a:lnSpc>
                          <a:spcPts val="1600"/>
                        </a:lnSpc>
                        <a:buNone/>
                      </a:pPr>
                      <a:r>
                        <a:rPr lang="zh-CN" altLang="en-US" sz="1200" b="1" i="0" dirty="0">
                          <a:solidFill>
                            <a:schemeClr val="bg1"/>
                          </a:solidFill>
                          <a:effectLst/>
                          <a:latin typeface="Arial" panose="020B0604020202020204" pitchFamily="34" charset="0"/>
                          <a:ea typeface="微软雅黑" panose="020B0503020204020204" pitchFamily="34" charset="-122"/>
                          <a:sym typeface="Arial" panose="020B0604020202020204" pitchFamily="34" charset="0"/>
                        </a:rPr>
                        <a:t>场景</a:t>
                      </a:r>
                    </a:p>
                  </a:txBody>
                  <a:tcPr marL="0" marR="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fontAlgn="ctr" latinLnBrk="0">
                        <a:lnSpc>
                          <a:spcPts val="1600"/>
                        </a:lnSpc>
                        <a:buNone/>
                      </a:pPr>
                      <a:r>
                        <a:rPr lang="zh-CN" altLang="en-US" sz="1200" b="1" i="0" dirty="0">
                          <a:solidFill>
                            <a:schemeClr val="bg1"/>
                          </a:solidFill>
                          <a:effectLst/>
                          <a:latin typeface="Arial" panose="020B0604020202020204" pitchFamily="34" charset="0"/>
                          <a:ea typeface="微软雅黑" panose="020B0503020204020204" pitchFamily="34" charset="-122"/>
                          <a:sym typeface="Arial" panose="020B0604020202020204" pitchFamily="34" charset="0"/>
                        </a:rPr>
                        <a:t>功能</a:t>
                      </a:r>
                    </a:p>
                  </a:txBody>
                  <a:tcPr marL="0" marR="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fontAlgn="ctr" latinLnBrk="0">
                        <a:lnSpc>
                          <a:spcPts val="1600"/>
                        </a:lnSpc>
                        <a:buNone/>
                      </a:pPr>
                      <a:r>
                        <a:rPr lang="zh-CN" altLang="en-US" sz="1200" b="1" i="0" dirty="0">
                          <a:solidFill>
                            <a:schemeClr val="bg1"/>
                          </a:solidFill>
                          <a:effectLst/>
                          <a:latin typeface="Arial" panose="020B0604020202020204" pitchFamily="34" charset="0"/>
                          <a:ea typeface="微软雅黑" panose="020B0503020204020204" pitchFamily="34" charset="-122"/>
                          <a:sym typeface="Arial" panose="020B0604020202020204" pitchFamily="34" charset="0"/>
                        </a:rPr>
                        <a:t>上线计划</a:t>
                      </a:r>
                    </a:p>
                  </a:txBody>
                  <a:tcPr marL="0" marR="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extLst>
                  <a:ext uri="{0D108BD9-81ED-4DB2-BD59-A6C34878D82A}">
                    <a16:rowId xmlns:a16="http://schemas.microsoft.com/office/drawing/2014/main" val="1774747084"/>
                  </a:ext>
                </a:extLst>
              </a:tr>
              <a:tr h="468000">
                <a:tc rowSpan="12">
                  <a:txBody>
                    <a:bodyPr/>
                    <a:lstStyle/>
                    <a:p>
                      <a:pPr marL="0" algn="ctr" defTabSz="914400" rtl="0" eaLnBrk="1" fontAlgn="ctr" latinLnBrk="0" hangingPunct="1">
                        <a:lnSpc>
                          <a:spcPts val="1600"/>
                        </a:lnSpc>
                        <a:buNone/>
                      </a:pPr>
                      <a:r>
                        <a:rPr lang="zh-CN" altLang="en-US" sz="1200" b="0" i="0" kern="1200" dirty="0">
                          <a:solidFill>
                            <a:srgbClr val="000000"/>
                          </a:solidFill>
                          <a:effectLst/>
                          <a:latin typeface="Arial" panose="020B0604020202020204" pitchFamily="34" charset="0"/>
                          <a:ea typeface="微软雅黑" panose="020B0503020204020204" pitchFamily="34" charset="-122"/>
                          <a:cs typeface="+mn-cs"/>
                          <a:sym typeface="Arial" panose="020B0604020202020204" pitchFamily="34" charset="0"/>
                        </a:rPr>
                        <a:t>领航功能</a:t>
                      </a:r>
                    </a:p>
                  </a:txBody>
                  <a:tcPr marL="0" marR="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noFill/>
                  </a:tcPr>
                </a:tc>
                <a:tc rowSpan="10">
                  <a:txBody>
                    <a:bodyPr/>
                    <a:lstStyle/>
                    <a:p>
                      <a:pPr algn="ctr" fontAlgn="ctr" latinLnBrk="0">
                        <a:lnSpc>
                          <a:spcPts val="1600"/>
                        </a:lnSpc>
                        <a:buNone/>
                      </a:pPr>
                      <a:r>
                        <a:rPr lang="zh-CN" altLang="en-US" sz="1200" b="0" i="0" dirty="0">
                          <a:solidFill>
                            <a:srgbClr val="000000"/>
                          </a:solidFill>
                          <a:effectLst/>
                          <a:latin typeface="Arial" panose="020B0604020202020204" pitchFamily="34" charset="0"/>
                          <a:ea typeface="微软雅黑" panose="020B0503020204020204" pitchFamily="34" charset="-122"/>
                          <a:sym typeface="Arial" panose="020B0604020202020204" pitchFamily="34" charset="0"/>
                        </a:rPr>
                        <a:t>单车道巡航</a:t>
                      </a:r>
                    </a:p>
                  </a:txBody>
                  <a:tcPr marL="0" marR="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latinLnBrk="0">
                        <a:lnSpc>
                          <a:spcPts val="1600"/>
                        </a:lnSpc>
                        <a:buNone/>
                      </a:pPr>
                      <a:r>
                        <a:rPr lang="zh-CN" altLang="en-US" sz="1200" b="0" i="0" dirty="0">
                          <a:solidFill>
                            <a:srgbClr val="000000"/>
                          </a:solidFill>
                          <a:effectLst/>
                          <a:latin typeface="Arial" panose="020B0604020202020204" pitchFamily="34" charset="0"/>
                          <a:ea typeface="微软雅黑" panose="020B0503020204020204" pitchFamily="34" charset="-122"/>
                          <a:sym typeface="Arial" panose="020B0604020202020204" pitchFamily="34" charset="0"/>
                        </a:rPr>
                        <a:t>车速调节</a:t>
                      </a:r>
                    </a:p>
                  </a:txBody>
                  <a:tcPr marL="0" marR="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171450" indent="-171450" algn="l" fontAlgn="ctr" latinLnBrk="0">
                        <a:lnSpc>
                          <a:spcPts val="1600"/>
                        </a:lnSpc>
                        <a:buFont typeface="微软雅黑" panose="020B0503020204020204" pitchFamily="34" charset="-122"/>
                        <a:buChar char="￭"/>
                      </a:pPr>
                      <a:r>
                        <a:rPr lang="zh-CN" altLang="en-US" sz="1200" b="0" i="0" dirty="0">
                          <a:solidFill>
                            <a:srgbClr val="000000"/>
                          </a:solidFill>
                          <a:effectLst/>
                          <a:latin typeface="Arial" panose="020B0604020202020204" pitchFamily="34" charset="0"/>
                          <a:ea typeface="微软雅黑" panose="020B0503020204020204" pitchFamily="34" charset="-122"/>
                          <a:sym typeface="Arial" panose="020B0604020202020204" pitchFamily="34" charset="0"/>
                        </a:rPr>
                        <a:t>用户主动调节车速</a:t>
                      </a:r>
                      <a:r>
                        <a:rPr lang="en-US" altLang="zh-CN" sz="1200" b="0" i="0" dirty="0">
                          <a:solidFill>
                            <a:srgbClr val="000000"/>
                          </a:solidFill>
                          <a:effectLst/>
                          <a:latin typeface="Arial" panose="020B0604020202020204" pitchFamily="34" charset="0"/>
                          <a:ea typeface="微软雅黑" panose="020B0503020204020204" pitchFamily="34" charset="-122"/>
                          <a:sym typeface="Arial" panose="020B0604020202020204" pitchFamily="34" charset="0"/>
                        </a:rPr>
                        <a:t>,</a:t>
                      </a:r>
                      <a:r>
                        <a:rPr lang="zh-CN" altLang="en-US" sz="1200" b="0" i="0" dirty="0">
                          <a:solidFill>
                            <a:srgbClr val="000000"/>
                          </a:solidFill>
                          <a:effectLst/>
                          <a:latin typeface="Arial" panose="020B0604020202020204" pitchFamily="34" charset="0"/>
                          <a:ea typeface="微软雅黑" panose="020B0503020204020204" pitchFamily="34" charset="-122"/>
                          <a:sym typeface="Arial" panose="020B0604020202020204" pitchFamily="34" charset="0"/>
                        </a:rPr>
                        <a:t>可调节范围</a:t>
                      </a:r>
                      <a:r>
                        <a:rPr lang="en-US" altLang="zh-CN" sz="1200" b="0" i="0" dirty="0">
                          <a:solidFill>
                            <a:srgbClr val="000000"/>
                          </a:solidFill>
                          <a:effectLst/>
                          <a:latin typeface="Arial" panose="020B0604020202020204" pitchFamily="34" charset="0"/>
                          <a:ea typeface="微软雅黑" panose="020B0503020204020204" pitchFamily="34" charset="-122"/>
                          <a:sym typeface="Arial" panose="020B0604020202020204" pitchFamily="34" charset="0"/>
                        </a:rPr>
                        <a:t>: (1) </a:t>
                      </a:r>
                      <a:r>
                        <a:rPr lang="zh-CN" altLang="en-US" sz="1200" b="0" i="0" dirty="0">
                          <a:solidFill>
                            <a:srgbClr val="000000"/>
                          </a:solidFill>
                          <a:effectLst/>
                          <a:latin typeface="Arial" panose="020B0604020202020204" pitchFamily="34" charset="0"/>
                          <a:ea typeface="微软雅黑" panose="020B0503020204020204" pitchFamily="34" charset="-122"/>
                          <a:sym typeface="Arial" panose="020B0604020202020204" pitchFamily="34" charset="0"/>
                        </a:rPr>
                        <a:t>城区</a:t>
                      </a:r>
                      <a:r>
                        <a:rPr lang="en-US" altLang="zh-CN" sz="1200" b="0" i="0" dirty="0">
                          <a:solidFill>
                            <a:srgbClr val="000000"/>
                          </a:solidFill>
                          <a:effectLst/>
                          <a:latin typeface="Arial" panose="020B0604020202020204" pitchFamily="34" charset="0"/>
                          <a:ea typeface="微软雅黑" panose="020B0503020204020204" pitchFamily="34" charset="-122"/>
                          <a:sym typeface="Arial" panose="020B0604020202020204" pitchFamily="34" charset="0"/>
                        </a:rPr>
                        <a:t>:15-90kph; (2)</a:t>
                      </a:r>
                      <a:r>
                        <a:rPr lang="zh-CN" altLang="en-US" sz="1200" b="0" i="0" dirty="0">
                          <a:solidFill>
                            <a:srgbClr val="000000"/>
                          </a:solidFill>
                          <a:effectLst/>
                          <a:latin typeface="Arial" panose="020B0604020202020204" pitchFamily="34" charset="0"/>
                          <a:ea typeface="微软雅黑" panose="020B0503020204020204" pitchFamily="34" charset="-122"/>
                          <a:sym typeface="Arial" panose="020B0604020202020204" pitchFamily="34" charset="0"/>
                        </a:rPr>
                        <a:t>高速</a:t>
                      </a:r>
                      <a:r>
                        <a:rPr lang="en-US" altLang="zh-CN" sz="1200" b="0" i="0" dirty="0">
                          <a:solidFill>
                            <a:srgbClr val="000000"/>
                          </a:solidFill>
                          <a:effectLst/>
                          <a:latin typeface="Arial" panose="020B0604020202020204" pitchFamily="34" charset="0"/>
                          <a:ea typeface="微软雅黑" panose="020B0503020204020204" pitchFamily="34" charset="-122"/>
                          <a:sym typeface="Arial" panose="020B0604020202020204" pitchFamily="34" charset="0"/>
                        </a:rPr>
                        <a:t>:15-130kph</a:t>
                      </a:r>
                    </a:p>
                    <a:p>
                      <a:pPr marL="171450" indent="-171450" algn="l" fontAlgn="ctr" latinLnBrk="0">
                        <a:lnSpc>
                          <a:spcPts val="1600"/>
                        </a:lnSpc>
                        <a:buFont typeface="微软雅黑" panose="020B0503020204020204" pitchFamily="34" charset="-122"/>
                        <a:buChar char="￭"/>
                      </a:pPr>
                      <a:r>
                        <a:rPr lang="zh-CN" altLang="en-US" sz="1200" b="0" i="0" dirty="0">
                          <a:solidFill>
                            <a:srgbClr val="000000"/>
                          </a:solidFill>
                          <a:effectLst/>
                          <a:latin typeface="Arial" panose="020B0604020202020204" pitchFamily="34" charset="0"/>
                          <a:ea typeface="微软雅黑" panose="020B0503020204020204" pitchFamily="34" charset="-122"/>
                          <a:sym typeface="Arial" panose="020B0604020202020204" pitchFamily="34" charset="0"/>
                        </a:rPr>
                        <a:t>当前实现为滚轮调节</a:t>
                      </a:r>
                      <a:r>
                        <a:rPr lang="en-US" altLang="zh-CN" sz="1200" b="0" i="0" dirty="0">
                          <a:solidFill>
                            <a:srgbClr val="000000"/>
                          </a:solidFill>
                          <a:effectLst/>
                          <a:latin typeface="Arial" panose="020B0604020202020204" pitchFamily="34" charset="0"/>
                          <a:ea typeface="微软雅黑" panose="020B0503020204020204" pitchFamily="34" charset="-122"/>
                          <a:sym typeface="Arial" panose="020B0604020202020204" pitchFamily="34" charset="0"/>
                        </a:rPr>
                        <a:t>:</a:t>
                      </a:r>
                      <a:r>
                        <a:rPr lang="zh-CN" altLang="en-US" sz="1200" b="0" i="0" dirty="0">
                          <a:solidFill>
                            <a:srgbClr val="000000"/>
                          </a:solidFill>
                          <a:effectLst/>
                          <a:latin typeface="Arial" panose="020B0604020202020204" pitchFamily="34" charset="0"/>
                          <a:ea typeface="微软雅黑" panose="020B0503020204020204" pitchFamily="34" charset="-122"/>
                          <a:sym typeface="Arial" panose="020B0604020202020204" pitchFamily="34" charset="0"/>
                        </a:rPr>
                        <a:t>快调</a:t>
                      </a:r>
                      <a:r>
                        <a:rPr lang="en-US" altLang="zh-CN" sz="1200" b="0" i="0" dirty="0">
                          <a:solidFill>
                            <a:srgbClr val="000000"/>
                          </a:solidFill>
                          <a:effectLst/>
                          <a:latin typeface="Arial" panose="020B0604020202020204" pitchFamily="34" charset="0"/>
                          <a:ea typeface="微软雅黑" panose="020B0503020204020204" pitchFamily="34" charset="-122"/>
                          <a:sym typeface="Arial" panose="020B0604020202020204" pitchFamily="34" charset="0"/>
                        </a:rPr>
                        <a:t>±5kph,</a:t>
                      </a:r>
                      <a:r>
                        <a:rPr lang="zh-CN" altLang="en-US" sz="1200" b="0" i="0" dirty="0">
                          <a:solidFill>
                            <a:srgbClr val="000000"/>
                          </a:solidFill>
                          <a:effectLst/>
                          <a:latin typeface="Arial" panose="020B0604020202020204" pitchFamily="34" charset="0"/>
                          <a:ea typeface="微软雅黑" panose="020B0503020204020204" pitchFamily="34" charset="-122"/>
                          <a:sym typeface="Arial" panose="020B0604020202020204" pitchFamily="34" charset="0"/>
                        </a:rPr>
                        <a:t>慢调</a:t>
                      </a:r>
                      <a:r>
                        <a:rPr lang="en-US" altLang="zh-CN" sz="1200" b="0" i="0" dirty="0">
                          <a:solidFill>
                            <a:srgbClr val="000000"/>
                          </a:solidFill>
                          <a:effectLst/>
                          <a:latin typeface="Arial" panose="020B0604020202020204" pitchFamily="34" charset="0"/>
                          <a:ea typeface="微软雅黑" panose="020B0503020204020204" pitchFamily="34" charset="-122"/>
                          <a:sym typeface="Arial" panose="020B0604020202020204" pitchFamily="34" charset="0"/>
                        </a:rPr>
                        <a:t>±1kph</a:t>
                      </a:r>
                      <a:endParaRPr lang="zh-CN" altLang="en-US" sz="1200" b="0" i="0" dirty="0">
                        <a:solidFill>
                          <a:srgbClr val="000000"/>
                        </a:solidFill>
                        <a:effectLst/>
                        <a:latin typeface="Arial" panose="020B0604020202020204" pitchFamily="34" charset="0"/>
                        <a:ea typeface="微软雅黑" panose="020B0503020204020204" pitchFamily="34" charset="-122"/>
                        <a:sym typeface="Arial" panose="020B0604020202020204" pitchFamily="34" charset="0"/>
                      </a:endParaRPr>
                    </a:p>
                  </a:txBody>
                  <a:tcPr marL="72000" marR="7200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latinLnBrk="0">
                        <a:lnSpc>
                          <a:spcPts val="1600"/>
                        </a:lnSpc>
                        <a:buNone/>
                      </a:pPr>
                      <a:r>
                        <a:rPr lang="zh-CN" altLang="en-US" sz="1200" b="0" i="0" dirty="0">
                          <a:solidFill>
                            <a:srgbClr val="000000"/>
                          </a:solidFill>
                          <a:effectLst/>
                          <a:latin typeface="Arial" panose="020B0604020202020204" pitchFamily="34" charset="0"/>
                          <a:ea typeface="微软雅黑" panose="020B0503020204020204" pitchFamily="34" charset="-122"/>
                          <a:sym typeface="Arial" panose="020B0604020202020204" pitchFamily="34" charset="0"/>
                        </a:rPr>
                        <a:t>城区，高速</a:t>
                      </a:r>
                    </a:p>
                  </a:txBody>
                  <a:tcPr marL="0" marR="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latinLnBrk="0">
                        <a:lnSpc>
                          <a:spcPts val="1600"/>
                        </a:lnSpc>
                        <a:buNone/>
                      </a:pPr>
                      <a:r>
                        <a:rPr lang="en-US" sz="1200" b="0" i="0" dirty="0">
                          <a:solidFill>
                            <a:srgbClr val="000000"/>
                          </a:solidFill>
                          <a:effectLst/>
                          <a:latin typeface="Arial" panose="020B0604020202020204" pitchFamily="34" charset="0"/>
                          <a:ea typeface="微软雅黑" panose="020B0503020204020204" pitchFamily="34" charset="-122"/>
                          <a:sym typeface="Arial" panose="020B0604020202020204" pitchFamily="34" charset="0"/>
                        </a:rPr>
                        <a:t>NOA，</a:t>
                      </a:r>
                      <a:r>
                        <a:rPr lang="zh-CN" altLang="en-US" sz="1200" b="0" i="0" dirty="0">
                          <a:solidFill>
                            <a:srgbClr val="000000"/>
                          </a:solidFill>
                          <a:effectLst/>
                          <a:latin typeface="Arial" panose="020B0604020202020204" pitchFamily="34" charset="0"/>
                          <a:ea typeface="微软雅黑" panose="020B0503020204020204" pitchFamily="34" charset="-122"/>
                          <a:sym typeface="Arial" panose="020B0604020202020204" pitchFamily="34" charset="0"/>
                        </a:rPr>
                        <a:t>漫游</a:t>
                      </a:r>
                    </a:p>
                  </a:txBody>
                  <a:tcPr marL="0" marR="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latinLnBrk="0">
                        <a:lnSpc>
                          <a:spcPts val="1600"/>
                        </a:lnSpc>
                        <a:buNone/>
                      </a:pPr>
                      <a:r>
                        <a:rPr lang="en-US" sz="1200" b="0" i="0" dirty="0">
                          <a:solidFill>
                            <a:srgbClr val="000000"/>
                          </a:solidFill>
                          <a:effectLst/>
                          <a:latin typeface="Arial" panose="020B0604020202020204" pitchFamily="34" charset="0"/>
                          <a:ea typeface="微软雅黑" panose="020B0503020204020204" pitchFamily="34" charset="-122"/>
                          <a:sym typeface="Arial" panose="020B0604020202020204" pitchFamily="34" charset="0"/>
                        </a:rPr>
                        <a:t>SOP(530)</a:t>
                      </a:r>
                    </a:p>
                  </a:txBody>
                  <a:tcPr marL="0" marR="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671738053"/>
                  </a:ext>
                </a:extLst>
              </a:tr>
              <a:tr h="252000">
                <a:tc vMerge="1">
                  <a:txBody>
                    <a:bodyPr/>
                    <a:lstStyle/>
                    <a:p>
                      <a:endParaRPr dirty="0"/>
                    </a:p>
                  </a:txBody>
                  <a:tcPr marL="8859" marR="8859" marT="4430" marB="443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xBody>
                    <a:bodyPr/>
                    <a:lstStyle/>
                    <a:p>
                      <a:endParaRPr dirty="0"/>
                    </a:p>
                  </a:txBody>
                  <a:tcPr marL="8859" marR="8859" marT="4430" marB="443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latinLnBrk="0">
                        <a:lnSpc>
                          <a:spcPts val="1600"/>
                        </a:lnSpc>
                        <a:buNone/>
                      </a:pPr>
                      <a:r>
                        <a:rPr lang="zh-CN" altLang="en-US" sz="1200" b="0" i="0" dirty="0">
                          <a:solidFill>
                            <a:srgbClr val="000000"/>
                          </a:solidFill>
                          <a:effectLst/>
                          <a:latin typeface="Arial" panose="020B0604020202020204" pitchFamily="34" charset="0"/>
                          <a:ea typeface="微软雅黑" panose="020B0503020204020204" pitchFamily="34" charset="-122"/>
                          <a:sym typeface="Arial" panose="020B0604020202020204" pitchFamily="34" charset="0"/>
                        </a:rPr>
                        <a:t>智能限速</a:t>
                      </a:r>
                    </a:p>
                  </a:txBody>
                  <a:tcPr marL="0" marR="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171450" indent="-171450" algn="l" fontAlgn="ctr" latinLnBrk="0">
                        <a:lnSpc>
                          <a:spcPts val="1600"/>
                        </a:lnSpc>
                        <a:buFont typeface="微软雅黑" panose="020B0503020204020204" pitchFamily="34" charset="-122"/>
                        <a:buChar char="￭"/>
                      </a:pPr>
                      <a:r>
                        <a:rPr lang="zh-CN" altLang="en-US" sz="1200" b="0" i="0" dirty="0">
                          <a:solidFill>
                            <a:srgbClr val="000000"/>
                          </a:solidFill>
                          <a:effectLst/>
                          <a:latin typeface="Arial" panose="020B0604020202020204" pitchFamily="34" charset="0"/>
                          <a:ea typeface="微软雅黑" panose="020B0503020204020204" pitchFamily="34" charset="-122"/>
                          <a:sym typeface="Arial" panose="020B0604020202020204" pitchFamily="34" charset="0"/>
                        </a:rPr>
                        <a:t>根据</a:t>
                      </a:r>
                      <a:r>
                        <a:rPr lang="en-US" altLang="zh-CN" sz="1200" b="0" i="0" dirty="0">
                          <a:solidFill>
                            <a:srgbClr val="000000"/>
                          </a:solidFill>
                          <a:effectLst/>
                          <a:latin typeface="Arial" panose="020B0604020202020204" pitchFamily="34" charset="0"/>
                          <a:ea typeface="微软雅黑" panose="020B0503020204020204" pitchFamily="34" charset="-122"/>
                          <a:sym typeface="Arial" panose="020B0604020202020204" pitchFamily="34" charset="0"/>
                        </a:rPr>
                        <a:t>TSR</a:t>
                      </a:r>
                      <a:r>
                        <a:rPr lang="zh-CN" altLang="en-US" sz="1200" b="0" i="0" dirty="0">
                          <a:solidFill>
                            <a:srgbClr val="000000"/>
                          </a:solidFill>
                          <a:effectLst/>
                          <a:latin typeface="Arial" panose="020B0604020202020204" pitchFamily="34" charset="0"/>
                          <a:ea typeface="微软雅黑" panose="020B0503020204020204" pitchFamily="34" charset="-122"/>
                          <a:sym typeface="Arial" panose="020B0604020202020204" pitchFamily="34" charset="0"/>
                        </a:rPr>
                        <a:t>限速识别</a:t>
                      </a:r>
                      <a:r>
                        <a:rPr lang="en-US" altLang="zh-CN" sz="1200" b="0" i="0" dirty="0">
                          <a:solidFill>
                            <a:srgbClr val="000000"/>
                          </a:solidFill>
                          <a:effectLst/>
                          <a:latin typeface="Arial" panose="020B0604020202020204" pitchFamily="34" charset="0"/>
                          <a:ea typeface="微软雅黑" panose="020B0503020204020204" pitchFamily="34" charset="-122"/>
                          <a:sym typeface="Arial" panose="020B0604020202020204" pitchFamily="34" charset="0"/>
                        </a:rPr>
                        <a:t>/</a:t>
                      </a:r>
                      <a:r>
                        <a:rPr lang="zh-CN" altLang="en-US" sz="1200" b="0" i="0" dirty="0">
                          <a:solidFill>
                            <a:srgbClr val="000000"/>
                          </a:solidFill>
                          <a:effectLst/>
                          <a:latin typeface="Arial" panose="020B0604020202020204" pitchFamily="34" charset="0"/>
                          <a:ea typeface="微软雅黑" panose="020B0503020204020204" pitchFamily="34" charset="-122"/>
                          <a:sym typeface="Arial" panose="020B0604020202020204" pitchFamily="34" charset="0"/>
                        </a:rPr>
                        <a:t>导航限速</a:t>
                      </a:r>
                      <a:r>
                        <a:rPr lang="en-US" altLang="zh-CN" sz="1200" b="0" i="0" dirty="0">
                          <a:solidFill>
                            <a:srgbClr val="000000"/>
                          </a:solidFill>
                          <a:effectLst/>
                          <a:latin typeface="Arial" panose="020B0604020202020204" pitchFamily="34" charset="0"/>
                          <a:ea typeface="微软雅黑" panose="020B0503020204020204" pitchFamily="34" charset="-122"/>
                          <a:sym typeface="Arial" panose="020B0604020202020204" pitchFamily="34" charset="0"/>
                        </a:rPr>
                        <a:t>/</a:t>
                      </a:r>
                      <a:r>
                        <a:rPr lang="zh-CN" altLang="en-US" sz="1200" b="0" i="0" dirty="0">
                          <a:solidFill>
                            <a:srgbClr val="000000"/>
                          </a:solidFill>
                          <a:effectLst/>
                          <a:latin typeface="Arial" panose="020B0604020202020204" pitchFamily="34" charset="0"/>
                          <a:ea typeface="微软雅黑" panose="020B0503020204020204" pitchFamily="34" charset="-122"/>
                          <a:sym typeface="Arial" panose="020B0604020202020204" pitchFamily="34" charset="0"/>
                        </a:rPr>
                        <a:t>地图经验限速</a:t>
                      </a:r>
                      <a:r>
                        <a:rPr lang="en-US" altLang="zh-CN" sz="1200" b="0" i="0" dirty="0">
                          <a:solidFill>
                            <a:srgbClr val="000000"/>
                          </a:solidFill>
                          <a:effectLst/>
                          <a:latin typeface="Arial" panose="020B0604020202020204" pitchFamily="34" charset="0"/>
                          <a:ea typeface="微软雅黑" panose="020B0503020204020204" pitchFamily="34" charset="-122"/>
                          <a:sym typeface="Arial" panose="020B0604020202020204" pitchFamily="34" charset="0"/>
                        </a:rPr>
                        <a:t>/</a:t>
                      </a:r>
                      <a:r>
                        <a:rPr lang="zh-CN" altLang="en-US" sz="1200" b="0" i="0" dirty="0">
                          <a:solidFill>
                            <a:srgbClr val="000000"/>
                          </a:solidFill>
                          <a:effectLst/>
                          <a:latin typeface="Arial" panose="020B0604020202020204" pitchFamily="34" charset="0"/>
                          <a:ea typeface="微软雅黑" panose="020B0503020204020204" pitchFamily="34" charset="-122"/>
                          <a:sym typeface="Arial" panose="020B0604020202020204" pitchFamily="34" charset="0"/>
                        </a:rPr>
                        <a:t>电子眼限速等，计算当前车道蓝圈限速</a:t>
                      </a:r>
                      <a:r>
                        <a:rPr lang="en-US" altLang="zh-CN" sz="1200" b="0" i="0" dirty="0">
                          <a:solidFill>
                            <a:srgbClr val="000000"/>
                          </a:solidFill>
                          <a:effectLst/>
                          <a:latin typeface="Arial" panose="020B0604020202020204" pitchFamily="34" charset="0"/>
                          <a:ea typeface="微软雅黑" panose="020B0503020204020204" pitchFamily="34" charset="-122"/>
                          <a:sym typeface="Arial" panose="020B0604020202020204" pitchFamily="34" charset="0"/>
                        </a:rPr>
                        <a:t>(</a:t>
                      </a:r>
                      <a:r>
                        <a:rPr lang="zh-CN" altLang="en-US" sz="1200" b="0" i="0" dirty="0">
                          <a:solidFill>
                            <a:srgbClr val="000000"/>
                          </a:solidFill>
                          <a:effectLst/>
                          <a:latin typeface="Arial" panose="020B0604020202020204" pitchFamily="34" charset="0"/>
                          <a:ea typeface="微软雅黑" panose="020B0503020204020204" pitchFamily="34" charset="-122"/>
                          <a:sym typeface="Arial" panose="020B0604020202020204" pitchFamily="34" charset="0"/>
                        </a:rPr>
                        <a:t>巡航车速</a:t>
                      </a:r>
                      <a:r>
                        <a:rPr lang="en-US" altLang="zh-CN" sz="1200" b="0" i="0" dirty="0">
                          <a:solidFill>
                            <a:srgbClr val="000000"/>
                          </a:solidFill>
                          <a:effectLst/>
                          <a:latin typeface="Arial" panose="020B0604020202020204" pitchFamily="34" charset="0"/>
                          <a:ea typeface="微软雅黑" panose="020B0503020204020204" pitchFamily="34" charset="-122"/>
                          <a:sym typeface="Arial" panose="020B0604020202020204" pitchFamily="34" charset="0"/>
                        </a:rPr>
                        <a:t>)</a:t>
                      </a:r>
                      <a:endParaRPr lang="zh-CN" altLang="en-US" sz="1200" b="0" i="0" dirty="0">
                        <a:solidFill>
                          <a:srgbClr val="000000"/>
                        </a:solidFill>
                        <a:effectLst/>
                        <a:latin typeface="Arial" panose="020B0604020202020204" pitchFamily="34" charset="0"/>
                        <a:ea typeface="微软雅黑" panose="020B0503020204020204" pitchFamily="34" charset="-122"/>
                        <a:sym typeface="Arial" panose="020B0604020202020204" pitchFamily="34" charset="0"/>
                      </a:endParaRPr>
                    </a:p>
                  </a:txBody>
                  <a:tcPr marL="72000" marR="7200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latinLnBrk="0">
                        <a:lnSpc>
                          <a:spcPts val="1600"/>
                        </a:lnSpc>
                        <a:buNone/>
                      </a:pPr>
                      <a:r>
                        <a:rPr lang="zh-CN" altLang="en-US" sz="1200" b="0" i="0" dirty="0">
                          <a:solidFill>
                            <a:srgbClr val="000000"/>
                          </a:solidFill>
                          <a:effectLst/>
                          <a:latin typeface="Arial" panose="020B0604020202020204" pitchFamily="34" charset="0"/>
                          <a:ea typeface="微软雅黑" panose="020B0503020204020204" pitchFamily="34" charset="-122"/>
                          <a:sym typeface="Arial" panose="020B0604020202020204" pitchFamily="34" charset="0"/>
                        </a:rPr>
                        <a:t>城区，高速</a:t>
                      </a:r>
                    </a:p>
                  </a:txBody>
                  <a:tcPr marL="0" marR="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latinLnBrk="0">
                        <a:lnSpc>
                          <a:spcPts val="1600"/>
                        </a:lnSpc>
                        <a:buNone/>
                      </a:pPr>
                      <a:r>
                        <a:rPr lang="en-US" sz="1200" b="0" i="0" dirty="0">
                          <a:solidFill>
                            <a:srgbClr val="000000"/>
                          </a:solidFill>
                          <a:effectLst/>
                          <a:latin typeface="Arial" panose="020B0604020202020204" pitchFamily="34" charset="0"/>
                          <a:ea typeface="微软雅黑" panose="020B0503020204020204" pitchFamily="34" charset="-122"/>
                          <a:sym typeface="Arial" panose="020B0604020202020204" pitchFamily="34" charset="0"/>
                        </a:rPr>
                        <a:t>NOA，</a:t>
                      </a:r>
                      <a:r>
                        <a:rPr lang="zh-CN" altLang="en-US" sz="1200" b="0" i="0" dirty="0">
                          <a:solidFill>
                            <a:srgbClr val="000000"/>
                          </a:solidFill>
                          <a:effectLst/>
                          <a:latin typeface="Arial" panose="020B0604020202020204" pitchFamily="34" charset="0"/>
                          <a:ea typeface="微软雅黑" panose="020B0503020204020204" pitchFamily="34" charset="-122"/>
                          <a:sym typeface="Arial" panose="020B0604020202020204" pitchFamily="34" charset="0"/>
                        </a:rPr>
                        <a:t>漫游</a:t>
                      </a:r>
                    </a:p>
                  </a:txBody>
                  <a:tcPr marL="0" marR="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latinLnBrk="0">
                        <a:lnSpc>
                          <a:spcPts val="1600"/>
                        </a:lnSpc>
                        <a:buNone/>
                      </a:pPr>
                      <a:r>
                        <a:rPr lang="en-US" sz="1200" b="0" i="0" dirty="0">
                          <a:solidFill>
                            <a:srgbClr val="000000"/>
                          </a:solidFill>
                          <a:effectLst/>
                          <a:latin typeface="Arial" panose="020B0604020202020204" pitchFamily="34" charset="0"/>
                          <a:ea typeface="微软雅黑" panose="020B0503020204020204" pitchFamily="34" charset="-122"/>
                          <a:sym typeface="Arial" panose="020B0604020202020204" pitchFamily="34" charset="0"/>
                        </a:rPr>
                        <a:t>SOP(530)</a:t>
                      </a:r>
                    </a:p>
                  </a:txBody>
                  <a:tcPr marL="0" marR="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261317752"/>
                  </a:ext>
                </a:extLst>
              </a:tr>
              <a:tr h="468000">
                <a:tc vMerge="1">
                  <a:txBody>
                    <a:bodyPr/>
                    <a:lstStyle/>
                    <a:p>
                      <a:endParaRPr lang="zh-CN" altLang="en-US"/>
                    </a:p>
                  </a:txBody>
                  <a:tcPr/>
                </a:tc>
                <a:tc vMerge="1">
                  <a:txBody>
                    <a:bodyPr/>
                    <a:lstStyle/>
                    <a:p>
                      <a:endParaRPr lang="zh-CN" altLang="en-US"/>
                    </a:p>
                  </a:txBody>
                  <a:tcPr/>
                </a:tc>
                <a:tc>
                  <a:txBody>
                    <a:bodyPr/>
                    <a:lstStyle/>
                    <a:p>
                      <a:pPr algn="ctr" fontAlgn="ctr" latinLnBrk="0">
                        <a:lnSpc>
                          <a:spcPts val="1600"/>
                        </a:lnSpc>
                        <a:buNone/>
                      </a:pPr>
                      <a:r>
                        <a:rPr lang="zh-CN" altLang="en-US" sz="1200" b="0" i="0" dirty="0">
                          <a:solidFill>
                            <a:srgbClr val="000000"/>
                          </a:solidFill>
                          <a:effectLst/>
                          <a:latin typeface="Arial" panose="020B0604020202020204" pitchFamily="34" charset="0"/>
                          <a:ea typeface="微软雅黑" panose="020B0503020204020204" pitchFamily="34" charset="-122"/>
                          <a:sym typeface="Arial" panose="020B0604020202020204" pitchFamily="34" charset="0"/>
                        </a:rPr>
                        <a:t>跟车</a:t>
                      </a:r>
                    </a:p>
                  </a:txBody>
                  <a:tcPr marL="0" marR="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171450" indent="-171450" algn="l" fontAlgn="ctr" latinLnBrk="0">
                        <a:lnSpc>
                          <a:spcPts val="1600"/>
                        </a:lnSpc>
                        <a:buFont typeface="微软雅黑" panose="020B0503020204020204" pitchFamily="34" charset="-122"/>
                        <a:buChar char="￭"/>
                      </a:pPr>
                      <a:r>
                        <a:rPr lang="zh-CN" altLang="en-US" sz="1200" b="0" i="0" dirty="0">
                          <a:solidFill>
                            <a:srgbClr val="000000"/>
                          </a:solidFill>
                          <a:effectLst/>
                          <a:latin typeface="Arial" panose="020B0604020202020204" pitchFamily="34" charset="0"/>
                          <a:ea typeface="微软雅黑" panose="020B0503020204020204" pitchFamily="34" charset="-122"/>
                          <a:sym typeface="Arial" panose="020B0604020202020204" pitchFamily="34" charset="0"/>
                        </a:rPr>
                        <a:t>系统实时监测本车道前方跟车目标，在设定的巡航速度范围内，自车自动调整行驶速度，使自车与前方目标的跟车距离保持稳定</a:t>
                      </a:r>
                    </a:p>
                  </a:txBody>
                  <a:tcPr marL="72000" marR="7200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latinLnBrk="0">
                        <a:lnSpc>
                          <a:spcPts val="1600"/>
                        </a:lnSpc>
                        <a:buNone/>
                      </a:pPr>
                      <a:r>
                        <a:rPr lang="zh-CN" altLang="en-US" sz="1200" b="0" i="0" dirty="0">
                          <a:solidFill>
                            <a:srgbClr val="000000"/>
                          </a:solidFill>
                          <a:effectLst/>
                          <a:latin typeface="Arial" panose="020B0604020202020204" pitchFamily="34" charset="0"/>
                          <a:ea typeface="微软雅黑" panose="020B0503020204020204" pitchFamily="34" charset="-122"/>
                          <a:sym typeface="Arial" panose="020B0604020202020204" pitchFamily="34" charset="0"/>
                        </a:rPr>
                        <a:t>城区，高速</a:t>
                      </a:r>
                    </a:p>
                  </a:txBody>
                  <a:tcPr marL="0" marR="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latinLnBrk="0">
                        <a:lnSpc>
                          <a:spcPts val="1600"/>
                        </a:lnSpc>
                        <a:buNone/>
                      </a:pPr>
                      <a:r>
                        <a:rPr lang="en-US" sz="1200" b="0" i="0" dirty="0">
                          <a:solidFill>
                            <a:srgbClr val="000000"/>
                          </a:solidFill>
                          <a:effectLst/>
                          <a:latin typeface="Arial" panose="020B0604020202020204" pitchFamily="34" charset="0"/>
                          <a:ea typeface="微软雅黑" panose="020B0503020204020204" pitchFamily="34" charset="-122"/>
                          <a:sym typeface="Arial" panose="020B0604020202020204" pitchFamily="34" charset="0"/>
                        </a:rPr>
                        <a:t>NOA，</a:t>
                      </a:r>
                      <a:r>
                        <a:rPr lang="zh-CN" altLang="en-US" sz="1200" b="0" i="0" dirty="0">
                          <a:solidFill>
                            <a:srgbClr val="000000"/>
                          </a:solidFill>
                          <a:effectLst/>
                          <a:latin typeface="Arial" panose="020B0604020202020204" pitchFamily="34" charset="0"/>
                          <a:ea typeface="微软雅黑" panose="020B0503020204020204" pitchFamily="34" charset="-122"/>
                          <a:sym typeface="Arial" panose="020B0604020202020204" pitchFamily="34" charset="0"/>
                        </a:rPr>
                        <a:t>漫游</a:t>
                      </a:r>
                    </a:p>
                  </a:txBody>
                  <a:tcPr marL="0" marR="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latinLnBrk="0">
                        <a:lnSpc>
                          <a:spcPts val="1600"/>
                        </a:lnSpc>
                        <a:buNone/>
                      </a:pPr>
                      <a:r>
                        <a:rPr lang="en-US" sz="1200" b="0" i="0" dirty="0">
                          <a:solidFill>
                            <a:srgbClr val="000000"/>
                          </a:solidFill>
                          <a:effectLst/>
                          <a:latin typeface="Arial" panose="020B0604020202020204" pitchFamily="34" charset="0"/>
                          <a:ea typeface="微软雅黑" panose="020B0503020204020204" pitchFamily="34" charset="-122"/>
                          <a:sym typeface="Arial" panose="020B0604020202020204" pitchFamily="34" charset="0"/>
                        </a:rPr>
                        <a:t>SOP(530)</a:t>
                      </a:r>
                    </a:p>
                  </a:txBody>
                  <a:tcPr marL="0" marR="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168799738"/>
                  </a:ext>
                </a:extLst>
              </a:tr>
              <a:tr h="432000">
                <a:tc vMerge="1">
                  <a:txBody>
                    <a:bodyPr/>
                    <a:lstStyle/>
                    <a:p>
                      <a:endParaRPr lang="zh-CN" altLang="en-US"/>
                    </a:p>
                  </a:txBody>
                  <a:tcPr/>
                </a:tc>
                <a:tc vMerge="1">
                  <a:txBody>
                    <a:bodyPr/>
                    <a:lstStyle/>
                    <a:p>
                      <a:endParaRPr lang="zh-CN" altLang="en-US"/>
                    </a:p>
                  </a:txBody>
                  <a:tcPr/>
                </a:tc>
                <a:tc>
                  <a:txBody>
                    <a:bodyPr/>
                    <a:lstStyle/>
                    <a:p>
                      <a:pPr algn="ctr" fontAlgn="ctr" latinLnBrk="0">
                        <a:lnSpc>
                          <a:spcPts val="1600"/>
                        </a:lnSpc>
                        <a:buNone/>
                      </a:pPr>
                      <a:r>
                        <a:rPr lang="zh-CN" altLang="en-US" sz="1200" b="0" i="0" dirty="0">
                          <a:solidFill>
                            <a:srgbClr val="000000"/>
                          </a:solidFill>
                          <a:effectLst/>
                          <a:latin typeface="Arial" panose="020B0604020202020204" pitchFamily="34" charset="0"/>
                          <a:ea typeface="微软雅黑" panose="020B0503020204020204" pitchFamily="34" charset="-122"/>
                          <a:sym typeface="Arial" panose="020B0604020202020204" pitchFamily="34" charset="0"/>
                        </a:rPr>
                        <a:t>跟停 </a:t>
                      </a:r>
                      <a:r>
                        <a:rPr lang="en-US" altLang="zh-CN" sz="1200" b="0" i="0" dirty="0">
                          <a:solidFill>
                            <a:srgbClr val="000000"/>
                          </a:solidFill>
                          <a:effectLst/>
                          <a:latin typeface="Arial" panose="020B0604020202020204" pitchFamily="34" charset="0"/>
                          <a:ea typeface="微软雅黑" panose="020B0503020204020204" pitchFamily="34" charset="-122"/>
                          <a:sym typeface="Arial" panose="020B0604020202020204" pitchFamily="34" charset="0"/>
                        </a:rPr>
                        <a:t>&amp; </a:t>
                      </a:r>
                      <a:r>
                        <a:rPr lang="zh-CN" altLang="en-US" sz="1200" b="0" i="0" dirty="0">
                          <a:solidFill>
                            <a:srgbClr val="000000"/>
                          </a:solidFill>
                          <a:effectLst/>
                          <a:latin typeface="Arial" panose="020B0604020202020204" pitchFamily="34" charset="0"/>
                          <a:ea typeface="微软雅黑" panose="020B0503020204020204" pitchFamily="34" charset="-122"/>
                          <a:sym typeface="Arial" panose="020B0604020202020204" pitchFamily="34" charset="0"/>
                        </a:rPr>
                        <a:t>起步</a:t>
                      </a:r>
                    </a:p>
                  </a:txBody>
                  <a:tcPr marL="0" marR="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171450" indent="-171450" algn="l" fontAlgn="ctr" latinLnBrk="0">
                        <a:lnSpc>
                          <a:spcPts val="1600"/>
                        </a:lnSpc>
                        <a:buFont typeface="微软雅黑" panose="020B0503020204020204" pitchFamily="34" charset="-122"/>
                        <a:buChar char="￭"/>
                      </a:pPr>
                      <a:r>
                        <a:rPr lang="zh-CN" altLang="en-US" sz="1200" b="0" i="0" dirty="0">
                          <a:solidFill>
                            <a:srgbClr val="000000"/>
                          </a:solidFill>
                          <a:effectLst/>
                          <a:latin typeface="Arial" panose="020B0604020202020204" pitchFamily="34" charset="0"/>
                          <a:ea typeface="微软雅黑" panose="020B0503020204020204" pitchFamily="34" charset="-122"/>
                          <a:sym typeface="Arial" panose="020B0604020202020204" pitchFamily="34" charset="0"/>
                        </a:rPr>
                        <a:t>系统支持对自车道前方目标刹停或者跟随</a:t>
                      </a:r>
                      <a:r>
                        <a:rPr lang="en-US" altLang="zh-CN" sz="1200" b="0" i="0" dirty="0">
                          <a:solidFill>
                            <a:srgbClr val="000000"/>
                          </a:solidFill>
                          <a:effectLst/>
                          <a:latin typeface="Arial" panose="020B0604020202020204" pitchFamily="34" charset="0"/>
                          <a:ea typeface="微软雅黑" panose="020B0503020204020204" pitchFamily="34" charset="-122"/>
                          <a:sym typeface="Arial" panose="020B0604020202020204" pitchFamily="34" charset="0"/>
                        </a:rPr>
                        <a:t>CIPV</a:t>
                      </a:r>
                      <a:r>
                        <a:rPr lang="zh-CN" altLang="en-US" sz="1200" b="0" i="0" dirty="0">
                          <a:solidFill>
                            <a:srgbClr val="000000"/>
                          </a:solidFill>
                          <a:effectLst/>
                          <a:latin typeface="Arial" panose="020B0604020202020204" pitchFamily="34" charset="0"/>
                          <a:ea typeface="微软雅黑" panose="020B0503020204020204" pitchFamily="34" charset="-122"/>
                          <a:sym typeface="Arial" panose="020B0604020202020204" pitchFamily="34" charset="0"/>
                        </a:rPr>
                        <a:t>减速刹停，刹停距离约</a:t>
                      </a:r>
                      <a:r>
                        <a:rPr lang="en-US" altLang="zh-CN" sz="1200" b="0" i="0" dirty="0">
                          <a:solidFill>
                            <a:srgbClr val="000000"/>
                          </a:solidFill>
                          <a:effectLst/>
                          <a:latin typeface="Arial" panose="020B0604020202020204" pitchFamily="34" charset="0"/>
                          <a:ea typeface="微软雅黑" panose="020B0503020204020204" pitchFamily="34" charset="-122"/>
                          <a:sym typeface="Arial" panose="020B0604020202020204" pitchFamily="34" charset="0"/>
                        </a:rPr>
                        <a:t>2~4m(</a:t>
                      </a:r>
                      <a:r>
                        <a:rPr lang="zh-CN" altLang="en-US" sz="1200" b="0" i="0" dirty="0">
                          <a:solidFill>
                            <a:srgbClr val="000000"/>
                          </a:solidFill>
                          <a:effectLst/>
                          <a:latin typeface="Arial" panose="020B0604020202020204" pitchFamily="34" charset="0"/>
                          <a:ea typeface="微软雅黑" panose="020B0503020204020204" pitchFamily="34" charset="-122"/>
                          <a:sym typeface="Arial" panose="020B0604020202020204" pitchFamily="34" charset="0"/>
                        </a:rPr>
                        <a:t>非紧急工况</a:t>
                      </a:r>
                      <a:r>
                        <a:rPr lang="en-US" altLang="zh-CN" sz="1200" b="0" i="0" dirty="0">
                          <a:solidFill>
                            <a:srgbClr val="000000"/>
                          </a:solidFill>
                          <a:effectLst/>
                          <a:latin typeface="Arial" panose="020B0604020202020204" pitchFamily="34" charset="0"/>
                          <a:ea typeface="微软雅黑" panose="020B0503020204020204" pitchFamily="34" charset="-122"/>
                          <a:sym typeface="Arial" panose="020B0604020202020204" pitchFamily="34" charset="0"/>
                        </a:rPr>
                        <a:t>)</a:t>
                      </a:r>
                    </a:p>
                    <a:p>
                      <a:pPr marL="171450" indent="-171450" algn="l" fontAlgn="ctr" latinLnBrk="0">
                        <a:lnSpc>
                          <a:spcPts val="1600"/>
                        </a:lnSpc>
                        <a:buFont typeface="微软雅黑" panose="020B0503020204020204" pitchFamily="34" charset="-122"/>
                        <a:buChar char="￭"/>
                      </a:pPr>
                      <a:r>
                        <a:rPr lang="zh-CN" altLang="en-US" sz="1200" b="0" i="0" dirty="0">
                          <a:solidFill>
                            <a:srgbClr val="000000"/>
                          </a:solidFill>
                          <a:effectLst/>
                          <a:latin typeface="Arial" panose="020B0604020202020204" pitchFamily="34" charset="0"/>
                          <a:ea typeface="微软雅黑" panose="020B0503020204020204" pitchFamily="34" charset="-122"/>
                          <a:sym typeface="Arial" panose="020B0604020202020204" pitchFamily="34" charset="0"/>
                        </a:rPr>
                        <a:t>系统支持在前方目标离开本车道或者</a:t>
                      </a:r>
                      <a:r>
                        <a:rPr lang="en-US" altLang="zh-CN" sz="1200" b="0" i="0" dirty="0">
                          <a:solidFill>
                            <a:srgbClr val="000000"/>
                          </a:solidFill>
                          <a:effectLst/>
                          <a:latin typeface="Arial" panose="020B0604020202020204" pitchFamily="34" charset="0"/>
                          <a:ea typeface="微软雅黑" panose="020B0503020204020204" pitchFamily="34" charset="-122"/>
                          <a:sym typeface="Arial" panose="020B0604020202020204" pitchFamily="34" charset="0"/>
                        </a:rPr>
                        <a:t>CIPV</a:t>
                      </a:r>
                      <a:r>
                        <a:rPr lang="zh-CN" altLang="en-US" sz="1200" b="0" i="0" dirty="0">
                          <a:solidFill>
                            <a:srgbClr val="000000"/>
                          </a:solidFill>
                          <a:effectLst/>
                          <a:latin typeface="Arial" panose="020B0604020202020204" pitchFamily="34" charset="0"/>
                          <a:ea typeface="微软雅黑" panose="020B0503020204020204" pitchFamily="34" charset="-122"/>
                          <a:sym typeface="Arial" panose="020B0604020202020204" pitchFamily="34" charset="0"/>
                        </a:rPr>
                        <a:t>起步驶离时，自动起步</a:t>
                      </a:r>
                    </a:p>
                  </a:txBody>
                  <a:tcPr marL="72000" marR="7200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latinLnBrk="0">
                        <a:lnSpc>
                          <a:spcPts val="1600"/>
                        </a:lnSpc>
                        <a:buNone/>
                      </a:pPr>
                      <a:r>
                        <a:rPr lang="zh-CN" altLang="en-US" sz="1200" b="0" i="0" dirty="0">
                          <a:solidFill>
                            <a:srgbClr val="000000"/>
                          </a:solidFill>
                          <a:effectLst/>
                          <a:latin typeface="Arial" panose="020B0604020202020204" pitchFamily="34" charset="0"/>
                          <a:ea typeface="微软雅黑" panose="020B0503020204020204" pitchFamily="34" charset="-122"/>
                          <a:sym typeface="Arial" panose="020B0604020202020204" pitchFamily="34" charset="0"/>
                        </a:rPr>
                        <a:t>城区，高速</a:t>
                      </a:r>
                    </a:p>
                  </a:txBody>
                  <a:tcPr marL="0" marR="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latinLnBrk="0">
                        <a:lnSpc>
                          <a:spcPts val="1600"/>
                        </a:lnSpc>
                        <a:buNone/>
                      </a:pPr>
                      <a:r>
                        <a:rPr lang="en-US" sz="1200" b="0" i="0" dirty="0">
                          <a:solidFill>
                            <a:srgbClr val="000000"/>
                          </a:solidFill>
                          <a:effectLst/>
                          <a:latin typeface="Arial" panose="020B0604020202020204" pitchFamily="34" charset="0"/>
                          <a:ea typeface="微软雅黑" panose="020B0503020204020204" pitchFamily="34" charset="-122"/>
                          <a:sym typeface="Arial" panose="020B0604020202020204" pitchFamily="34" charset="0"/>
                        </a:rPr>
                        <a:t>NOA，</a:t>
                      </a:r>
                      <a:r>
                        <a:rPr lang="zh-CN" altLang="en-US" sz="1200" b="0" i="0" dirty="0">
                          <a:solidFill>
                            <a:srgbClr val="000000"/>
                          </a:solidFill>
                          <a:effectLst/>
                          <a:latin typeface="Arial" panose="020B0604020202020204" pitchFamily="34" charset="0"/>
                          <a:ea typeface="微软雅黑" panose="020B0503020204020204" pitchFamily="34" charset="-122"/>
                          <a:sym typeface="Arial" panose="020B0604020202020204" pitchFamily="34" charset="0"/>
                        </a:rPr>
                        <a:t>漫游</a:t>
                      </a:r>
                    </a:p>
                  </a:txBody>
                  <a:tcPr marL="0" marR="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latinLnBrk="0">
                        <a:lnSpc>
                          <a:spcPts val="1600"/>
                        </a:lnSpc>
                        <a:buNone/>
                      </a:pPr>
                      <a:r>
                        <a:rPr lang="en-US" sz="1200" b="0" i="0" dirty="0">
                          <a:solidFill>
                            <a:srgbClr val="000000"/>
                          </a:solidFill>
                          <a:effectLst/>
                          <a:latin typeface="Arial" panose="020B0604020202020204" pitchFamily="34" charset="0"/>
                          <a:ea typeface="微软雅黑" panose="020B0503020204020204" pitchFamily="34" charset="-122"/>
                          <a:sym typeface="Arial" panose="020B0604020202020204" pitchFamily="34" charset="0"/>
                        </a:rPr>
                        <a:t>SOP(530)</a:t>
                      </a:r>
                    </a:p>
                  </a:txBody>
                  <a:tcPr marL="0" marR="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91868340"/>
                  </a:ext>
                </a:extLst>
              </a:tr>
              <a:tr h="268531">
                <a:tc vMerge="1">
                  <a:txBody>
                    <a:bodyPr/>
                    <a:lstStyle/>
                    <a:p>
                      <a:endParaRPr lang="zh-CN" altLang="en-US"/>
                    </a:p>
                  </a:txBody>
                  <a:tcPr/>
                </a:tc>
                <a:tc vMerge="1">
                  <a:txBody>
                    <a:bodyPr/>
                    <a:lstStyle/>
                    <a:p>
                      <a:endParaRPr lang="zh-CN" altLang="en-US"/>
                    </a:p>
                  </a:txBody>
                  <a:tcPr/>
                </a:tc>
                <a:tc>
                  <a:txBody>
                    <a:bodyPr/>
                    <a:lstStyle/>
                    <a:p>
                      <a:pPr algn="ctr" fontAlgn="ctr" latinLnBrk="0">
                        <a:lnSpc>
                          <a:spcPts val="1600"/>
                        </a:lnSpc>
                        <a:buNone/>
                      </a:pPr>
                      <a:r>
                        <a:rPr lang="zh-CN" altLang="en-US" sz="1200" b="0" i="0" dirty="0">
                          <a:solidFill>
                            <a:srgbClr val="000000"/>
                          </a:solidFill>
                          <a:effectLst/>
                          <a:latin typeface="Arial" panose="020B0604020202020204" pitchFamily="34" charset="0"/>
                          <a:ea typeface="微软雅黑" panose="020B0503020204020204" pitchFamily="34" charset="-122"/>
                          <a:sym typeface="Arial" panose="020B0604020202020204" pitchFamily="34" charset="0"/>
                        </a:rPr>
                        <a:t>防御性驾驶</a:t>
                      </a:r>
                    </a:p>
                  </a:txBody>
                  <a:tcPr marL="0" marR="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171450" indent="-171450" algn="l" defTabSz="914400" rtl="0" eaLnBrk="1" fontAlgn="ctr" latinLnBrk="0" hangingPunct="1">
                        <a:lnSpc>
                          <a:spcPts val="1600"/>
                        </a:lnSpc>
                        <a:buFont typeface="微软雅黑" panose="020B0503020204020204" pitchFamily="34" charset="-122"/>
                        <a:buChar char="￭"/>
                      </a:pPr>
                      <a:r>
                        <a:rPr lang="zh-CN" altLang="en-US" sz="1200" b="0" i="0" kern="1200" dirty="0">
                          <a:solidFill>
                            <a:srgbClr val="000000"/>
                          </a:solidFill>
                          <a:effectLst/>
                          <a:latin typeface="Arial" panose="020B0604020202020204" pitchFamily="34" charset="0"/>
                          <a:ea typeface="微软雅黑" panose="020B0503020204020204" pitchFamily="34" charset="-122"/>
                          <a:cs typeface="+mn-cs"/>
                        </a:rPr>
                        <a:t>大车防御性降速</a:t>
                      </a:r>
                      <a:r>
                        <a:rPr lang="en-US" altLang="zh-CN" sz="1200" b="0" i="0" kern="1200" dirty="0">
                          <a:solidFill>
                            <a:srgbClr val="000000"/>
                          </a:solidFill>
                          <a:effectLst/>
                          <a:latin typeface="Arial" panose="020B0604020202020204" pitchFamily="34" charset="0"/>
                          <a:ea typeface="微软雅黑" panose="020B0503020204020204" pitchFamily="34" charset="-122"/>
                          <a:cs typeface="+mn-cs"/>
                        </a:rPr>
                        <a:t>/</a:t>
                      </a:r>
                      <a:r>
                        <a:rPr lang="zh-CN" altLang="en-US" sz="1200" b="0" i="0" kern="1200" dirty="0">
                          <a:solidFill>
                            <a:srgbClr val="000000"/>
                          </a:solidFill>
                          <a:effectLst/>
                          <a:latin typeface="Arial" panose="020B0604020202020204" pitchFamily="34" charset="0"/>
                          <a:ea typeface="微软雅黑" panose="020B0503020204020204" pitchFamily="34" charset="-122"/>
                          <a:cs typeface="+mn-cs"/>
                        </a:rPr>
                        <a:t>偏移：大速差超越相邻车道且侧向距离较近大车时，应进行防御性降速</a:t>
                      </a:r>
                      <a:r>
                        <a:rPr lang="en-US" altLang="zh-CN" sz="1200" b="0" i="0" kern="1200" dirty="0">
                          <a:solidFill>
                            <a:srgbClr val="000000"/>
                          </a:solidFill>
                          <a:effectLst/>
                          <a:latin typeface="Arial" panose="020B0604020202020204" pitchFamily="34" charset="0"/>
                          <a:ea typeface="微软雅黑" panose="020B0503020204020204" pitchFamily="34" charset="-122"/>
                          <a:cs typeface="+mn-cs"/>
                        </a:rPr>
                        <a:t>/</a:t>
                      </a:r>
                      <a:r>
                        <a:rPr lang="zh-CN" altLang="en-US" sz="1200" b="0" i="0" kern="1200" dirty="0">
                          <a:solidFill>
                            <a:srgbClr val="000000"/>
                          </a:solidFill>
                          <a:effectLst/>
                          <a:latin typeface="Arial" panose="020B0604020202020204" pitchFamily="34" charset="0"/>
                          <a:ea typeface="微软雅黑" panose="020B0503020204020204" pitchFamily="34" charset="-122"/>
                          <a:cs typeface="+mn-cs"/>
                        </a:rPr>
                        <a:t>偏移</a:t>
                      </a:r>
                      <a:endParaRPr lang="en-US" altLang="zh-CN" sz="1200" b="0" i="0" kern="1200" dirty="0">
                        <a:solidFill>
                          <a:srgbClr val="000000"/>
                        </a:solidFill>
                        <a:effectLst/>
                        <a:latin typeface="Arial" panose="020B0604020202020204" pitchFamily="34" charset="0"/>
                        <a:ea typeface="微软雅黑" panose="020B0503020204020204" pitchFamily="34" charset="-122"/>
                        <a:cs typeface="+mn-cs"/>
                      </a:endParaRPr>
                    </a:p>
                    <a:p>
                      <a:pPr marL="171450" indent="-171450" algn="l" defTabSz="914400" rtl="0" eaLnBrk="1" fontAlgn="ctr" latinLnBrk="0" hangingPunct="1">
                        <a:lnSpc>
                          <a:spcPts val="1600"/>
                        </a:lnSpc>
                        <a:buFont typeface="微软雅黑" panose="020B0503020204020204" pitchFamily="34" charset="-122"/>
                        <a:buChar char="￭"/>
                      </a:pPr>
                      <a:r>
                        <a:rPr lang="zh-CN" altLang="en-US" sz="1200" b="0" i="0" kern="1200" dirty="0">
                          <a:solidFill>
                            <a:srgbClr val="000000"/>
                          </a:solidFill>
                          <a:effectLst/>
                          <a:latin typeface="Arial" panose="020B0604020202020204" pitchFamily="34" charset="0"/>
                          <a:ea typeface="微软雅黑" panose="020B0503020204020204" pitchFamily="34" charset="-122"/>
                          <a:cs typeface="+mn-cs"/>
                        </a:rPr>
                        <a:t>路口盲区防御性驾驶</a:t>
                      </a:r>
                    </a:p>
                  </a:txBody>
                  <a:tcPr marL="72000" marR="7200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latinLnBrk="0">
                        <a:lnSpc>
                          <a:spcPts val="1600"/>
                        </a:lnSpc>
                        <a:buNone/>
                      </a:pPr>
                      <a:r>
                        <a:rPr lang="zh-CN" altLang="en-US" sz="1200" b="0" i="0" dirty="0">
                          <a:solidFill>
                            <a:srgbClr val="000000"/>
                          </a:solidFill>
                          <a:effectLst/>
                          <a:latin typeface="Arial" panose="020B0604020202020204" pitchFamily="34" charset="0"/>
                          <a:ea typeface="微软雅黑" panose="020B0503020204020204" pitchFamily="34" charset="-122"/>
                          <a:sym typeface="Arial" panose="020B0604020202020204" pitchFamily="34" charset="0"/>
                        </a:rPr>
                        <a:t>城区，高速</a:t>
                      </a:r>
                    </a:p>
                  </a:txBody>
                  <a:tcPr marL="0" marR="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latinLnBrk="0">
                        <a:lnSpc>
                          <a:spcPts val="1600"/>
                        </a:lnSpc>
                        <a:buNone/>
                      </a:pPr>
                      <a:r>
                        <a:rPr lang="en-US" sz="1200" b="0" i="0" dirty="0">
                          <a:solidFill>
                            <a:srgbClr val="000000"/>
                          </a:solidFill>
                          <a:effectLst/>
                          <a:latin typeface="Arial" panose="020B0604020202020204" pitchFamily="34" charset="0"/>
                          <a:ea typeface="微软雅黑" panose="020B0503020204020204" pitchFamily="34" charset="-122"/>
                          <a:sym typeface="Arial" panose="020B0604020202020204" pitchFamily="34" charset="0"/>
                        </a:rPr>
                        <a:t>NOA，</a:t>
                      </a:r>
                      <a:r>
                        <a:rPr lang="zh-CN" altLang="en-US" sz="1200" b="0" i="0" dirty="0">
                          <a:solidFill>
                            <a:srgbClr val="000000"/>
                          </a:solidFill>
                          <a:effectLst/>
                          <a:latin typeface="Arial" panose="020B0604020202020204" pitchFamily="34" charset="0"/>
                          <a:ea typeface="微软雅黑" panose="020B0503020204020204" pitchFamily="34" charset="-122"/>
                          <a:sym typeface="Arial" panose="020B0604020202020204" pitchFamily="34" charset="0"/>
                        </a:rPr>
                        <a:t>漫游</a:t>
                      </a:r>
                    </a:p>
                  </a:txBody>
                  <a:tcPr marL="0" marR="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latinLnBrk="0">
                        <a:lnSpc>
                          <a:spcPts val="1600"/>
                        </a:lnSpc>
                        <a:buNone/>
                      </a:pPr>
                      <a:r>
                        <a:rPr lang="en-US" sz="1200" b="0" i="0" dirty="0">
                          <a:solidFill>
                            <a:srgbClr val="000000"/>
                          </a:solidFill>
                          <a:effectLst/>
                          <a:latin typeface="Arial" panose="020B0604020202020204" pitchFamily="34" charset="0"/>
                          <a:ea typeface="微软雅黑" panose="020B0503020204020204" pitchFamily="34" charset="-122"/>
                          <a:sym typeface="Arial" panose="020B0604020202020204" pitchFamily="34" charset="0"/>
                        </a:rPr>
                        <a:t>SOP(530)</a:t>
                      </a:r>
                    </a:p>
                  </a:txBody>
                  <a:tcPr marL="0" marR="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786038678"/>
                  </a:ext>
                </a:extLst>
              </a:tr>
              <a:tr h="268531">
                <a:tc vMerge="1">
                  <a:txBody>
                    <a:bodyPr/>
                    <a:lstStyle/>
                    <a:p>
                      <a:endParaRPr lang="zh-CN" altLang="en-US"/>
                    </a:p>
                  </a:txBody>
                  <a:tcPr/>
                </a:tc>
                <a:tc vMerge="1">
                  <a:txBody>
                    <a:bodyPr/>
                    <a:lstStyle/>
                    <a:p>
                      <a:endParaRPr lang="zh-CN" altLang="en-US"/>
                    </a:p>
                  </a:txBody>
                  <a:tcPr/>
                </a:tc>
                <a:tc>
                  <a:txBody>
                    <a:bodyPr/>
                    <a:lstStyle/>
                    <a:p>
                      <a:pPr algn="ctr" fontAlgn="ctr" latinLnBrk="0">
                        <a:lnSpc>
                          <a:spcPts val="1600"/>
                        </a:lnSpc>
                        <a:buNone/>
                      </a:pPr>
                      <a:r>
                        <a:rPr lang="zh-CN" altLang="en-US" sz="1200" b="0" i="0" dirty="0">
                          <a:solidFill>
                            <a:srgbClr val="000000"/>
                          </a:solidFill>
                          <a:effectLst/>
                          <a:latin typeface="Arial" panose="020B0604020202020204" pitchFamily="34" charset="0"/>
                          <a:ea typeface="微软雅黑" panose="020B0503020204020204" pitchFamily="34" charset="-122"/>
                          <a:sym typeface="Arial" panose="020B0604020202020204" pitchFamily="34" charset="0"/>
                        </a:rPr>
                        <a:t>车道保持</a:t>
                      </a:r>
                    </a:p>
                  </a:txBody>
                  <a:tcPr marL="0" marR="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171450" indent="-171450" algn="l" fontAlgn="ctr" latinLnBrk="0">
                        <a:lnSpc>
                          <a:spcPts val="1600"/>
                        </a:lnSpc>
                        <a:buFont typeface="微软雅黑" panose="020B0503020204020204" pitchFamily="34" charset="-122"/>
                        <a:buChar char="￭"/>
                      </a:pPr>
                      <a:r>
                        <a:rPr lang="zh-CN" altLang="en-US" sz="1200" b="0" i="0" dirty="0">
                          <a:solidFill>
                            <a:srgbClr val="000000"/>
                          </a:solidFill>
                          <a:effectLst/>
                          <a:latin typeface="Arial" panose="020B0604020202020204" pitchFamily="34" charset="0"/>
                          <a:ea typeface="微软雅黑" panose="020B0503020204020204" pitchFamily="34" charset="-122"/>
                          <a:sym typeface="Arial" panose="020B0604020202020204" pitchFamily="34" charset="0"/>
                        </a:rPr>
                        <a:t>系统实时监测车道边线的相对位置，使自车沿车道中心线向前行驶</a:t>
                      </a:r>
                    </a:p>
                  </a:txBody>
                  <a:tcPr marL="72000" marR="7200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latinLnBrk="0">
                        <a:lnSpc>
                          <a:spcPts val="1600"/>
                        </a:lnSpc>
                        <a:buNone/>
                      </a:pPr>
                      <a:r>
                        <a:rPr lang="zh-CN" altLang="en-US" sz="1200" b="0" i="0" dirty="0">
                          <a:solidFill>
                            <a:srgbClr val="000000"/>
                          </a:solidFill>
                          <a:effectLst/>
                          <a:latin typeface="Arial" panose="020B0604020202020204" pitchFamily="34" charset="0"/>
                          <a:ea typeface="微软雅黑" panose="020B0503020204020204" pitchFamily="34" charset="-122"/>
                          <a:sym typeface="Arial" panose="020B0604020202020204" pitchFamily="34" charset="0"/>
                        </a:rPr>
                        <a:t>城区，高速</a:t>
                      </a:r>
                    </a:p>
                  </a:txBody>
                  <a:tcPr marL="0" marR="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latinLnBrk="0">
                        <a:lnSpc>
                          <a:spcPts val="1600"/>
                        </a:lnSpc>
                        <a:buNone/>
                      </a:pPr>
                      <a:r>
                        <a:rPr lang="en-US" sz="1200" b="0" i="0" dirty="0">
                          <a:solidFill>
                            <a:srgbClr val="000000"/>
                          </a:solidFill>
                          <a:effectLst/>
                          <a:latin typeface="Arial" panose="020B0604020202020204" pitchFamily="34" charset="0"/>
                          <a:ea typeface="微软雅黑" panose="020B0503020204020204" pitchFamily="34" charset="-122"/>
                          <a:sym typeface="Arial" panose="020B0604020202020204" pitchFamily="34" charset="0"/>
                        </a:rPr>
                        <a:t>NOA，</a:t>
                      </a:r>
                      <a:r>
                        <a:rPr lang="zh-CN" altLang="en-US" sz="1200" b="0" i="0" dirty="0">
                          <a:solidFill>
                            <a:srgbClr val="000000"/>
                          </a:solidFill>
                          <a:effectLst/>
                          <a:latin typeface="Arial" panose="020B0604020202020204" pitchFamily="34" charset="0"/>
                          <a:ea typeface="微软雅黑" panose="020B0503020204020204" pitchFamily="34" charset="-122"/>
                          <a:sym typeface="Arial" panose="020B0604020202020204" pitchFamily="34" charset="0"/>
                        </a:rPr>
                        <a:t>漫游</a:t>
                      </a:r>
                    </a:p>
                  </a:txBody>
                  <a:tcPr marL="0" marR="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latinLnBrk="0">
                        <a:lnSpc>
                          <a:spcPts val="1600"/>
                        </a:lnSpc>
                        <a:buNone/>
                      </a:pPr>
                      <a:r>
                        <a:rPr lang="en-US" sz="1200" b="0" i="0" dirty="0">
                          <a:solidFill>
                            <a:srgbClr val="000000"/>
                          </a:solidFill>
                          <a:effectLst/>
                          <a:latin typeface="Arial" panose="020B0604020202020204" pitchFamily="34" charset="0"/>
                          <a:ea typeface="微软雅黑" panose="020B0503020204020204" pitchFamily="34" charset="-122"/>
                          <a:sym typeface="Arial" panose="020B0604020202020204" pitchFamily="34" charset="0"/>
                        </a:rPr>
                        <a:t>SOP(530)</a:t>
                      </a:r>
                    </a:p>
                  </a:txBody>
                  <a:tcPr marL="0" marR="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83451891"/>
                  </a:ext>
                </a:extLst>
              </a:tr>
              <a:tr h="468000">
                <a:tc vMerge="1">
                  <a:txBody>
                    <a:bodyPr/>
                    <a:lstStyle/>
                    <a:p>
                      <a:endParaRPr lang="zh-CN" altLang="en-US"/>
                    </a:p>
                  </a:txBody>
                  <a:tcPr/>
                </a:tc>
                <a:tc vMerge="1">
                  <a:txBody>
                    <a:bodyPr/>
                    <a:lstStyle/>
                    <a:p>
                      <a:endParaRPr lang="zh-CN" altLang="en-US"/>
                    </a:p>
                  </a:txBody>
                  <a:tcPr/>
                </a:tc>
                <a:tc>
                  <a:txBody>
                    <a:bodyPr/>
                    <a:lstStyle/>
                    <a:p>
                      <a:pPr algn="ctr" fontAlgn="ctr" latinLnBrk="0">
                        <a:lnSpc>
                          <a:spcPts val="1600"/>
                        </a:lnSpc>
                        <a:buNone/>
                      </a:pPr>
                      <a:r>
                        <a:rPr lang="zh-CN" altLang="en-US" sz="1200" b="0" i="0" dirty="0">
                          <a:solidFill>
                            <a:srgbClr val="000000"/>
                          </a:solidFill>
                          <a:effectLst/>
                          <a:latin typeface="Arial" panose="020B0604020202020204" pitchFamily="34" charset="0"/>
                          <a:ea typeface="微软雅黑" panose="020B0503020204020204" pitchFamily="34" charset="-122"/>
                          <a:sym typeface="Arial" panose="020B0604020202020204" pitchFamily="34" charset="0"/>
                        </a:rPr>
                        <a:t>超宽车道通行</a:t>
                      </a:r>
                    </a:p>
                  </a:txBody>
                  <a:tcPr marL="0" marR="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171450" indent="-171450" algn="l" fontAlgn="ctr" latinLnBrk="0">
                        <a:lnSpc>
                          <a:spcPts val="1600"/>
                        </a:lnSpc>
                        <a:buFont typeface="微软雅黑" panose="020B0503020204020204" pitchFamily="34" charset="-122"/>
                        <a:buChar char="￭"/>
                      </a:pPr>
                      <a:r>
                        <a:rPr lang="zh-CN" altLang="en-US" sz="1200" b="0" i="0" dirty="0">
                          <a:solidFill>
                            <a:srgbClr val="000000"/>
                          </a:solidFill>
                          <a:effectLst/>
                          <a:latin typeface="Arial" panose="020B0604020202020204" pitchFamily="34" charset="0"/>
                          <a:ea typeface="微软雅黑" panose="020B0503020204020204" pitchFamily="34" charset="-122"/>
                          <a:sym typeface="Arial" panose="020B0604020202020204" pitchFamily="34" charset="0"/>
                        </a:rPr>
                        <a:t>功能激活后，在遇到某些特殊路段车道未画线或车道线模糊等原因导致车道宽度较宽的场景</a:t>
                      </a:r>
                      <a:r>
                        <a:rPr lang="en-US" altLang="zh-CN" sz="1200" b="0" i="0" dirty="0">
                          <a:solidFill>
                            <a:srgbClr val="000000"/>
                          </a:solidFill>
                          <a:effectLst/>
                          <a:latin typeface="Arial" panose="020B0604020202020204" pitchFamily="34" charset="0"/>
                          <a:ea typeface="微软雅黑" panose="020B0503020204020204" pitchFamily="34" charset="-122"/>
                          <a:sym typeface="Arial" panose="020B0604020202020204" pitchFamily="34" charset="0"/>
                        </a:rPr>
                        <a:t>(</a:t>
                      </a:r>
                      <a:r>
                        <a:rPr lang="zh-CN" altLang="en-US" sz="1200" b="0" i="0" dirty="0">
                          <a:solidFill>
                            <a:srgbClr val="000000"/>
                          </a:solidFill>
                          <a:effectLst/>
                          <a:latin typeface="Arial" panose="020B0604020202020204" pitchFamily="34" charset="0"/>
                          <a:ea typeface="微软雅黑" panose="020B0503020204020204" pitchFamily="34" charset="-122"/>
                          <a:sym typeface="Arial" panose="020B0604020202020204" pitchFamily="34" charset="0"/>
                        </a:rPr>
                        <a:t>非路口场景</a:t>
                      </a:r>
                      <a:r>
                        <a:rPr lang="en-US" altLang="zh-CN" sz="1200" b="0" i="0" dirty="0">
                          <a:solidFill>
                            <a:srgbClr val="000000"/>
                          </a:solidFill>
                          <a:effectLst/>
                          <a:latin typeface="Arial" panose="020B0604020202020204" pitchFamily="34" charset="0"/>
                          <a:ea typeface="微软雅黑" panose="020B0503020204020204" pitchFamily="34" charset="-122"/>
                          <a:sym typeface="Arial" panose="020B0604020202020204" pitchFamily="34" charset="0"/>
                        </a:rPr>
                        <a:t>)</a:t>
                      </a:r>
                      <a:r>
                        <a:rPr lang="zh-CN" altLang="en-US" sz="1200" b="0" i="0" dirty="0">
                          <a:solidFill>
                            <a:srgbClr val="000000"/>
                          </a:solidFill>
                          <a:effectLst/>
                          <a:latin typeface="Arial" panose="020B0604020202020204" pitchFamily="34" charset="0"/>
                          <a:ea typeface="微软雅黑" panose="020B0503020204020204" pitchFamily="34" charset="-122"/>
                          <a:sym typeface="Arial" panose="020B0604020202020204" pitchFamily="34" charset="0"/>
                        </a:rPr>
                        <a:t>，在该环境下正常通行</a:t>
                      </a:r>
                    </a:p>
                  </a:txBody>
                  <a:tcPr marL="72000" marR="7200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latinLnBrk="0">
                        <a:lnSpc>
                          <a:spcPts val="1600"/>
                        </a:lnSpc>
                        <a:buNone/>
                      </a:pPr>
                      <a:r>
                        <a:rPr lang="zh-CN" altLang="en-US" sz="1200" b="0" i="0" dirty="0">
                          <a:solidFill>
                            <a:srgbClr val="000000"/>
                          </a:solidFill>
                          <a:effectLst/>
                          <a:latin typeface="Arial" panose="020B0604020202020204" pitchFamily="34" charset="0"/>
                          <a:ea typeface="微软雅黑" panose="020B0503020204020204" pitchFamily="34" charset="-122"/>
                          <a:sym typeface="Arial" panose="020B0604020202020204" pitchFamily="34" charset="0"/>
                        </a:rPr>
                        <a:t>城区，高速</a:t>
                      </a:r>
                    </a:p>
                  </a:txBody>
                  <a:tcPr marL="0" marR="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latinLnBrk="0">
                        <a:lnSpc>
                          <a:spcPts val="1600"/>
                        </a:lnSpc>
                        <a:buNone/>
                      </a:pPr>
                      <a:r>
                        <a:rPr lang="en-US" sz="1200" b="0" i="0" dirty="0">
                          <a:solidFill>
                            <a:srgbClr val="000000"/>
                          </a:solidFill>
                          <a:effectLst/>
                          <a:latin typeface="Arial" panose="020B0604020202020204" pitchFamily="34" charset="0"/>
                          <a:ea typeface="微软雅黑" panose="020B0503020204020204" pitchFamily="34" charset="-122"/>
                          <a:sym typeface="Arial" panose="020B0604020202020204" pitchFamily="34" charset="0"/>
                        </a:rPr>
                        <a:t>NOA，</a:t>
                      </a:r>
                      <a:r>
                        <a:rPr lang="zh-CN" altLang="en-US" sz="1200" b="0" i="0" dirty="0">
                          <a:solidFill>
                            <a:srgbClr val="000000"/>
                          </a:solidFill>
                          <a:effectLst/>
                          <a:latin typeface="Arial" panose="020B0604020202020204" pitchFamily="34" charset="0"/>
                          <a:ea typeface="微软雅黑" panose="020B0503020204020204" pitchFamily="34" charset="-122"/>
                          <a:sym typeface="Arial" panose="020B0604020202020204" pitchFamily="34" charset="0"/>
                        </a:rPr>
                        <a:t>漫游</a:t>
                      </a:r>
                    </a:p>
                  </a:txBody>
                  <a:tcPr marL="0" marR="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latinLnBrk="0">
                        <a:lnSpc>
                          <a:spcPts val="1600"/>
                        </a:lnSpc>
                        <a:buNone/>
                      </a:pPr>
                      <a:r>
                        <a:rPr lang="en-US" sz="1200" b="0" i="0" dirty="0">
                          <a:solidFill>
                            <a:srgbClr val="000000"/>
                          </a:solidFill>
                          <a:effectLst/>
                          <a:latin typeface="Arial" panose="020B0604020202020204" pitchFamily="34" charset="0"/>
                          <a:ea typeface="微软雅黑" panose="020B0503020204020204" pitchFamily="34" charset="-122"/>
                          <a:sym typeface="Arial" panose="020B0604020202020204" pitchFamily="34" charset="0"/>
                        </a:rPr>
                        <a:t>SOP(530)</a:t>
                      </a:r>
                    </a:p>
                  </a:txBody>
                  <a:tcPr marL="0" marR="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397364111"/>
                  </a:ext>
                </a:extLst>
              </a:tr>
              <a:tr h="432000">
                <a:tc vMerge="1">
                  <a:txBody>
                    <a:bodyPr/>
                    <a:lstStyle/>
                    <a:p>
                      <a:endParaRPr lang="zh-CN" altLang="en-US"/>
                    </a:p>
                  </a:txBody>
                  <a:tcPr/>
                </a:tc>
                <a:tc vMerge="1">
                  <a:txBody>
                    <a:bodyPr/>
                    <a:lstStyle/>
                    <a:p>
                      <a:endParaRPr lang="zh-CN" altLang="en-US"/>
                    </a:p>
                  </a:txBody>
                  <a:tcPr/>
                </a:tc>
                <a:tc>
                  <a:txBody>
                    <a:bodyPr/>
                    <a:lstStyle/>
                    <a:p>
                      <a:pPr algn="ctr" fontAlgn="ctr" latinLnBrk="0">
                        <a:lnSpc>
                          <a:spcPts val="1600"/>
                        </a:lnSpc>
                        <a:buNone/>
                      </a:pPr>
                      <a:r>
                        <a:rPr lang="zh-CN" altLang="en-US" sz="1200" b="0" i="0" dirty="0">
                          <a:solidFill>
                            <a:srgbClr val="000000"/>
                          </a:solidFill>
                          <a:effectLst/>
                          <a:latin typeface="Arial" panose="020B0604020202020204" pitchFamily="34" charset="0"/>
                          <a:ea typeface="微软雅黑" panose="020B0503020204020204" pitchFamily="34" charset="-122"/>
                          <a:sym typeface="Arial" panose="020B0604020202020204" pitchFamily="34" charset="0"/>
                        </a:rPr>
                        <a:t>弯道通行</a:t>
                      </a:r>
                    </a:p>
                  </a:txBody>
                  <a:tcPr marL="0" marR="0" marT="36000" marB="36000"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171450" indent="-171450" algn="l" fontAlgn="ctr" latinLnBrk="0">
                        <a:lnSpc>
                          <a:spcPts val="1600"/>
                        </a:lnSpc>
                        <a:buFont typeface="微软雅黑" panose="020B0503020204020204" pitchFamily="34" charset="-122"/>
                        <a:buChar char="￭"/>
                      </a:pPr>
                      <a:r>
                        <a:rPr lang="zh-CN" altLang="en-US" sz="1200" b="0" i="0" dirty="0">
                          <a:solidFill>
                            <a:srgbClr val="000000"/>
                          </a:solidFill>
                          <a:effectLst/>
                          <a:latin typeface="Arial" panose="020B0604020202020204" pitchFamily="34" charset="0"/>
                          <a:ea typeface="微软雅黑" panose="020B0503020204020204" pitchFamily="34" charset="-122"/>
                          <a:sym typeface="Arial" panose="020B0604020202020204" pitchFamily="34" charset="0"/>
                        </a:rPr>
                        <a:t>进入弯道前，系统需要根据弯道曲率舒适地调整车速。过弯时体感舒适，无刹车点头，无眩晕感</a:t>
                      </a:r>
                    </a:p>
                  </a:txBody>
                  <a:tcPr marL="72000" marR="7200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latinLnBrk="0">
                        <a:lnSpc>
                          <a:spcPts val="1600"/>
                        </a:lnSpc>
                        <a:buNone/>
                      </a:pPr>
                      <a:r>
                        <a:rPr lang="zh-CN" altLang="en-US" sz="1200" b="0" i="0" dirty="0">
                          <a:solidFill>
                            <a:srgbClr val="000000"/>
                          </a:solidFill>
                          <a:effectLst/>
                          <a:latin typeface="Arial" panose="020B0604020202020204" pitchFamily="34" charset="0"/>
                          <a:ea typeface="微软雅黑" panose="020B0503020204020204" pitchFamily="34" charset="-122"/>
                          <a:sym typeface="Arial" panose="020B0604020202020204" pitchFamily="34" charset="0"/>
                        </a:rPr>
                        <a:t>城区，高速</a:t>
                      </a:r>
                    </a:p>
                  </a:txBody>
                  <a:tcPr marL="0" marR="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latinLnBrk="0">
                        <a:lnSpc>
                          <a:spcPts val="1600"/>
                        </a:lnSpc>
                        <a:buNone/>
                      </a:pPr>
                      <a:r>
                        <a:rPr lang="en-US" sz="1200" b="0" i="0" dirty="0">
                          <a:solidFill>
                            <a:srgbClr val="000000"/>
                          </a:solidFill>
                          <a:effectLst/>
                          <a:latin typeface="Arial" panose="020B0604020202020204" pitchFamily="34" charset="0"/>
                          <a:ea typeface="微软雅黑" panose="020B0503020204020204" pitchFamily="34" charset="-122"/>
                          <a:sym typeface="Arial" panose="020B0604020202020204" pitchFamily="34" charset="0"/>
                        </a:rPr>
                        <a:t>NOA，</a:t>
                      </a:r>
                      <a:r>
                        <a:rPr lang="zh-CN" altLang="en-US" sz="1200" b="0" i="0" dirty="0">
                          <a:solidFill>
                            <a:srgbClr val="000000"/>
                          </a:solidFill>
                          <a:effectLst/>
                          <a:latin typeface="Arial" panose="020B0604020202020204" pitchFamily="34" charset="0"/>
                          <a:ea typeface="微软雅黑" panose="020B0503020204020204" pitchFamily="34" charset="-122"/>
                          <a:sym typeface="Arial" panose="020B0604020202020204" pitchFamily="34" charset="0"/>
                        </a:rPr>
                        <a:t>漫游</a:t>
                      </a:r>
                    </a:p>
                  </a:txBody>
                  <a:tcPr marL="0" marR="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latinLnBrk="0">
                        <a:lnSpc>
                          <a:spcPts val="1600"/>
                        </a:lnSpc>
                        <a:buNone/>
                      </a:pPr>
                      <a:r>
                        <a:rPr lang="en-US" sz="1200" b="0" i="0" dirty="0">
                          <a:solidFill>
                            <a:srgbClr val="000000"/>
                          </a:solidFill>
                          <a:effectLst/>
                          <a:latin typeface="Arial" panose="020B0604020202020204" pitchFamily="34" charset="0"/>
                          <a:ea typeface="微软雅黑" panose="020B0503020204020204" pitchFamily="34" charset="-122"/>
                          <a:sym typeface="Arial" panose="020B0604020202020204" pitchFamily="34" charset="0"/>
                        </a:rPr>
                        <a:t>SOP(530)</a:t>
                      </a:r>
                    </a:p>
                  </a:txBody>
                  <a:tcPr marL="0" marR="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209395054"/>
                  </a:ext>
                </a:extLst>
              </a:tr>
              <a:tr h="468000">
                <a:tc vMerge="1">
                  <a:txBody>
                    <a:bodyPr/>
                    <a:lstStyle/>
                    <a:p>
                      <a:endParaRPr lang="zh-CN" altLang="en-US"/>
                    </a:p>
                  </a:txBody>
                  <a:tcPr/>
                </a:tc>
                <a:tc vMerge="1">
                  <a:txBody>
                    <a:bodyPr/>
                    <a:lstStyle/>
                    <a:p>
                      <a:pPr algn="ctr" fontAlgn="ctr" latinLnBrk="0">
                        <a:lnSpc>
                          <a:spcPts val="1600"/>
                        </a:lnSpc>
                        <a:buNone/>
                      </a:pPr>
                      <a:endParaRPr lang="zh-CN" altLang="en-US" sz="1200" b="0" i="0" dirty="0">
                        <a:solidFill>
                          <a:srgbClr val="000000"/>
                        </a:solidFill>
                        <a:effectLst/>
                        <a:latin typeface="Arial" panose="020B0604020202020204" pitchFamily="34" charset="0"/>
                        <a:ea typeface="微软雅黑" panose="020B0503020204020204" pitchFamily="34" charset="-122"/>
                        <a:sym typeface="Arial" panose="020B0604020202020204" pitchFamily="34" charset="0"/>
                      </a:endParaRPr>
                    </a:p>
                  </a:txBody>
                  <a:tcPr marL="8859" marR="8859" marT="4430" marB="4430" anchor="ctr">
                    <a:lnL w="12700" cap="flat" cmpd="sng" algn="ctr">
                      <a:solidFill>
                        <a:schemeClr val="tx1"/>
                      </a:solidFill>
                      <a:prstDash val="solid"/>
                      <a:round/>
                      <a:headEnd type="none" w="med" len="med"/>
                      <a:tailEnd type="none" w="med" len="med"/>
                    </a:lnL>
                    <a:noFill/>
                  </a:tcPr>
                </a:tc>
                <a:tc>
                  <a:txBody>
                    <a:bodyPr/>
                    <a:lstStyle/>
                    <a:p>
                      <a:pPr algn="ctr" fontAlgn="ctr" latinLnBrk="0">
                        <a:buNone/>
                      </a:pPr>
                      <a:r>
                        <a:rPr lang="en-US" sz="1200" b="0" i="0" dirty="0">
                          <a:solidFill>
                            <a:srgbClr val="000000"/>
                          </a:solidFill>
                          <a:effectLst/>
                        </a:rPr>
                        <a:t>Cut-in</a:t>
                      </a:r>
                    </a:p>
                  </a:txBody>
                  <a:tcPr marL="0" marR="0" marT="36000" marB="36000"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171450" indent="-171450" algn="l" fontAlgn="ctr" latinLnBrk="0">
                        <a:buFont typeface="微软雅黑" panose="020B0503020204020204" pitchFamily="34" charset="-122"/>
                        <a:buChar char="￭"/>
                      </a:pPr>
                      <a:r>
                        <a:rPr lang="zh-CN" altLang="en-US" sz="1200" b="0" i="0" dirty="0">
                          <a:solidFill>
                            <a:srgbClr val="000000"/>
                          </a:solidFill>
                          <a:effectLst/>
                        </a:rPr>
                        <a:t>自车在车道或虚拟车道内</a:t>
                      </a:r>
                      <a:r>
                        <a:rPr lang="en-US" altLang="zh-CN" sz="1200" b="0" i="0" dirty="0">
                          <a:solidFill>
                            <a:srgbClr val="000000"/>
                          </a:solidFill>
                          <a:effectLst/>
                        </a:rPr>
                        <a:t>(</a:t>
                      </a:r>
                      <a:r>
                        <a:rPr lang="zh-CN" altLang="en-US" sz="1200" b="0" i="0" dirty="0">
                          <a:solidFill>
                            <a:srgbClr val="000000"/>
                          </a:solidFill>
                          <a:effectLst/>
                        </a:rPr>
                        <a:t>无车道线路段</a:t>
                      </a:r>
                      <a:r>
                        <a:rPr lang="en-US" altLang="zh-CN" sz="1200" b="0" i="0" dirty="0">
                          <a:solidFill>
                            <a:srgbClr val="000000"/>
                          </a:solidFill>
                          <a:effectLst/>
                        </a:rPr>
                        <a:t>)</a:t>
                      </a:r>
                      <a:r>
                        <a:rPr lang="zh-CN" altLang="en-US" sz="1200" b="0" i="0" dirty="0">
                          <a:solidFill>
                            <a:srgbClr val="000000"/>
                          </a:solidFill>
                          <a:effectLst/>
                        </a:rPr>
                        <a:t>巡航时，遇到其他车辆或</a:t>
                      </a:r>
                      <a:r>
                        <a:rPr lang="en-US" altLang="zh-CN" sz="1200" b="0" i="0" dirty="0">
                          <a:solidFill>
                            <a:srgbClr val="000000"/>
                          </a:solidFill>
                          <a:effectLst/>
                        </a:rPr>
                        <a:t>VRU</a:t>
                      </a:r>
                      <a:r>
                        <a:rPr lang="zh-CN" altLang="en-US" sz="1200" b="0" i="0" dirty="0">
                          <a:solidFill>
                            <a:srgbClr val="000000"/>
                          </a:solidFill>
                          <a:effectLst/>
                        </a:rPr>
                        <a:t>动态目标切入当前车道且造成自车行为需要重规划的场景</a:t>
                      </a:r>
                    </a:p>
                  </a:txBody>
                  <a:tcPr marL="72000" marR="7200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zh-CN" altLang="en-US" sz="1200" b="0" i="0" u="none" strike="noStrike" kern="1200" cap="none" spc="0" normalizeH="0" baseline="0" noProof="0" dirty="0">
                          <a:ln>
                            <a:noFill/>
                          </a:ln>
                          <a:solidFill>
                            <a:srgbClr val="000000"/>
                          </a:solidFill>
                          <a:effectLst/>
                          <a:uLnTx/>
                          <a:uFillTx/>
                          <a:latin typeface="微软雅黑"/>
                          <a:ea typeface="微软雅黑"/>
                          <a:cs typeface="+mn-cs"/>
                        </a:rPr>
                        <a:t>城区，高速</a:t>
                      </a:r>
                    </a:p>
                  </a:txBody>
                  <a:tcPr marL="0" marR="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latinLnBrk="0">
                        <a:buNone/>
                      </a:pPr>
                      <a:r>
                        <a:rPr lang="en-US" sz="1200" b="0" i="0" dirty="0">
                          <a:solidFill>
                            <a:srgbClr val="000000"/>
                          </a:solidFill>
                          <a:effectLst/>
                        </a:rPr>
                        <a:t>NOA</a:t>
                      </a:r>
                      <a:r>
                        <a:rPr lang="zh-CN" altLang="en-US" sz="1200" b="0" i="0" dirty="0">
                          <a:solidFill>
                            <a:srgbClr val="000000"/>
                          </a:solidFill>
                          <a:effectLst/>
                        </a:rPr>
                        <a:t>，漫游</a:t>
                      </a:r>
                    </a:p>
                  </a:txBody>
                  <a:tcPr marL="0" marR="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latinLnBrk="0">
                        <a:lnSpc>
                          <a:spcPts val="1600"/>
                        </a:lnSpc>
                        <a:buNone/>
                      </a:pPr>
                      <a:r>
                        <a:rPr lang="en-US" sz="1200" b="0" i="0" dirty="0">
                          <a:solidFill>
                            <a:srgbClr val="000000"/>
                          </a:solidFill>
                          <a:effectLst/>
                          <a:latin typeface="Arial" panose="020B0604020202020204" pitchFamily="34" charset="0"/>
                          <a:ea typeface="微软雅黑" panose="020B0503020204020204" pitchFamily="34" charset="-122"/>
                          <a:sym typeface="Arial" panose="020B0604020202020204" pitchFamily="34" charset="0"/>
                        </a:rPr>
                        <a:t>SOP(530)</a:t>
                      </a:r>
                    </a:p>
                  </a:txBody>
                  <a:tcPr marL="0" marR="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960965195"/>
                  </a:ext>
                </a:extLst>
              </a:tr>
              <a:tr h="252000">
                <a:tc vMerge="1">
                  <a:txBody>
                    <a:bodyPr/>
                    <a:lstStyle/>
                    <a:p>
                      <a:endParaRPr lang="zh-CN" altLang="en-US"/>
                    </a:p>
                  </a:txBody>
                  <a:tcPr/>
                </a:tc>
                <a:tc vMerge="1">
                  <a:txBody>
                    <a:bodyPr/>
                    <a:lstStyle/>
                    <a:p>
                      <a:pPr algn="ctr" fontAlgn="ctr" latinLnBrk="0">
                        <a:lnSpc>
                          <a:spcPts val="1600"/>
                        </a:lnSpc>
                        <a:buNone/>
                      </a:pPr>
                      <a:endParaRPr lang="zh-CN" altLang="en-US" sz="1200" b="0" i="0" dirty="0">
                        <a:solidFill>
                          <a:srgbClr val="000000"/>
                        </a:solidFill>
                        <a:effectLst/>
                        <a:latin typeface="Arial" panose="020B0604020202020204" pitchFamily="34" charset="0"/>
                        <a:ea typeface="微软雅黑" panose="020B0503020204020204" pitchFamily="34" charset="-122"/>
                        <a:sym typeface="Arial" panose="020B0604020202020204" pitchFamily="34" charset="0"/>
                      </a:endParaRPr>
                    </a:p>
                  </a:txBody>
                  <a:tcPr marL="8859" marR="8859" marT="4430" marB="4430" anchor="ctr">
                    <a:lnL w="12700" cap="flat" cmpd="sng" algn="ctr">
                      <a:solidFill>
                        <a:schemeClr val="tx1"/>
                      </a:solidFill>
                      <a:prstDash val="solid"/>
                      <a:round/>
                      <a:headEnd type="none" w="med" len="med"/>
                      <a:tailEnd type="none" w="med" len="med"/>
                    </a:lnL>
                    <a:noFill/>
                  </a:tcPr>
                </a:tc>
                <a:tc>
                  <a:txBody>
                    <a:bodyPr/>
                    <a:lstStyle/>
                    <a:p>
                      <a:pPr algn="ctr" fontAlgn="ctr" latinLnBrk="0">
                        <a:buNone/>
                      </a:pPr>
                      <a:r>
                        <a:rPr lang="en-US" sz="1200" b="0" i="0" dirty="0">
                          <a:solidFill>
                            <a:srgbClr val="000000"/>
                          </a:solidFill>
                          <a:effectLst/>
                        </a:rPr>
                        <a:t>Cut-out</a:t>
                      </a:r>
                    </a:p>
                  </a:txBody>
                  <a:tcPr marL="0" marR="0" marT="36000" marB="36000"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171450" indent="-171450" algn="l" fontAlgn="ctr" latinLnBrk="0">
                        <a:buFont typeface="微软雅黑" panose="020B0503020204020204" pitchFamily="34" charset="-122"/>
                        <a:buChar char="￭"/>
                      </a:pPr>
                      <a:r>
                        <a:rPr lang="zh-CN" altLang="en-US" sz="1200" b="0" i="0" dirty="0">
                          <a:solidFill>
                            <a:srgbClr val="000000"/>
                          </a:solidFill>
                          <a:effectLst/>
                        </a:rPr>
                        <a:t>激活状态，自车随前方目标行驶，前方目标</a:t>
                      </a:r>
                      <a:r>
                        <a:rPr lang="en-US" altLang="zh-CN" sz="1200" b="0" i="0" dirty="0">
                          <a:solidFill>
                            <a:srgbClr val="000000"/>
                          </a:solidFill>
                          <a:effectLst/>
                        </a:rPr>
                        <a:t>(</a:t>
                      </a:r>
                      <a:r>
                        <a:rPr lang="zh-CN" altLang="en-US" sz="1200" b="0" i="0" dirty="0">
                          <a:solidFill>
                            <a:srgbClr val="000000"/>
                          </a:solidFill>
                          <a:effectLst/>
                        </a:rPr>
                        <a:t>车辆</a:t>
                      </a:r>
                      <a:r>
                        <a:rPr lang="en-US" altLang="zh-CN" sz="1200" b="0" i="0" dirty="0">
                          <a:solidFill>
                            <a:srgbClr val="000000"/>
                          </a:solidFill>
                          <a:effectLst/>
                        </a:rPr>
                        <a:t>/</a:t>
                      </a:r>
                      <a:r>
                        <a:rPr lang="zh-CN" altLang="en-US" sz="1200" b="0" i="0" dirty="0">
                          <a:solidFill>
                            <a:srgbClr val="000000"/>
                          </a:solidFill>
                          <a:effectLst/>
                        </a:rPr>
                        <a:t>二轮车</a:t>
                      </a:r>
                      <a:r>
                        <a:rPr lang="en-US" altLang="zh-CN" sz="1200" b="0" i="0" dirty="0">
                          <a:solidFill>
                            <a:srgbClr val="000000"/>
                          </a:solidFill>
                          <a:effectLst/>
                        </a:rPr>
                        <a:t>/</a:t>
                      </a:r>
                      <a:r>
                        <a:rPr lang="zh-CN" altLang="en-US" sz="1200" b="0" i="0" dirty="0">
                          <a:solidFill>
                            <a:srgbClr val="000000"/>
                          </a:solidFill>
                          <a:effectLst/>
                        </a:rPr>
                        <a:t>行人等</a:t>
                      </a:r>
                      <a:r>
                        <a:rPr lang="en-US" altLang="zh-CN" sz="1200" b="0" i="0" dirty="0">
                          <a:solidFill>
                            <a:srgbClr val="000000"/>
                          </a:solidFill>
                          <a:effectLst/>
                        </a:rPr>
                        <a:t>)</a:t>
                      </a:r>
                      <a:r>
                        <a:rPr lang="zh-CN" altLang="en-US" sz="1200" b="0" i="0" dirty="0">
                          <a:solidFill>
                            <a:srgbClr val="000000"/>
                          </a:solidFill>
                          <a:effectLst/>
                        </a:rPr>
                        <a:t>突然切出自车道</a:t>
                      </a:r>
                    </a:p>
                  </a:txBody>
                  <a:tcPr marL="72000" marR="7200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zh-CN" altLang="en-US" sz="1200" b="0" i="0" u="none" strike="noStrike" kern="1200" cap="none" spc="0" normalizeH="0" baseline="0" noProof="0" dirty="0">
                          <a:ln>
                            <a:noFill/>
                          </a:ln>
                          <a:solidFill>
                            <a:srgbClr val="000000"/>
                          </a:solidFill>
                          <a:effectLst/>
                          <a:uLnTx/>
                          <a:uFillTx/>
                          <a:latin typeface="微软雅黑"/>
                          <a:ea typeface="微软雅黑"/>
                          <a:cs typeface="+mn-cs"/>
                        </a:rPr>
                        <a:t>城区，高速</a:t>
                      </a:r>
                    </a:p>
                  </a:txBody>
                  <a:tcPr marL="0" marR="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US" altLang="zh-CN" sz="1200" b="0" i="0" u="none" strike="noStrike" kern="1200" cap="none" spc="0" normalizeH="0" baseline="0" noProof="0" dirty="0">
                          <a:ln>
                            <a:noFill/>
                          </a:ln>
                          <a:solidFill>
                            <a:srgbClr val="000000"/>
                          </a:solidFill>
                          <a:effectLst/>
                          <a:uLnTx/>
                          <a:uFillTx/>
                          <a:latin typeface="微软雅黑"/>
                          <a:ea typeface="微软雅黑"/>
                          <a:cs typeface="+mn-cs"/>
                        </a:rPr>
                        <a:t>NOA</a:t>
                      </a:r>
                      <a:r>
                        <a:rPr kumimoji="0" lang="zh-CN" altLang="en-US" sz="1200" b="0" i="0" u="none" strike="noStrike" kern="1200" cap="none" spc="0" normalizeH="0" baseline="0" noProof="0" dirty="0">
                          <a:ln>
                            <a:noFill/>
                          </a:ln>
                          <a:solidFill>
                            <a:srgbClr val="000000"/>
                          </a:solidFill>
                          <a:effectLst/>
                          <a:uLnTx/>
                          <a:uFillTx/>
                          <a:latin typeface="微软雅黑"/>
                          <a:ea typeface="微软雅黑"/>
                          <a:cs typeface="+mn-cs"/>
                        </a:rPr>
                        <a:t>，漫游</a:t>
                      </a:r>
                    </a:p>
                  </a:txBody>
                  <a:tcPr marL="0" marR="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ctr" latinLnBrk="0" hangingPunct="1">
                        <a:lnSpc>
                          <a:spcPts val="1600"/>
                        </a:lnSpc>
                        <a:spcBef>
                          <a:spcPts val="0"/>
                        </a:spcBef>
                        <a:spcAft>
                          <a:spcPts val="0"/>
                        </a:spcAft>
                        <a:buClrTx/>
                        <a:buSzTx/>
                        <a:buFontTx/>
                        <a:buNone/>
                        <a:tabLst/>
                        <a:defRPr/>
                      </a:pPr>
                      <a:r>
                        <a:rPr kumimoji="0" lang="en-US" altLang="zh-CN" sz="1200" b="0"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pitchFamily="34" charset="-122"/>
                          <a:cs typeface="+mn-cs"/>
                          <a:sym typeface="Arial" panose="020B0604020202020204" pitchFamily="34" charset="0"/>
                        </a:rPr>
                        <a:t>SOP(530)</a:t>
                      </a:r>
                    </a:p>
                  </a:txBody>
                  <a:tcPr marL="0" marR="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607642170"/>
                  </a:ext>
                </a:extLst>
              </a:tr>
              <a:tr h="252000">
                <a:tc vMerge="1">
                  <a:txBody>
                    <a:bodyPr/>
                    <a:lstStyle/>
                    <a:p>
                      <a:pPr marL="0" algn="ctr" defTabSz="914400" rtl="0" eaLnBrk="1" fontAlgn="ctr" latinLnBrk="0" hangingPunct="1">
                        <a:lnSpc>
                          <a:spcPts val="1600"/>
                        </a:lnSpc>
                        <a:buNone/>
                      </a:pPr>
                      <a:endParaRPr lang="zh-CN" altLang="en-US" sz="1200" b="0" i="0" kern="1200" dirty="0">
                        <a:solidFill>
                          <a:srgbClr val="000000"/>
                        </a:solidFill>
                        <a:effectLst/>
                        <a:latin typeface="Arial" panose="020B0604020202020204" pitchFamily="34" charset="0"/>
                        <a:ea typeface="微软雅黑" panose="020B0503020204020204" pitchFamily="34" charset="-122"/>
                        <a:cs typeface="+mn-cs"/>
                        <a:sym typeface="Arial" panose="020B0604020202020204" pitchFamily="34" charset="0"/>
                      </a:endParaRPr>
                    </a:p>
                  </a:txBody>
                  <a:tcPr marL="0" marR="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rowSpan="2">
                  <a:txBody>
                    <a:bodyPr/>
                    <a:lstStyle/>
                    <a:p>
                      <a:pPr algn="ctr" fontAlgn="ctr" latinLnBrk="0">
                        <a:lnSpc>
                          <a:spcPts val="1600"/>
                        </a:lnSpc>
                        <a:buNone/>
                      </a:pPr>
                      <a:r>
                        <a:rPr lang="zh-CN" altLang="en-US" sz="1200" b="0" i="0" dirty="0">
                          <a:solidFill>
                            <a:srgbClr val="000000"/>
                          </a:solidFill>
                          <a:effectLst/>
                          <a:latin typeface="Arial" panose="020B0604020202020204" pitchFamily="34" charset="0"/>
                          <a:ea typeface="微软雅黑" panose="020B0503020204020204" pitchFamily="34" charset="-122"/>
                          <a:sym typeface="Arial" panose="020B0604020202020204" pitchFamily="34" charset="0"/>
                        </a:rPr>
                        <a:t>车道分合流</a:t>
                      </a:r>
                    </a:p>
                  </a:txBody>
                  <a:tcPr marL="0" marR="0" marT="36000" marB="36000"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latinLnBrk="0">
                        <a:lnSpc>
                          <a:spcPts val="1600"/>
                        </a:lnSpc>
                        <a:buNone/>
                      </a:pPr>
                      <a:r>
                        <a:rPr lang="zh-CN" altLang="en-US" sz="1200" b="0" i="0" dirty="0">
                          <a:solidFill>
                            <a:srgbClr val="000000"/>
                          </a:solidFill>
                          <a:effectLst/>
                          <a:latin typeface="Arial" panose="020B0604020202020204" pitchFamily="34" charset="0"/>
                          <a:ea typeface="微软雅黑" panose="020B0503020204020204" pitchFamily="34" charset="-122"/>
                          <a:sym typeface="Arial" panose="020B0604020202020204" pitchFamily="34" charset="0"/>
                        </a:rPr>
                        <a:t>车道并道</a:t>
                      </a:r>
                    </a:p>
                  </a:txBody>
                  <a:tcPr marL="0" marR="0" marT="36000" marB="36000"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171450" indent="-171450" algn="l" fontAlgn="ctr" latinLnBrk="0">
                        <a:lnSpc>
                          <a:spcPts val="1600"/>
                        </a:lnSpc>
                        <a:buFont typeface="微软雅黑" panose="020B0503020204020204" pitchFamily="34" charset="-122"/>
                        <a:buChar char="￭"/>
                      </a:pPr>
                      <a:r>
                        <a:rPr lang="zh-CN" altLang="en-US" sz="1200" b="0" i="0" dirty="0">
                          <a:solidFill>
                            <a:srgbClr val="000000"/>
                          </a:solidFill>
                          <a:effectLst/>
                          <a:latin typeface="Arial" panose="020B0604020202020204" pitchFamily="34" charset="0"/>
                          <a:ea typeface="微软雅黑" panose="020B0503020204020204" pitchFamily="34" charset="-122"/>
                          <a:sym typeface="Arial" panose="020B0604020202020204" pitchFamily="34" charset="0"/>
                        </a:rPr>
                        <a:t>在道路结构中的自车道中止</a:t>
                      </a:r>
                      <a:r>
                        <a:rPr lang="en-US" altLang="zh-CN" sz="1200" b="0" i="0" dirty="0">
                          <a:solidFill>
                            <a:srgbClr val="000000"/>
                          </a:solidFill>
                          <a:effectLst/>
                          <a:latin typeface="Arial" panose="020B0604020202020204" pitchFamily="34" charset="0"/>
                          <a:ea typeface="微软雅黑" panose="020B0503020204020204" pitchFamily="34" charset="-122"/>
                          <a:sym typeface="Arial" panose="020B0604020202020204" pitchFamily="34" charset="0"/>
                        </a:rPr>
                        <a:t>/</a:t>
                      </a:r>
                      <a:r>
                        <a:rPr lang="zh-CN" altLang="en-US" sz="1200" b="0" i="0" dirty="0">
                          <a:solidFill>
                            <a:srgbClr val="000000"/>
                          </a:solidFill>
                          <a:effectLst/>
                          <a:latin typeface="Arial" panose="020B0604020202020204" pitchFamily="34" charset="0"/>
                          <a:ea typeface="微软雅黑" panose="020B0503020204020204" pitchFamily="34" charset="-122"/>
                          <a:sym typeface="Arial" panose="020B0604020202020204" pitchFamily="34" charset="0"/>
                        </a:rPr>
                        <a:t>旁车道中止导致车道数量减少，发生车道合流，系统需要根据导航信息控制自车根据地面指引线进入符合导航行驶方向的车道</a:t>
                      </a:r>
                    </a:p>
                  </a:txBody>
                  <a:tcPr marL="72000" marR="7200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latinLnBrk="0">
                        <a:lnSpc>
                          <a:spcPts val="1600"/>
                        </a:lnSpc>
                        <a:buNone/>
                      </a:pPr>
                      <a:r>
                        <a:rPr lang="zh-CN" altLang="en-US" sz="1200" b="0" i="0" dirty="0">
                          <a:solidFill>
                            <a:srgbClr val="000000"/>
                          </a:solidFill>
                          <a:effectLst/>
                          <a:latin typeface="Arial" panose="020B0604020202020204" pitchFamily="34" charset="0"/>
                          <a:ea typeface="微软雅黑" panose="020B0503020204020204" pitchFamily="34" charset="-122"/>
                          <a:sym typeface="Arial" panose="020B0604020202020204" pitchFamily="34" charset="0"/>
                        </a:rPr>
                        <a:t>城区，高速</a:t>
                      </a:r>
                    </a:p>
                  </a:txBody>
                  <a:tcPr marL="0" marR="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latinLnBrk="0">
                        <a:lnSpc>
                          <a:spcPts val="1600"/>
                        </a:lnSpc>
                        <a:buNone/>
                      </a:pPr>
                      <a:r>
                        <a:rPr lang="en-US" sz="1200" b="0" i="0" dirty="0">
                          <a:solidFill>
                            <a:srgbClr val="000000"/>
                          </a:solidFill>
                          <a:effectLst/>
                          <a:latin typeface="Arial" panose="020B0604020202020204" pitchFamily="34" charset="0"/>
                          <a:ea typeface="微软雅黑" panose="020B0503020204020204" pitchFamily="34" charset="-122"/>
                          <a:sym typeface="Arial" panose="020B0604020202020204" pitchFamily="34" charset="0"/>
                        </a:rPr>
                        <a:t>NOA，</a:t>
                      </a:r>
                      <a:r>
                        <a:rPr lang="zh-CN" altLang="en-US" sz="1200" b="0" i="0" dirty="0">
                          <a:solidFill>
                            <a:srgbClr val="000000"/>
                          </a:solidFill>
                          <a:effectLst/>
                          <a:latin typeface="Arial" panose="020B0604020202020204" pitchFamily="34" charset="0"/>
                          <a:ea typeface="微软雅黑" panose="020B0503020204020204" pitchFamily="34" charset="-122"/>
                          <a:sym typeface="Arial" panose="020B0604020202020204" pitchFamily="34" charset="0"/>
                        </a:rPr>
                        <a:t>漫游</a:t>
                      </a:r>
                    </a:p>
                  </a:txBody>
                  <a:tcPr marL="0" marR="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latinLnBrk="0">
                        <a:lnSpc>
                          <a:spcPts val="1600"/>
                        </a:lnSpc>
                        <a:buNone/>
                      </a:pPr>
                      <a:r>
                        <a:rPr lang="en-US" sz="1200" b="0" i="0" dirty="0">
                          <a:solidFill>
                            <a:srgbClr val="000000"/>
                          </a:solidFill>
                          <a:effectLst/>
                          <a:latin typeface="Arial" panose="020B0604020202020204" pitchFamily="34" charset="0"/>
                          <a:ea typeface="微软雅黑" panose="020B0503020204020204" pitchFamily="34" charset="-122"/>
                          <a:sym typeface="Arial" panose="020B0604020202020204" pitchFamily="34" charset="0"/>
                        </a:rPr>
                        <a:t>SOP(530)</a:t>
                      </a:r>
                    </a:p>
                  </a:txBody>
                  <a:tcPr marL="0" marR="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422073607"/>
                  </a:ext>
                </a:extLst>
              </a:tr>
              <a:tr h="252000">
                <a:tc vMerge="1">
                  <a:txBody>
                    <a:bodyPr/>
                    <a:lstStyle/>
                    <a:p>
                      <a:pPr marL="0" algn="ctr" defTabSz="914400" rtl="0" eaLnBrk="1" fontAlgn="ctr" latinLnBrk="0" hangingPunct="1">
                        <a:lnSpc>
                          <a:spcPts val="1600"/>
                        </a:lnSpc>
                        <a:buNone/>
                      </a:pPr>
                      <a:endParaRPr lang="zh-CN" altLang="en-US" sz="1200" b="0" i="0" kern="1200" dirty="0">
                        <a:solidFill>
                          <a:srgbClr val="000000"/>
                        </a:solidFill>
                        <a:effectLst/>
                        <a:latin typeface="Arial" panose="020B0604020202020204" pitchFamily="34" charset="0"/>
                        <a:ea typeface="微软雅黑" panose="020B0503020204020204" pitchFamily="34" charset="-122"/>
                        <a:cs typeface="+mn-cs"/>
                        <a:sym typeface="Arial" panose="020B0604020202020204" pitchFamily="34" charset="0"/>
                      </a:endParaRPr>
                    </a:p>
                  </a:txBody>
                  <a:tcPr marL="0" marR="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noFill/>
                  </a:tcPr>
                </a:tc>
                <a:tc vMerge="1">
                  <a:txBody>
                    <a:bodyPr/>
                    <a:lstStyle/>
                    <a:p>
                      <a:endParaRPr lang="zh-CN" altLang="en-US"/>
                    </a:p>
                  </a:txBody>
                  <a:tcP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noFill/>
                  </a:tcPr>
                </a:tc>
                <a:tc>
                  <a:txBody>
                    <a:bodyPr/>
                    <a:lstStyle/>
                    <a:p>
                      <a:pPr algn="ctr" fontAlgn="ctr" latinLnBrk="0">
                        <a:lnSpc>
                          <a:spcPts val="1600"/>
                        </a:lnSpc>
                        <a:buNone/>
                      </a:pPr>
                      <a:r>
                        <a:rPr lang="zh-CN" altLang="en-US" sz="1200" b="0" i="0">
                          <a:solidFill>
                            <a:srgbClr val="000000"/>
                          </a:solidFill>
                          <a:effectLst/>
                          <a:latin typeface="Arial" panose="020B0604020202020204" pitchFamily="34" charset="0"/>
                          <a:ea typeface="微软雅黑" panose="020B0503020204020204" pitchFamily="34" charset="-122"/>
                          <a:sym typeface="Arial" panose="020B0604020202020204" pitchFamily="34" charset="0"/>
                        </a:rPr>
                        <a:t>车道分道</a:t>
                      </a:r>
                    </a:p>
                  </a:txBody>
                  <a:tcPr marL="0" marR="0" marT="36000" marB="36000"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171450" indent="-171450" algn="l" fontAlgn="ctr" latinLnBrk="0">
                        <a:lnSpc>
                          <a:spcPts val="1600"/>
                        </a:lnSpc>
                        <a:buFont typeface="微软雅黑" panose="020B0503020204020204" pitchFamily="34" charset="-122"/>
                        <a:buChar char="￭"/>
                      </a:pPr>
                      <a:r>
                        <a:rPr lang="zh-CN" altLang="en-US" sz="1200" b="0" i="0" dirty="0">
                          <a:solidFill>
                            <a:srgbClr val="000000"/>
                          </a:solidFill>
                          <a:effectLst/>
                          <a:latin typeface="Arial" panose="020B0604020202020204" pitchFamily="34" charset="0"/>
                          <a:ea typeface="微软雅黑" panose="020B0503020204020204" pitchFamily="34" charset="-122"/>
                          <a:sym typeface="Arial" panose="020B0604020202020204" pitchFamily="34" charset="0"/>
                        </a:rPr>
                        <a:t>在道路结构中的车道拓宽</a:t>
                      </a:r>
                      <a:r>
                        <a:rPr lang="en-US" altLang="zh-CN" sz="1200" b="0" i="0" dirty="0">
                          <a:solidFill>
                            <a:srgbClr val="000000"/>
                          </a:solidFill>
                          <a:effectLst/>
                          <a:latin typeface="Arial" panose="020B0604020202020204" pitchFamily="34" charset="0"/>
                          <a:ea typeface="微软雅黑" panose="020B0503020204020204" pitchFamily="34" charset="-122"/>
                          <a:sym typeface="Arial" panose="020B0604020202020204" pitchFamily="34" charset="0"/>
                        </a:rPr>
                        <a:t>/</a:t>
                      </a:r>
                      <a:r>
                        <a:rPr lang="zh-CN" altLang="en-US" sz="1200" b="0" i="0" dirty="0">
                          <a:solidFill>
                            <a:srgbClr val="000000"/>
                          </a:solidFill>
                          <a:effectLst/>
                          <a:latin typeface="Arial" panose="020B0604020202020204" pitchFamily="34" charset="0"/>
                          <a:ea typeface="微软雅黑" panose="020B0503020204020204" pitchFamily="34" charset="-122"/>
                          <a:sym typeface="Arial" panose="020B0604020202020204" pitchFamily="34" charset="0"/>
                        </a:rPr>
                        <a:t>增多导致车道数量增多，发生车道分流。系统需要按照地面指引和导航信息，进入符合导航行驶方向的车道</a:t>
                      </a:r>
                    </a:p>
                  </a:txBody>
                  <a:tcPr marL="72000" marR="7200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latinLnBrk="0">
                        <a:lnSpc>
                          <a:spcPts val="1600"/>
                        </a:lnSpc>
                        <a:buNone/>
                      </a:pPr>
                      <a:r>
                        <a:rPr lang="zh-CN" altLang="en-US" sz="1200" b="0" i="0" dirty="0">
                          <a:solidFill>
                            <a:srgbClr val="000000"/>
                          </a:solidFill>
                          <a:effectLst/>
                          <a:latin typeface="Arial" panose="020B0604020202020204" pitchFamily="34" charset="0"/>
                          <a:ea typeface="微软雅黑" panose="020B0503020204020204" pitchFamily="34" charset="-122"/>
                          <a:sym typeface="Arial" panose="020B0604020202020204" pitchFamily="34" charset="0"/>
                        </a:rPr>
                        <a:t>城区，高速</a:t>
                      </a:r>
                    </a:p>
                  </a:txBody>
                  <a:tcPr marL="0" marR="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latinLnBrk="0">
                        <a:lnSpc>
                          <a:spcPts val="1600"/>
                        </a:lnSpc>
                        <a:buNone/>
                      </a:pPr>
                      <a:r>
                        <a:rPr lang="en-US" sz="1200" b="0" i="0" dirty="0">
                          <a:solidFill>
                            <a:srgbClr val="000000"/>
                          </a:solidFill>
                          <a:effectLst/>
                          <a:latin typeface="Arial" panose="020B0604020202020204" pitchFamily="34" charset="0"/>
                          <a:ea typeface="微软雅黑" panose="020B0503020204020204" pitchFamily="34" charset="-122"/>
                          <a:sym typeface="Arial" panose="020B0604020202020204" pitchFamily="34" charset="0"/>
                        </a:rPr>
                        <a:t>NOA，</a:t>
                      </a:r>
                      <a:r>
                        <a:rPr lang="zh-CN" altLang="en-US" sz="1200" b="0" i="0" dirty="0">
                          <a:solidFill>
                            <a:srgbClr val="000000"/>
                          </a:solidFill>
                          <a:effectLst/>
                          <a:latin typeface="Arial" panose="020B0604020202020204" pitchFamily="34" charset="0"/>
                          <a:ea typeface="微软雅黑" panose="020B0503020204020204" pitchFamily="34" charset="-122"/>
                          <a:sym typeface="Arial" panose="020B0604020202020204" pitchFamily="34" charset="0"/>
                        </a:rPr>
                        <a:t>漫游</a:t>
                      </a:r>
                    </a:p>
                  </a:txBody>
                  <a:tcPr marL="0" marR="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latinLnBrk="0">
                        <a:lnSpc>
                          <a:spcPts val="1600"/>
                        </a:lnSpc>
                        <a:buNone/>
                      </a:pPr>
                      <a:r>
                        <a:rPr lang="en-US" sz="1200" b="0" i="0" dirty="0">
                          <a:solidFill>
                            <a:srgbClr val="000000"/>
                          </a:solidFill>
                          <a:effectLst/>
                          <a:latin typeface="Arial" panose="020B0604020202020204" pitchFamily="34" charset="0"/>
                          <a:ea typeface="微软雅黑" panose="020B0503020204020204" pitchFamily="34" charset="-122"/>
                          <a:sym typeface="Arial" panose="020B0604020202020204" pitchFamily="34" charset="0"/>
                        </a:rPr>
                        <a:t>SOP(530)</a:t>
                      </a:r>
                    </a:p>
                  </a:txBody>
                  <a:tcPr marL="0" marR="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035528306"/>
                  </a:ext>
                </a:extLst>
              </a:tr>
            </a:tbl>
          </a:graphicData>
        </a:graphic>
      </p:graphicFrame>
    </p:spTree>
    <p:extLst>
      <p:ext uri="{BB962C8B-B14F-4D97-AF65-F5344CB8AC3E}">
        <p14:creationId xmlns:p14="http://schemas.microsoft.com/office/powerpoint/2010/main" val="428386601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ACED4D-1A5A-A0B2-B82B-E81877F8F0C2}"/>
            </a:ext>
          </a:extLst>
        </p:cNvPr>
        <p:cNvGrpSpPr/>
        <p:nvPr/>
      </p:nvGrpSpPr>
      <p:grpSpPr>
        <a:xfrm>
          <a:off x="0" y="0"/>
          <a:ext cx="0" cy="0"/>
          <a:chOff x="0" y="0"/>
          <a:chExt cx="0" cy="0"/>
        </a:xfrm>
      </p:grpSpPr>
      <p:sp>
        <p:nvSpPr>
          <p:cNvPr id="2" name="日期占位符 1">
            <a:extLst>
              <a:ext uri="{FF2B5EF4-FFF2-40B4-BE49-F238E27FC236}">
                <a16:creationId xmlns:a16="http://schemas.microsoft.com/office/drawing/2014/main" id="{B3155934-8F4B-0F2A-851E-B78DE158A3DD}"/>
              </a:ext>
            </a:extLst>
          </p:cNvPr>
          <p:cNvSpPr>
            <a:spLocks noGrp="1"/>
          </p:cNvSpPr>
          <p:nvPr>
            <p:ph type="dt" sz="half" idx="10"/>
          </p:nvPr>
        </p:nvSpPr>
        <p:spPr/>
        <p:txBody>
          <a:bodyPr/>
          <a:lstStyle/>
          <a:p>
            <a:fld id="{0B4571A7-0608-4CA0-91C4-DD76FEAC2393}" type="datetime1">
              <a:rPr lang="zh-CN" altLang="en-US" smtClean="0">
                <a:latin typeface="Arial" panose="020B0604020202020204" pitchFamily="34" charset="0"/>
                <a:ea typeface="微软雅黑" panose="020B0503020204020204" pitchFamily="34" charset="-122"/>
                <a:sym typeface="Arial" panose="020B0604020202020204" pitchFamily="34" charset="0"/>
              </a:rPr>
              <a:t>2026/2/10</a:t>
            </a:fld>
            <a:endParaRPr lang="en-US" altLang="en-US" dirty="0">
              <a:latin typeface="Arial" panose="020B0604020202020204" pitchFamily="34" charset="0"/>
              <a:ea typeface="微软雅黑" panose="020B0503020204020204" pitchFamily="34" charset="-122"/>
              <a:sym typeface="Arial" panose="020B0604020202020204" pitchFamily="34" charset="0"/>
            </a:endParaRPr>
          </a:p>
        </p:txBody>
      </p:sp>
      <p:sp>
        <p:nvSpPr>
          <p:cNvPr id="3" name="页脚占位符 2">
            <a:extLst>
              <a:ext uri="{FF2B5EF4-FFF2-40B4-BE49-F238E27FC236}">
                <a16:creationId xmlns:a16="http://schemas.microsoft.com/office/drawing/2014/main" id="{39D7643B-C3AD-1CC5-FC04-9C0831695F4C}"/>
              </a:ext>
            </a:extLst>
          </p:cNvPr>
          <p:cNvSpPr>
            <a:spLocks noGrp="1"/>
          </p:cNvSpPr>
          <p:nvPr>
            <p:ph type="ftr" sz="quarter" idx="11"/>
          </p:nvPr>
        </p:nvSpPr>
        <p:spPr>
          <a:xfrm>
            <a:off x="3783332" y="6484621"/>
            <a:ext cx="4771388" cy="373379"/>
          </a:xfrm>
        </p:spPr>
        <p:txBody>
          <a:bodyPr/>
          <a:lstStyle/>
          <a:p>
            <a:r>
              <a:rPr lang="en-US" altLang="en-US" dirty="0">
                <a:latin typeface="Arial" panose="020B0604020202020204" pitchFamily="34" charset="0"/>
                <a:ea typeface="微软雅黑" panose="020B0503020204020204" pitchFamily="34" charset="-122"/>
                <a:sym typeface="Arial" panose="020B0604020202020204" pitchFamily="34" charset="0"/>
              </a:rPr>
              <a:t>Horizon Continental Technology Shanghai Co.， Ltd -  Confidential Information Under NDA</a:t>
            </a:r>
          </a:p>
        </p:txBody>
      </p:sp>
      <p:sp>
        <p:nvSpPr>
          <p:cNvPr id="4" name="灯片编号占位符 3">
            <a:extLst>
              <a:ext uri="{FF2B5EF4-FFF2-40B4-BE49-F238E27FC236}">
                <a16:creationId xmlns:a16="http://schemas.microsoft.com/office/drawing/2014/main" id="{0D398E43-4CB2-0FE2-6E82-66E567A19097}"/>
              </a:ext>
            </a:extLst>
          </p:cNvPr>
          <p:cNvSpPr>
            <a:spLocks noGrp="1"/>
          </p:cNvSpPr>
          <p:nvPr>
            <p:ph type="sldNum" sz="quarter" idx="12"/>
          </p:nvPr>
        </p:nvSpPr>
        <p:spPr/>
        <p:txBody>
          <a:bodyPr/>
          <a:lstStyle/>
          <a:p>
            <a:fld id="{9CC13275-6251-4C40-AFE1-85D85DA07171}" type="slidenum">
              <a:rPr lang="en-US" altLang="en-US" smtClean="0">
                <a:latin typeface="Arial" panose="020B0604020202020204" pitchFamily="34" charset="0"/>
                <a:ea typeface="微软雅黑" panose="020B0503020204020204" pitchFamily="34" charset="-122"/>
                <a:sym typeface="Arial" panose="020B0604020202020204" pitchFamily="34" charset="0"/>
              </a:rPr>
              <a:t>2</a:t>
            </a:fld>
            <a:endParaRPr lang="en-US" altLang="en-US" dirty="0">
              <a:latin typeface="Arial" panose="020B0604020202020204" pitchFamily="34" charset="0"/>
              <a:ea typeface="微软雅黑" panose="020B0503020204020204" pitchFamily="34" charset="-122"/>
              <a:sym typeface="Arial" panose="020B0604020202020204" pitchFamily="34" charset="0"/>
            </a:endParaRPr>
          </a:p>
        </p:txBody>
      </p:sp>
      <p:sp>
        <p:nvSpPr>
          <p:cNvPr id="5" name="文本框 4">
            <a:extLst>
              <a:ext uri="{FF2B5EF4-FFF2-40B4-BE49-F238E27FC236}">
                <a16:creationId xmlns:a16="http://schemas.microsoft.com/office/drawing/2014/main" id="{3FACE323-1659-E4E8-E0BC-4E1BFF47C72D}"/>
              </a:ext>
            </a:extLst>
          </p:cNvPr>
          <p:cNvSpPr txBox="1"/>
          <p:nvPr/>
        </p:nvSpPr>
        <p:spPr>
          <a:xfrm>
            <a:off x="777240" y="488315"/>
            <a:ext cx="10637520" cy="491490"/>
          </a:xfrm>
          <a:prstGeom prst="rect">
            <a:avLst/>
          </a:prstGeom>
          <a:noFill/>
        </p:spPr>
        <p:txBody>
          <a:bodyPr wrap="square">
            <a:spAutoFit/>
          </a:bodyPr>
          <a:lstStyle>
            <a:defPPr>
              <a:defRPr lang="en-US"/>
            </a:defPPr>
            <a:lvl1pPr algn="ctr">
              <a:defRPr sz="2600" b="0" spc="300">
                <a:solidFill>
                  <a:srgbClr val="001432"/>
                </a:solidFill>
                <a:latin typeface="+mj-ea"/>
                <a:ea typeface="+mj-ea"/>
              </a:defRPr>
            </a:lvl1pPr>
          </a:lstStyle>
          <a:p>
            <a:pPr lvl="0" defTabSz="914400">
              <a:defRPr/>
            </a:pPr>
            <a:r>
              <a:rPr lang="en-US" altLang="zh-CN" dirty="0">
                <a:solidFill>
                  <a:srgbClr val="131319"/>
                </a:solidFill>
                <a:latin typeface="Arial" panose="020B0604020202020204" pitchFamily="34" charset="0"/>
                <a:ea typeface="微软雅黑" panose="020B0503020204020204" pitchFamily="34" charset="-122"/>
                <a:sym typeface="Arial" panose="020B0604020202020204" pitchFamily="34" charset="0"/>
              </a:rPr>
              <a:t>Astra</a:t>
            </a:r>
            <a:r>
              <a:rPr lang="zh-CN" altLang="en-US" dirty="0">
                <a:solidFill>
                  <a:srgbClr val="131319"/>
                </a:solidFill>
                <a:latin typeface="Arial" panose="020B0604020202020204" pitchFamily="34" charset="0"/>
                <a:ea typeface="微软雅黑" panose="020B0503020204020204" pitchFamily="34" charset="-122"/>
                <a:sym typeface="Arial" panose="020B0604020202020204" pitchFamily="34" charset="0"/>
              </a:rPr>
              <a:t>行车功能列表</a:t>
            </a:r>
            <a:endParaRPr lang="zh-CN" altLang="en-US" sz="4000" dirty="0">
              <a:solidFill>
                <a:srgbClr val="131319"/>
              </a:solidFill>
              <a:latin typeface="Arial" panose="020B0604020202020204" pitchFamily="34" charset="0"/>
              <a:ea typeface="微软雅黑" panose="020B0503020204020204" pitchFamily="34" charset="-122"/>
              <a:sym typeface="Arial" panose="020B0604020202020204" pitchFamily="34" charset="0"/>
            </a:endParaRPr>
          </a:p>
        </p:txBody>
      </p:sp>
      <p:graphicFrame>
        <p:nvGraphicFramePr>
          <p:cNvPr id="7" name="表格 6">
            <a:extLst>
              <a:ext uri="{FF2B5EF4-FFF2-40B4-BE49-F238E27FC236}">
                <a16:creationId xmlns:a16="http://schemas.microsoft.com/office/drawing/2014/main" id="{C2336422-65BB-8197-8486-C3FCE4F25AA8}"/>
              </a:ext>
            </a:extLst>
          </p:cNvPr>
          <p:cNvGraphicFramePr>
            <a:graphicFrameLocks noGrp="1"/>
          </p:cNvGraphicFramePr>
          <p:nvPr>
            <p:extLst>
              <p:ext uri="{D42A27DB-BD31-4B8C-83A1-F6EECF244321}">
                <p14:modId xmlns:p14="http://schemas.microsoft.com/office/powerpoint/2010/main" val="4037829306"/>
              </p:ext>
            </p:extLst>
          </p:nvPr>
        </p:nvGraphicFramePr>
        <p:xfrm>
          <a:off x="206247" y="979805"/>
          <a:ext cx="11758823" cy="5568960"/>
        </p:xfrm>
        <a:graphic>
          <a:graphicData uri="http://schemas.openxmlformats.org/drawingml/2006/table">
            <a:tbl>
              <a:tblPr/>
              <a:tblGrid>
                <a:gridCol w="720000">
                  <a:extLst>
                    <a:ext uri="{9D8B030D-6E8A-4147-A177-3AD203B41FA5}">
                      <a16:colId xmlns:a16="http://schemas.microsoft.com/office/drawing/2014/main" val="753555554"/>
                    </a:ext>
                  </a:extLst>
                </a:gridCol>
                <a:gridCol w="720000">
                  <a:extLst>
                    <a:ext uri="{9D8B030D-6E8A-4147-A177-3AD203B41FA5}">
                      <a16:colId xmlns:a16="http://schemas.microsoft.com/office/drawing/2014/main" val="1683866501"/>
                    </a:ext>
                  </a:extLst>
                </a:gridCol>
                <a:gridCol w="1061784">
                  <a:extLst>
                    <a:ext uri="{9D8B030D-6E8A-4147-A177-3AD203B41FA5}">
                      <a16:colId xmlns:a16="http://schemas.microsoft.com/office/drawing/2014/main" val="3663784263"/>
                    </a:ext>
                  </a:extLst>
                </a:gridCol>
                <a:gridCol w="6659489">
                  <a:extLst>
                    <a:ext uri="{9D8B030D-6E8A-4147-A177-3AD203B41FA5}">
                      <a16:colId xmlns:a16="http://schemas.microsoft.com/office/drawing/2014/main" val="2991448286"/>
                    </a:ext>
                  </a:extLst>
                </a:gridCol>
                <a:gridCol w="865850">
                  <a:extLst>
                    <a:ext uri="{9D8B030D-6E8A-4147-A177-3AD203B41FA5}">
                      <a16:colId xmlns:a16="http://schemas.microsoft.com/office/drawing/2014/main" val="577342126"/>
                    </a:ext>
                  </a:extLst>
                </a:gridCol>
                <a:gridCol w="865850">
                  <a:extLst>
                    <a:ext uri="{9D8B030D-6E8A-4147-A177-3AD203B41FA5}">
                      <a16:colId xmlns:a16="http://schemas.microsoft.com/office/drawing/2014/main" val="1391232952"/>
                    </a:ext>
                  </a:extLst>
                </a:gridCol>
                <a:gridCol w="865850">
                  <a:extLst>
                    <a:ext uri="{9D8B030D-6E8A-4147-A177-3AD203B41FA5}">
                      <a16:colId xmlns:a16="http://schemas.microsoft.com/office/drawing/2014/main" val="2161060958"/>
                    </a:ext>
                  </a:extLst>
                </a:gridCol>
              </a:tblGrid>
              <a:tr h="240081">
                <a:tc gridSpan="2">
                  <a:txBody>
                    <a:bodyPr/>
                    <a:lstStyle/>
                    <a:p>
                      <a:pPr algn="ctr" fontAlgn="ctr" latinLnBrk="0">
                        <a:lnSpc>
                          <a:spcPts val="1600"/>
                        </a:lnSpc>
                        <a:buNone/>
                      </a:pPr>
                      <a:r>
                        <a:rPr lang="zh-CN" altLang="en-US" sz="1200" b="1" i="0" dirty="0">
                          <a:solidFill>
                            <a:schemeClr val="bg1"/>
                          </a:solidFill>
                          <a:effectLst/>
                          <a:latin typeface="Arial" panose="020B0604020202020204" pitchFamily="34" charset="0"/>
                          <a:ea typeface="微软雅黑" panose="020B0503020204020204" pitchFamily="34" charset="-122"/>
                          <a:sym typeface="Arial" panose="020B0604020202020204" pitchFamily="34" charset="0"/>
                        </a:rPr>
                        <a:t>一级功能</a:t>
                      </a:r>
                    </a:p>
                  </a:txBody>
                  <a:tcPr marL="0" marR="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hMerge="1">
                  <a:txBody>
                    <a:bodyPr/>
                    <a:lstStyle/>
                    <a:p>
                      <a:endParaRPr lang="zh-CN" altLang="en-US"/>
                    </a:p>
                  </a:txBody>
                  <a:tcPr/>
                </a:tc>
                <a:tc>
                  <a:txBody>
                    <a:bodyPr/>
                    <a:lstStyle/>
                    <a:p>
                      <a:pPr algn="ctr" fontAlgn="ctr" latinLnBrk="0">
                        <a:lnSpc>
                          <a:spcPts val="1600"/>
                        </a:lnSpc>
                        <a:buNone/>
                      </a:pPr>
                      <a:r>
                        <a:rPr lang="zh-CN" altLang="en-US" sz="1200" b="1" i="0" dirty="0">
                          <a:solidFill>
                            <a:schemeClr val="bg1"/>
                          </a:solidFill>
                          <a:effectLst/>
                          <a:latin typeface="Arial" panose="020B0604020202020204" pitchFamily="34" charset="0"/>
                          <a:ea typeface="微软雅黑" panose="020B0503020204020204" pitchFamily="34" charset="-122"/>
                          <a:sym typeface="Arial" panose="020B0604020202020204" pitchFamily="34" charset="0"/>
                        </a:rPr>
                        <a:t>二级功能</a:t>
                      </a:r>
                    </a:p>
                  </a:txBody>
                  <a:tcPr marL="0" marR="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fontAlgn="ctr" latinLnBrk="0">
                        <a:lnSpc>
                          <a:spcPts val="1600"/>
                        </a:lnSpc>
                        <a:buNone/>
                      </a:pPr>
                      <a:r>
                        <a:rPr lang="zh-CN" altLang="en-US" sz="1200" b="1" i="0" dirty="0">
                          <a:solidFill>
                            <a:schemeClr val="bg1"/>
                          </a:solidFill>
                          <a:effectLst/>
                          <a:latin typeface="Arial" panose="020B0604020202020204" pitchFamily="34" charset="0"/>
                          <a:ea typeface="微软雅黑" panose="020B0503020204020204" pitchFamily="34" charset="-122"/>
                          <a:sym typeface="Arial" panose="020B0604020202020204" pitchFamily="34" charset="0"/>
                        </a:rPr>
                        <a:t>描述</a:t>
                      </a:r>
                    </a:p>
                  </a:txBody>
                  <a:tcPr marL="0" marR="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fontAlgn="ctr" latinLnBrk="0">
                        <a:lnSpc>
                          <a:spcPts val="1600"/>
                        </a:lnSpc>
                        <a:buNone/>
                      </a:pPr>
                      <a:r>
                        <a:rPr lang="zh-CN" altLang="en-US" sz="1200" b="1" i="0" dirty="0">
                          <a:solidFill>
                            <a:schemeClr val="bg1"/>
                          </a:solidFill>
                          <a:effectLst/>
                          <a:latin typeface="Arial" panose="020B0604020202020204" pitchFamily="34" charset="0"/>
                          <a:ea typeface="微软雅黑" panose="020B0503020204020204" pitchFamily="34" charset="-122"/>
                          <a:sym typeface="Arial" panose="020B0604020202020204" pitchFamily="34" charset="0"/>
                        </a:rPr>
                        <a:t>场景</a:t>
                      </a:r>
                    </a:p>
                  </a:txBody>
                  <a:tcPr marL="0" marR="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fontAlgn="ctr" latinLnBrk="0">
                        <a:lnSpc>
                          <a:spcPts val="1600"/>
                        </a:lnSpc>
                        <a:buNone/>
                      </a:pPr>
                      <a:r>
                        <a:rPr lang="zh-CN" altLang="en-US" sz="1200" b="1" i="0" dirty="0">
                          <a:solidFill>
                            <a:schemeClr val="bg1"/>
                          </a:solidFill>
                          <a:effectLst/>
                          <a:latin typeface="Arial" panose="020B0604020202020204" pitchFamily="34" charset="0"/>
                          <a:ea typeface="微软雅黑" panose="020B0503020204020204" pitchFamily="34" charset="-122"/>
                          <a:sym typeface="Arial" panose="020B0604020202020204" pitchFamily="34" charset="0"/>
                        </a:rPr>
                        <a:t>功能</a:t>
                      </a:r>
                    </a:p>
                  </a:txBody>
                  <a:tcPr marL="0" marR="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fontAlgn="ctr" latinLnBrk="0">
                        <a:lnSpc>
                          <a:spcPts val="1600"/>
                        </a:lnSpc>
                        <a:buNone/>
                      </a:pPr>
                      <a:r>
                        <a:rPr lang="zh-CN" altLang="en-US" sz="1200" b="1" i="0" dirty="0">
                          <a:solidFill>
                            <a:schemeClr val="bg1"/>
                          </a:solidFill>
                          <a:effectLst/>
                          <a:latin typeface="Arial" panose="020B0604020202020204" pitchFamily="34" charset="0"/>
                          <a:ea typeface="微软雅黑" panose="020B0503020204020204" pitchFamily="34" charset="-122"/>
                          <a:sym typeface="Arial" panose="020B0604020202020204" pitchFamily="34" charset="0"/>
                        </a:rPr>
                        <a:t>上线计划</a:t>
                      </a:r>
                    </a:p>
                  </a:txBody>
                  <a:tcPr marL="0" marR="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extLst>
                  <a:ext uri="{0D108BD9-81ED-4DB2-BD59-A6C34878D82A}">
                    <a16:rowId xmlns:a16="http://schemas.microsoft.com/office/drawing/2014/main" val="1774747084"/>
                  </a:ext>
                </a:extLst>
              </a:tr>
              <a:tr h="417350">
                <a:tc rowSpan="12">
                  <a:txBody>
                    <a:bodyPr/>
                    <a:lstStyle/>
                    <a:p>
                      <a:pPr marL="0" marR="0" lvl="0" indent="0" algn="ctr" defTabSz="914400" rtl="0" eaLnBrk="1" fontAlgn="ctr" latinLnBrk="0" hangingPunct="1">
                        <a:lnSpc>
                          <a:spcPts val="1600"/>
                        </a:lnSpc>
                        <a:spcBef>
                          <a:spcPts val="0"/>
                        </a:spcBef>
                        <a:spcAft>
                          <a:spcPts val="0"/>
                        </a:spcAft>
                        <a:buClrTx/>
                        <a:buSzTx/>
                        <a:buFontTx/>
                        <a:buNone/>
                        <a:tabLst/>
                        <a:defRPr/>
                      </a:pPr>
                      <a:r>
                        <a:rPr kumimoji="0" lang="zh-CN" altLang="en-US" sz="1200" b="0"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pitchFamily="34" charset="-122"/>
                          <a:cs typeface="+mn-cs"/>
                          <a:sym typeface="Arial" panose="020B0604020202020204" pitchFamily="34" charset="0"/>
                        </a:rPr>
                        <a:t>领航功能</a:t>
                      </a:r>
                    </a:p>
                  </a:txBody>
                  <a:tcPr marL="0" marR="0" marT="36000" marB="36000" anchor="ctr">
                    <a:lnT w="12700" cap="flat" cmpd="sng" algn="ctr">
                      <a:solidFill>
                        <a:schemeClr val="tx1"/>
                      </a:solidFill>
                      <a:prstDash val="solid"/>
                      <a:round/>
                      <a:headEnd type="none" w="med" len="med"/>
                      <a:tailEnd type="none" w="med" len="med"/>
                    </a:lnT>
                  </a:tcPr>
                </a:tc>
                <a:tc rowSpan="6">
                  <a:txBody>
                    <a:bodyPr/>
                    <a:lstStyle/>
                    <a:p>
                      <a:pPr algn="ctr" fontAlgn="ctr" latinLnBrk="0">
                        <a:lnSpc>
                          <a:spcPts val="1600"/>
                        </a:lnSpc>
                        <a:buNone/>
                      </a:pPr>
                      <a:r>
                        <a:rPr lang="zh-CN" altLang="en-US" sz="1200" b="0" i="0" dirty="0">
                          <a:solidFill>
                            <a:srgbClr val="000000"/>
                          </a:solidFill>
                          <a:effectLst/>
                          <a:latin typeface="Arial" panose="020B0604020202020204" pitchFamily="34" charset="0"/>
                          <a:ea typeface="微软雅黑" panose="020B0503020204020204" pitchFamily="34" charset="-122"/>
                          <a:sym typeface="Arial" panose="020B0604020202020204" pitchFamily="34" charset="0"/>
                        </a:rPr>
                        <a:t>变道</a:t>
                      </a:r>
                    </a:p>
                  </a:txBody>
                  <a:tcPr marL="0" marR="0" marT="36000" marB="36000"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latinLnBrk="0">
                        <a:lnSpc>
                          <a:spcPts val="1600"/>
                        </a:lnSpc>
                        <a:buNone/>
                      </a:pPr>
                      <a:r>
                        <a:rPr lang="zh-CN" altLang="en-US" sz="1200" b="0" i="0" dirty="0">
                          <a:solidFill>
                            <a:srgbClr val="000000"/>
                          </a:solidFill>
                          <a:effectLst/>
                          <a:latin typeface="Arial" panose="020B0604020202020204" pitchFamily="34" charset="0"/>
                          <a:ea typeface="微软雅黑" panose="020B0503020204020204" pitchFamily="34" charset="-122"/>
                          <a:sym typeface="Arial" panose="020B0604020202020204" pitchFamily="34" charset="0"/>
                        </a:rPr>
                        <a:t>拨杆变道</a:t>
                      </a:r>
                    </a:p>
                  </a:txBody>
                  <a:tcPr marL="0" marR="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171450" indent="-171450" algn="l" fontAlgn="ctr" latinLnBrk="0">
                        <a:lnSpc>
                          <a:spcPts val="1600"/>
                        </a:lnSpc>
                        <a:buFont typeface="微软雅黑" panose="020B0503020204020204" pitchFamily="34" charset="-122"/>
                        <a:buChar char="￭"/>
                      </a:pPr>
                      <a:r>
                        <a:rPr lang="zh-CN" altLang="en-US" sz="1200" b="0" i="0" dirty="0">
                          <a:solidFill>
                            <a:srgbClr val="000000"/>
                          </a:solidFill>
                          <a:effectLst/>
                          <a:latin typeface="Arial" panose="020B0604020202020204" pitchFamily="34" charset="0"/>
                          <a:ea typeface="微软雅黑" panose="020B0503020204020204" pitchFamily="34" charset="-122"/>
                          <a:sym typeface="Arial" panose="020B0604020202020204" pitchFamily="34" charset="0"/>
                        </a:rPr>
                        <a:t>驾驶员可通过开启转向拨杆，发出向左或向右变道指令，自动完成打灯方向的变道。若</a:t>
                      </a:r>
                      <a:r>
                        <a:rPr lang="en-US" altLang="zh-CN" sz="1200" b="0" i="0" dirty="0">
                          <a:solidFill>
                            <a:srgbClr val="000000"/>
                          </a:solidFill>
                          <a:effectLst/>
                          <a:latin typeface="Arial" panose="020B0604020202020204" pitchFamily="34" charset="0"/>
                          <a:ea typeface="微软雅黑" panose="020B0503020204020204" pitchFamily="34" charset="-122"/>
                          <a:sym typeface="Arial" panose="020B0604020202020204" pitchFamily="34" charset="0"/>
                        </a:rPr>
                        <a:t>20s(</a:t>
                      </a:r>
                      <a:r>
                        <a:rPr lang="zh-CN" altLang="en-US" sz="1200" b="0" i="0" dirty="0">
                          <a:solidFill>
                            <a:srgbClr val="000000"/>
                          </a:solidFill>
                          <a:effectLst/>
                          <a:latin typeface="Arial" panose="020B0604020202020204" pitchFamily="34" charset="0"/>
                          <a:ea typeface="微软雅黑" panose="020B0503020204020204" pitchFamily="34" charset="-122"/>
                          <a:sym typeface="Arial" panose="020B0604020202020204" pitchFamily="34" charset="0"/>
                        </a:rPr>
                        <a:t>可标</a:t>
                      </a:r>
                      <a:r>
                        <a:rPr lang="en-US" altLang="zh-CN" sz="1200" b="0" i="0" dirty="0">
                          <a:solidFill>
                            <a:srgbClr val="000000"/>
                          </a:solidFill>
                          <a:effectLst/>
                          <a:latin typeface="Arial" panose="020B0604020202020204" pitchFamily="34" charset="0"/>
                          <a:ea typeface="微软雅黑" panose="020B0503020204020204" pitchFamily="34" charset="-122"/>
                          <a:sym typeface="Arial" panose="020B0604020202020204" pitchFamily="34" charset="0"/>
                        </a:rPr>
                        <a:t>)</a:t>
                      </a:r>
                      <a:r>
                        <a:rPr lang="zh-CN" altLang="en-US" sz="1200" b="0" i="0" dirty="0">
                          <a:solidFill>
                            <a:srgbClr val="000000"/>
                          </a:solidFill>
                          <a:effectLst/>
                          <a:latin typeface="Arial" panose="020B0604020202020204" pitchFamily="34" charset="0"/>
                          <a:ea typeface="微软雅黑" panose="020B0503020204020204" pitchFamily="34" charset="-122"/>
                          <a:sym typeface="Arial" panose="020B0604020202020204" pitchFamily="34" charset="0"/>
                        </a:rPr>
                        <a:t>无法执行变道，则取消本次拨杆变道</a:t>
                      </a:r>
                    </a:p>
                  </a:txBody>
                  <a:tcPr marL="72000" marR="7200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latinLnBrk="0">
                        <a:lnSpc>
                          <a:spcPts val="1600"/>
                        </a:lnSpc>
                        <a:buNone/>
                      </a:pPr>
                      <a:r>
                        <a:rPr lang="zh-CN" altLang="en-US" sz="1200" b="0" i="0" dirty="0">
                          <a:solidFill>
                            <a:srgbClr val="000000"/>
                          </a:solidFill>
                          <a:effectLst/>
                          <a:latin typeface="Arial" panose="020B0604020202020204" pitchFamily="34" charset="0"/>
                          <a:ea typeface="微软雅黑" panose="020B0503020204020204" pitchFamily="34" charset="-122"/>
                          <a:sym typeface="Arial" panose="020B0604020202020204" pitchFamily="34" charset="0"/>
                        </a:rPr>
                        <a:t>城区，高速</a:t>
                      </a:r>
                    </a:p>
                  </a:txBody>
                  <a:tcPr marL="0" marR="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latinLnBrk="0">
                        <a:lnSpc>
                          <a:spcPts val="1600"/>
                        </a:lnSpc>
                        <a:buNone/>
                      </a:pPr>
                      <a:r>
                        <a:rPr lang="en-US" sz="1200" b="0" i="0" dirty="0">
                          <a:solidFill>
                            <a:srgbClr val="000000"/>
                          </a:solidFill>
                          <a:effectLst/>
                          <a:latin typeface="Arial" panose="020B0604020202020204" pitchFamily="34" charset="0"/>
                          <a:ea typeface="微软雅黑" panose="020B0503020204020204" pitchFamily="34" charset="-122"/>
                          <a:sym typeface="Arial" panose="020B0604020202020204" pitchFamily="34" charset="0"/>
                        </a:rPr>
                        <a:t>NOA，</a:t>
                      </a:r>
                      <a:r>
                        <a:rPr lang="zh-CN" altLang="en-US" sz="1200" b="0" i="0" dirty="0">
                          <a:solidFill>
                            <a:srgbClr val="000000"/>
                          </a:solidFill>
                          <a:effectLst/>
                          <a:latin typeface="Arial" panose="020B0604020202020204" pitchFamily="34" charset="0"/>
                          <a:ea typeface="微软雅黑" panose="020B0503020204020204" pitchFamily="34" charset="-122"/>
                          <a:sym typeface="Arial" panose="020B0604020202020204" pitchFamily="34" charset="0"/>
                        </a:rPr>
                        <a:t>漫游</a:t>
                      </a:r>
                    </a:p>
                  </a:txBody>
                  <a:tcPr marL="0" marR="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latinLnBrk="0">
                        <a:lnSpc>
                          <a:spcPts val="1600"/>
                        </a:lnSpc>
                        <a:buNone/>
                      </a:pPr>
                      <a:r>
                        <a:rPr lang="en-US" sz="1200" b="0" i="0" dirty="0">
                          <a:solidFill>
                            <a:srgbClr val="000000"/>
                          </a:solidFill>
                          <a:effectLst/>
                          <a:latin typeface="Arial" panose="020B0604020202020204" pitchFamily="34" charset="0"/>
                          <a:ea typeface="微软雅黑" panose="020B0503020204020204" pitchFamily="34" charset="-122"/>
                          <a:sym typeface="Arial" panose="020B0604020202020204" pitchFamily="34" charset="0"/>
                        </a:rPr>
                        <a:t>SOP(530)</a:t>
                      </a:r>
                    </a:p>
                  </a:txBody>
                  <a:tcPr marL="0" marR="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759006519"/>
                  </a:ext>
                </a:extLst>
              </a:tr>
              <a:tr h="240081">
                <a:tc vMerge="1">
                  <a:txBody>
                    <a:bodyPr/>
                    <a:lstStyle/>
                    <a:p>
                      <a:endParaRPr lang="zh-CN" altLang="en-US"/>
                    </a:p>
                  </a:txBody>
                  <a:tcPr/>
                </a:tc>
                <a:tc vMerge="1">
                  <a:txBody>
                    <a:bodyPr/>
                    <a:lstStyle/>
                    <a:p>
                      <a:endParaRPr lang="zh-CN" altLang="en-US"/>
                    </a:p>
                  </a:txBody>
                  <a:tcPr/>
                </a:tc>
                <a:tc>
                  <a:txBody>
                    <a:bodyPr/>
                    <a:lstStyle/>
                    <a:p>
                      <a:pPr algn="ctr" fontAlgn="ctr" latinLnBrk="0">
                        <a:lnSpc>
                          <a:spcPts val="1600"/>
                        </a:lnSpc>
                        <a:buNone/>
                      </a:pPr>
                      <a:r>
                        <a:rPr lang="zh-CN" altLang="en-US" sz="1200" b="0" i="0" dirty="0">
                          <a:solidFill>
                            <a:srgbClr val="000000"/>
                          </a:solidFill>
                          <a:effectLst/>
                          <a:latin typeface="Arial" panose="020B0604020202020204" pitchFamily="34" charset="0"/>
                          <a:ea typeface="微软雅黑" panose="020B0503020204020204" pitchFamily="34" charset="-122"/>
                          <a:sym typeface="Arial" panose="020B0604020202020204" pitchFamily="34" charset="0"/>
                        </a:rPr>
                        <a:t>拨杆取消变道</a:t>
                      </a:r>
                    </a:p>
                  </a:txBody>
                  <a:tcPr marL="0" marR="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171450" indent="-171450" algn="l" fontAlgn="ctr" latinLnBrk="0">
                        <a:lnSpc>
                          <a:spcPts val="1600"/>
                        </a:lnSpc>
                        <a:buFont typeface="微软雅黑" panose="020B0503020204020204" pitchFamily="34" charset="-122"/>
                        <a:buChar char="￭"/>
                      </a:pPr>
                      <a:r>
                        <a:rPr lang="zh-CN" altLang="en-US" sz="1200" b="0" i="0" dirty="0">
                          <a:solidFill>
                            <a:srgbClr val="000000"/>
                          </a:solidFill>
                          <a:effectLst/>
                          <a:latin typeface="Arial" panose="020B0604020202020204" pitchFamily="34" charset="0"/>
                          <a:ea typeface="微软雅黑" panose="020B0503020204020204" pitchFamily="34" charset="-122"/>
                          <a:sym typeface="Arial" panose="020B0604020202020204" pitchFamily="34" charset="0"/>
                        </a:rPr>
                        <a:t>驾驶员可通过开启反向拨杆，取消当前正发起的自车车身尚未越线的拨杆变道和主动变道</a:t>
                      </a:r>
                    </a:p>
                  </a:txBody>
                  <a:tcPr marL="72000" marR="7200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latinLnBrk="0">
                        <a:lnSpc>
                          <a:spcPts val="1600"/>
                        </a:lnSpc>
                        <a:buNone/>
                      </a:pPr>
                      <a:r>
                        <a:rPr lang="zh-CN" altLang="en-US" sz="1200" b="0" i="0" dirty="0">
                          <a:solidFill>
                            <a:srgbClr val="000000"/>
                          </a:solidFill>
                          <a:effectLst/>
                          <a:latin typeface="Arial" panose="020B0604020202020204" pitchFamily="34" charset="0"/>
                          <a:ea typeface="微软雅黑" panose="020B0503020204020204" pitchFamily="34" charset="-122"/>
                          <a:sym typeface="Arial" panose="020B0604020202020204" pitchFamily="34" charset="0"/>
                        </a:rPr>
                        <a:t>城区，高速</a:t>
                      </a:r>
                    </a:p>
                  </a:txBody>
                  <a:tcPr marL="0" marR="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latinLnBrk="0">
                        <a:lnSpc>
                          <a:spcPts val="1600"/>
                        </a:lnSpc>
                        <a:buNone/>
                      </a:pPr>
                      <a:r>
                        <a:rPr lang="en-US" sz="1200" b="0" i="0" dirty="0">
                          <a:solidFill>
                            <a:srgbClr val="000000"/>
                          </a:solidFill>
                          <a:effectLst/>
                          <a:latin typeface="Arial" panose="020B0604020202020204" pitchFamily="34" charset="0"/>
                          <a:ea typeface="微软雅黑" panose="020B0503020204020204" pitchFamily="34" charset="-122"/>
                          <a:sym typeface="Arial" panose="020B0604020202020204" pitchFamily="34" charset="0"/>
                        </a:rPr>
                        <a:t>NOA，</a:t>
                      </a:r>
                      <a:r>
                        <a:rPr lang="zh-CN" altLang="en-US" sz="1200" b="0" i="0" dirty="0">
                          <a:solidFill>
                            <a:srgbClr val="000000"/>
                          </a:solidFill>
                          <a:effectLst/>
                          <a:latin typeface="Arial" panose="020B0604020202020204" pitchFamily="34" charset="0"/>
                          <a:ea typeface="微软雅黑" panose="020B0503020204020204" pitchFamily="34" charset="-122"/>
                          <a:sym typeface="Arial" panose="020B0604020202020204" pitchFamily="34" charset="0"/>
                        </a:rPr>
                        <a:t>漫游</a:t>
                      </a:r>
                    </a:p>
                  </a:txBody>
                  <a:tcPr marL="0" marR="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latinLnBrk="0">
                        <a:lnSpc>
                          <a:spcPts val="1600"/>
                        </a:lnSpc>
                        <a:buNone/>
                      </a:pPr>
                      <a:r>
                        <a:rPr lang="en-US" sz="1200" b="0" i="0" dirty="0">
                          <a:solidFill>
                            <a:srgbClr val="000000"/>
                          </a:solidFill>
                          <a:effectLst/>
                          <a:latin typeface="Arial" panose="020B0604020202020204" pitchFamily="34" charset="0"/>
                          <a:ea typeface="微软雅黑" panose="020B0503020204020204" pitchFamily="34" charset="-122"/>
                          <a:sym typeface="Arial" panose="020B0604020202020204" pitchFamily="34" charset="0"/>
                        </a:rPr>
                        <a:t>SOP(530)</a:t>
                      </a:r>
                    </a:p>
                  </a:txBody>
                  <a:tcPr marL="0" marR="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069784139"/>
                  </a:ext>
                </a:extLst>
              </a:tr>
              <a:tr h="417350">
                <a:tc vMerge="1">
                  <a:txBody>
                    <a:bodyPr/>
                    <a:lstStyle/>
                    <a:p>
                      <a:endParaRPr lang="zh-CN" altLang="en-US"/>
                    </a:p>
                  </a:txBody>
                  <a:tcPr/>
                </a:tc>
                <a:tc vMerge="1">
                  <a:txBody>
                    <a:bodyPr/>
                    <a:lstStyle/>
                    <a:p>
                      <a:endParaRPr lang="zh-CN" altLang="en-US"/>
                    </a:p>
                  </a:txBody>
                  <a:tcPr/>
                </a:tc>
                <a:tc>
                  <a:txBody>
                    <a:bodyPr/>
                    <a:lstStyle/>
                    <a:p>
                      <a:pPr algn="ctr" fontAlgn="ctr" latinLnBrk="0">
                        <a:lnSpc>
                          <a:spcPts val="1600"/>
                        </a:lnSpc>
                        <a:buNone/>
                      </a:pPr>
                      <a:r>
                        <a:rPr lang="zh-CN" altLang="en-US" sz="1200" b="0" i="0" dirty="0">
                          <a:solidFill>
                            <a:srgbClr val="000000"/>
                          </a:solidFill>
                          <a:effectLst/>
                          <a:latin typeface="Arial" panose="020B0604020202020204" pitchFamily="34" charset="0"/>
                          <a:ea typeface="微软雅黑" panose="020B0503020204020204" pitchFamily="34" charset="-122"/>
                          <a:sym typeface="Arial" panose="020B0604020202020204" pitchFamily="34" charset="0"/>
                        </a:rPr>
                        <a:t>导航变道</a:t>
                      </a:r>
                    </a:p>
                  </a:txBody>
                  <a:tcPr marL="0" marR="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171450" indent="-171450" algn="l" fontAlgn="ctr" latinLnBrk="0">
                        <a:lnSpc>
                          <a:spcPts val="1600"/>
                        </a:lnSpc>
                        <a:buFont typeface="微软雅黑" panose="020B0503020204020204" pitchFamily="34" charset="-122"/>
                        <a:buChar char="￭"/>
                      </a:pPr>
                      <a:r>
                        <a:rPr lang="zh-CN" altLang="en-US" sz="1200" b="0" i="0" dirty="0">
                          <a:solidFill>
                            <a:srgbClr val="000000"/>
                          </a:solidFill>
                          <a:effectLst/>
                          <a:latin typeface="Arial" panose="020B0604020202020204" pitchFamily="34" charset="0"/>
                          <a:ea typeface="微软雅黑" panose="020B0503020204020204" pitchFamily="34" charset="-122"/>
                          <a:sym typeface="Arial" panose="020B0604020202020204" pitchFamily="34" charset="0"/>
                        </a:rPr>
                        <a:t>基于导航的路线规划，在进入另一条道路之前，控制车辆从当前车道变道驶入行驶方向满足进入下一条道路要求的车道，使车辆按照导航规划的路线行驶</a:t>
                      </a:r>
                    </a:p>
                  </a:txBody>
                  <a:tcPr marL="72000" marR="7200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latinLnBrk="0">
                        <a:lnSpc>
                          <a:spcPts val="1600"/>
                        </a:lnSpc>
                        <a:buNone/>
                      </a:pPr>
                      <a:r>
                        <a:rPr lang="zh-CN" altLang="en-US" sz="1200" b="0" i="0" dirty="0">
                          <a:solidFill>
                            <a:srgbClr val="000000"/>
                          </a:solidFill>
                          <a:effectLst/>
                          <a:latin typeface="Arial" panose="020B0604020202020204" pitchFamily="34" charset="0"/>
                          <a:ea typeface="微软雅黑" panose="020B0503020204020204" pitchFamily="34" charset="-122"/>
                          <a:sym typeface="Arial" panose="020B0604020202020204" pitchFamily="34" charset="0"/>
                        </a:rPr>
                        <a:t>城区，高速</a:t>
                      </a:r>
                    </a:p>
                  </a:txBody>
                  <a:tcPr marL="0" marR="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latinLnBrk="0">
                        <a:lnSpc>
                          <a:spcPts val="1600"/>
                        </a:lnSpc>
                        <a:buNone/>
                      </a:pPr>
                      <a:r>
                        <a:rPr lang="en-US" sz="1200" b="0" i="0" dirty="0">
                          <a:solidFill>
                            <a:srgbClr val="000000"/>
                          </a:solidFill>
                          <a:effectLst/>
                          <a:latin typeface="Arial" panose="020B0604020202020204" pitchFamily="34" charset="0"/>
                          <a:ea typeface="微软雅黑" panose="020B0503020204020204" pitchFamily="34" charset="-122"/>
                          <a:sym typeface="Arial" panose="020B0604020202020204" pitchFamily="34" charset="0"/>
                        </a:rPr>
                        <a:t>NOA</a:t>
                      </a:r>
                    </a:p>
                  </a:txBody>
                  <a:tcPr marL="0" marR="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latinLnBrk="0">
                        <a:lnSpc>
                          <a:spcPts val="1600"/>
                        </a:lnSpc>
                        <a:buNone/>
                      </a:pPr>
                      <a:r>
                        <a:rPr lang="en-US" sz="1200" b="0" i="0" dirty="0">
                          <a:solidFill>
                            <a:srgbClr val="000000"/>
                          </a:solidFill>
                          <a:effectLst/>
                          <a:latin typeface="Arial" panose="020B0604020202020204" pitchFamily="34" charset="0"/>
                          <a:ea typeface="微软雅黑" panose="020B0503020204020204" pitchFamily="34" charset="-122"/>
                          <a:sym typeface="Arial" panose="020B0604020202020204" pitchFamily="34" charset="0"/>
                        </a:rPr>
                        <a:t>SOP(530)</a:t>
                      </a:r>
                    </a:p>
                  </a:txBody>
                  <a:tcPr marL="0" marR="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454109324"/>
                  </a:ext>
                </a:extLst>
              </a:tr>
              <a:tr h="240081">
                <a:tc vMerge="1">
                  <a:txBody>
                    <a:bodyPr/>
                    <a:lstStyle/>
                    <a:p>
                      <a:endParaRPr lang="zh-CN" altLang="en-US"/>
                    </a:p>
                  </a:txBody>
                  <a:tcPr/>
                </a:tc>
                <a:tc vMerge="1">
                  <a:txBody>
                    <a:bodyPr/>
                    <a:lstStyle/>
                    <a:p>
                      <a:endParaRPr lang="zh-CN" altLang="en-US"/>
                    </a:p>
                  </a:txBody>
                  <a:tcPr/>
                </a:tc>
                <a:tc>
                  <a:txBody>
                    <a:bodyPr/>
                    <a:lstStyle/>
                    <a:p>
                      <a:pPr algn="ctr" fontAlgn="ctr" latinLnBrk="0">
                        <a:lnSpc>
                          <a:spcPts val="1600"/>
                        </a:lnSpc>
                        <a:buNone/>
                      </a:pPr>
                      <a:r>
                        <a:rPr lang="zh-CN" altLang="en-US" sz="1200" b="0" i="0" dirty="0">
                          <a:solidFill>
                            <a:srgbClr val="000000"/>
                          </a:solidFill>
                          <a:effectLst/>
                          <a:latin typeface="Arial" panose="020B0604020202020204" pitchFamily="34" charset="0"/>
                          <a:ea typeface="微软雅黑" panose="020B0503020204020204" pitchFamily="34" charset="-122"/>
                          <a:sym typeface="Arial" panose="020B0604020202020204" pitchFamily="34" charset="0"/>
                        </a:rPr>
                        <a:t>效率变道</a:t>
                      </a:r>
                    </a:p>
                  </a:txBody>
                  <a:tcPr marL="0" marR="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171450" indent="-171450" algn="l" fontAlgn="ctr" latinLnBrk="0">
                        <a:lnSpc>
                          <a:spcPts val="1600"/>
                        </a:lnSpc>
                        <a:buFont typeface="微软雅黑" panose="020B0503020204020204" pitchFamily="34" charset="-122"/>
                        <a:buChar char="￭"/>
                      </a:pPr>
                      <a:r>
                        <a:rPr lang="zh-CN" altLang="en-US" sz="1200" b="0" i="0" dirty="0">
                          <a:solidFill>
                            <a:srgbClr val="000000"/>
                          </a:solidFill>
                          <a:effectLst/>
                          <a:latin typeface="Arial" panose="020B0604020202020204" pitchFamily="34" charset="0"/>
                          <a:ea typeface="微软雅黑" panose="020B0503020204020204" pitchFamily="34" charset="-122"/>
                          <a:sym typeface="Arial" panose="020B0604020202020204" pitchFamily="34" charset="0"/>
                        </a:rPr>
                        <a:t>被前方慢车持续压速时，旁侧相邻车道通行效率较高，系统变道旁车道</a:t>
                      </a:r>
                    </a:p>
                  </a:txBody>
                  <a:tcPr marL="72000" marR="7200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latinLnBrk="0">
                        <a:lnSpc>
                          <a:spcPts val="1600"/>
                        </a:lnSpc>
                        <a:buNone/>
                      </a:pPr>
                      <a:r>
                        <a:rPr lang="zh-CN" altLang="en-US" sz="1200" b="0" i="0" dirty="0">
                          <a:solidFill>
                            <a:srgbClr val="000000"/>
                          </a:solidFill>
                          <a:effectLst/>
                          <a:latin typeface="Arial" panose="020B0604020202020204" pitchFamily="34" charset="0"/>
                          <a:ea typeface="微软雅黑" panose="020B0503020204020204" pitchFamily="34" charset="-122"/>
                          <a:sym typeface="Arial" panose="020B0604020202020204" pitchFamily="34" charset="0"/>
                        </a:rPr>
                        <a:t>城区，高速</a:t>
                      </a:r>
                    </a:p>
                  </a:txBody>
                  <a:tcPr marL="0" marR="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latinLnBrk="0">
                        <a:lnSpc>
                          <a:spcPts val="1600"/>
                        </a:lnSpc>
                        <a:buNone/>
                      </a:pPr>
                      <a:r>
                        <a:rPr lang="en-US" sz="1200" b="0" i="0" dirty="0">
                          <a:solidFill>
                            <a:srgbClr val="000000"/>
                          </a:solidFill>
                          <a:effectLst/>
                          <a:latin typeface="Arial" panose="020B0604020202020204" pitchFamily="34" charset="0"/>
                          <a:ea typeface="微软雅黑" panose="020B0503020204020204" pitchFamily="34" charset="-122"/>
                          <a:sym typeface="Arial" panose="020B0604020202020204" pitchFamily="34" charset="0"/>
                        </a:rPr>
                        <a:t>NOA，</a:t>
                      </a:r>
                      <a:r>
                        <a:rPr lang="zh-CN" altLang="en-US" sz="1200" b="0" i="0" dirty="0">
                          <a:solidFill>
                            <a:srgbClr val="000000"/>
                          </a:solidFill>
                          <a:effectLst/>
                          <a:latin typeface="Arial" panose="020B0604020202020204" pitchFamily="34" charset="0"/>
                          <a:ea typeface="微软雅黑" panose="020B0503020204020204" pitchFamily="34" charset="-122"/>
                          <a:sym typeface="Arial" panose="020B0604020202020204" pitchFamily="34" charset="0"/>
                        </a:rPr>
                        <a:t>漫游</a:t>
                      </a:r>
                    </a:p>
                  </a:txBody>
                  <a:tcPr marL="0" marR="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latinLnBrk="0">
                        <a:lnSpc>
                          <a:spcPts val="1600"/>
                        </a:lnSpc>
                        <a:buNone/>
                      </a:pPr>
                      <a:r>
                        <a:rPr lang="en-US" sz="1200" b="0" i="0" dirty="0">
                          <a:solidFill>
                            <a:srgbClr val="000000"/>
                          </a:solidFill>
                          <a:effectLst/>
                          <a:latin typeface="Arial" panose="020B0604020202020204" pitchFamily="34" charset="0"/>
                          <a:ea typeface="微软雅黑" panose="020B0503020204020204" pitchFamily="34" charset="-122"/>
                          <a:sym typeface="Arial" panose="020B0604020202020204" pitchFamily="34" charset="0"/>
                        </a:rPr>
                        <a:t>SOP(530)</a:t>
                      </a:r>
                    </a:p>
                  </a:txBody>
                  <a:tcPr marL="0" marR="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20951431"/>
                  </a:ext>
                </a:extLst>
              </a:tr>
              <a:tr h="240081">
                <a:tc vMerge="1">
                  <a:txBody>
                    <a:bodyPr/>
                    <a:lstStyle/>
                    <a:p>
                      <a:endParaRPr lang="zh-CN" altLang="en-US"/>
                    </a:p>
                  </a:txBody>
                  <a:tcPr/>
                </a:tc>
                <a:tc vMerge="1">
                  <a:txBody>
                    <a:bodyPr/>
                    <a:lstStyle/>
                    <a:p>
                      <a:endParaRPr lang="zh-CN" altLang="en-US"/>
                    </a:p>
                  </a:txBody>
                  <a:tcPr/>
                </a:tc>
                <a:tc>
                  <a:txBody>
                    <a:bodyPr/>
                    <a:lstStyle/>
                    <a:p>
                      <a:pPr algn="ctr" fontAlgn="ctr" latinLnBrk="0">
                        <a:lnSpc>
                          <a:spcPts val="1600"/>
                        </a:lnSpc>
                        <a:buNone/>
                      </a:pPr>
                      <a:r>
                        <a:rPr lang="zh-CN" altLang="en-US" sz="1200" b="0" i="0" dirty="0">
                          <a:solidFill>
                            <a:srgbClr val="000000"/>
                          </a:solidFill>
                          <a:effectLst/>
                          <a:latin typeface="Arial" panose="020B0604020202020204" pitchFamily="34" charset="0"/>
                          <a:ea typeface="微软雅黑" panose="020B0503020204020204" pitchFamily="34" charset="-122"/>
                          <a:sym typeface="Arial" panose="020B0604020202020204" pitchFamily="34" charset="0"/>
                        </a:rPr>
                        <a:t>拥堵变道</a:t>
                      </a:r>
                    </a:p>
                  </a:txBody>
                  <a:tcPr marL="0" marR="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171450" indent="-171450" algn="l" fontAlgn="ctr" latinLnBrk="0">
                        <a:lnSpc>
                          <a:spcPts val="1600"/>
                        </a:lnSpc>
                        <a:buFont typeface="微软雅黑" panose="020B0503020204020204" pitchFamily="34" charset="-122"/>
                        <a:buChar char="￭"/>
                      </a:pPr>
                      <a:r>
                        <a:rPr lang="zh-CN" altLang="en-US" sz="1200" b="0" i="0" dirty="0">
                          <a:solidFill>
                            <a:srgbClr val="000000"/>
                          </a:solidFill>
                          <a:effectLst/>
                          <a:latin typeface="Arial" panose="020B0604020202020204" pitchFamily="34" charset="0"/>
                          <a:ea typeface="微软雅黑" panose="020B0503020204020204" pitchFamily="34" charset="-122"/>
                          <a:sym typeface="Arial" panose="020B0604020202020204" pitchFamily="34" charset="0"/>
                        </a:rPr>
                        <a:t>遇拥堵场景，系统可加塞变道</a:t>
                      </a:r>
                    </a:p>
                  </a:txBody>
                  <a:tcPr marL="72000" marR="7200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latinLnBrk="0">
                        <a:lnSpc>
                          <a:spcPts val="1600"/>
                        </a:lnSpc>
                        <a:buNone/>
                      </a:pPr>
                      <a:r>
                        <a:rPr lang="zh-CN" altLang="en-US" sz="1200" b="0" i="0" dirty="0">
                          <a:solidFill>
                            <a:srgbClr val="000000"/>
                          </a:solidFill>
                          <a:effectLst/>
                          <a:latin typeface="Arial" panose="020B0604020202020204" pitchFamily="34" charset="0"/>
                          <a:ea typeface="微软雅黑" panose="020B0503020204020204" pitchFamily="34" charset="-122"/>
                          <a:sym typeface="Arial" panose="020B0604020202020204" pitchFamily="34" charset="0"/>
                        </a:rPr>
                        <a:t>城区，高速</a:t>
                      </a:r>
                    </a:p>
                  </a:txBody>
                  <a:tcPr marL="0" marR="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latinLnBrk="0">
                        <a:lnSpc>
                          <a:spcPts val="1600"/>
                        </a:lnSpc>
                        <a:buNone/>
                      </a:pPr>
                      <a:r>
                        <a:rPr lang="en-US" sz="1200" b="0" i="0" dirty="0">
                          <a:solidFill>
                            <a:srgbClr val="000000"/>
                          </a:solidFill>
                          <a:effectLst/>
                          <a:latin typeface="Arial" panose="020B0604020202020204" pitchFamily="34" charset="0"/>
                          <a:ea typeface="微软雅黑" panose="020B0503020204020204" pitchFamily="34" charset="-122"/>
                          <a:sym typeface="Arial" panose="020B0604020202020204" pitchFamily="34" charset="0"/>
                        </a:rPr>
                        <a:t>NOA，</a:t>
                      </a:r>
                      <a:r>
                        <a:rPr lang="zh-CN" altLang="en-US" sz="1200" b="0" i="0" dirty="0">
                          <a:solidFill>
                            <a:srgbClr val="000000"/>
                          </a:solidFill>
                          <a:effectLst/>
                          <a:latin typeface="Arial" panose="020B0604020202020204" pitchFamily="34" charset="0"/>
                          <a:ea typeface="微软雅黑" panose="020B0503020204020204" pitchFamily="34" charset="-122"/>
                          <a:sym typeface="Arial" panose="020B0604020202020204" pitchFamily="34" charset="0"/>
                        </a:rPr>
                        <a:t>漫游</a:t>
                      </a:r>
                    </a:p>
                  </a:txBody>
                  <a:tcPr marL="0" marR="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latinLnBrk="0">
                        <a:lnSpc>
                          <a:spcPts val="1600"/>
                        </a:lnSpc>
                        <a:buNone/>
                      </a:pPr>
                      <a:r>
                        <a:rPr lang="en-US" sz="1200" b="0" i="0" dirty="0">
                          <a:solidFill>
                            <a:srgbClr val="000000"/>
                          </a:solidFill>
                          <a:effectLst/>
                          <a:latin typeface="Arial" panose="020B0604020202020204" pitchFamily="34" charset="0"/>
                          <a:ea typeface="微软雅黑" panose="020B0503020204020204" pitchFamily="34" charset="-122"/>
                          <a:sym typeface="Arial" panose="020B0604020202020204" pitchFamily="34" charset="0"/>
                        </a:rPr>
                        <a:t>SOP(530)</a:t>
                      </a:r>
                    </a:p>
                  </a:txBody>
                  <a:tcPr marL="0" marR="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5125430"/>
                  </a:ext>
                </a:extLst>
              </a:tr>
              <a:tr h="771888">
                <a:tc vMerge="1">
                  <a:txBody>
                    <a:bodyPr/>
                    <a:lstStyle/>
                    <a:p>
                      <a:endParaRPr lang="zh-CN" altLang="en-US"/>
                    </a:p>
                  </a:txBody>
                  <a:tcPr/>
                </a:tc>
                <a:tc vMerge="1">
                  <a:txBody>
                    <a:bodyPr/>
                    <a:lstStyle/>
                    <a:p>
                      <a:endParaRPr lang="zh-CN" altLang="en-US"/>
                    </a:p>
                  </a:txBody>
                  <a:tcPr/>
                </a:tc>
                <a:tc>
                  <a:txBody>
                    <a:bodyPr/>
                    <a:lstStyle/>
                    <a:p>
                      <a:pPr algn="ctr" fontAlgn="ctr" latinLnBrk="0">
                        <a:lnSpc>
                          <a:spcPts val="1600"/>
                        </a:lnSpc>
                        <a:buNone/>
                      </a:pPr>
                      <a:r>
                        <a:rPr lang="zh-CN" altLang="en-US" sz="1200" b="0" i="0" dirty="0">
                          <a:solidFill>
                            <a:srgbClr val="000000"/>
                          </a:solidFill>
                          <a:effectLst/>
                          <a:latin typeface="Arial" panose="020B0604020202020204" pitchFamily="34" charset="0"/>
                          <a:ea typeface="微软雅黑" panose="020B0503020204020204" pitchFamily="34" charset="-122"/>
                          <a:sym typeface="Arial" panose="020B0604020202020204" pitchFamily="34" charset="0"/>
                        </a:rPr>
                        <a:t>风险变道</a:t>
                      </a:r>
                    </a:p>
                  </a:txBody>
                  <a:tcPr marL="0" marR="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171450" indent="-171450" algn="l" fontAlgn="ctr" latinLnBrk="0">
                        <a:lnSpc>
                          <a:spcPts val="1600"/>
                        </a:lnSpc>
                        <a:buFont typeface="微软雅黑" panose="020B0503020204020204" pitchFamily="34" charset="-122"/>
                        <a:buChar char="￭"/>
                      </a:pPr>
                      <a:r>
                        <a:rPr lang="zh-CN" altLang="en-US" sz="1200" b="0" i="0" dirty="0">
                          <a:solidFill>
                            <a:srgbClr val="000000"/>
                          </a:solidFill>
                          <a:effectLst/>
                          <a:latin typeface="Arial" panose="020B0604020202020204" pitchFamily="34" charset="0"/>
                          <a:ea typeface="微软雅黑" panose="020B0503020204020204" pitchFamily="34" charset="-122"/>
                          <a:sym typeface="Arial" panose="020B0604020202020204" pitchFamily="34" charset="0"/>
                        </a:rPr>
                        <a:t>远离右</a:t>
                      </a:r>
                      <a:r>
                        <a:rPr lang="en-US" altLang="zh-CN" sz="1200" b="0" i="0" dirty="0">
                          <a:solidFill>
                            <a:srgbClr val="000000"/>
                          </a:solidFill>
                          <a:effectLst/>
                          <a:latin typeface="Arial" panose="020B0604020202020204" pitchFamily="34" charset="0"/>
                          <a:ea typeface="微软雅黑" panose="020B0503020204020204" pitchFamily="34" charset="-122"/>
                          <a:sym typeface="Arial" panose="020B0604020202020204" pitchFamily="34" charset="0"/>
                        </a:rPr>
                        <a:t>1</a:t>
                      </a:r>
                      <a:r>
                        <a:rPr lang="zh-CN" altLang="en-US" sz="1200" b="0" i="0" dirty="0">
                          <a:solidFill>
                            <a:srgbClr val="000000"/>
                          </a:solidFill>
                          <a:effectLst/>
                          <a:latin typeface="Arial" panose="020B0604020202020204" pitchFamily="34" charset="0"/>
                          <a:ea typeface="微软雅黑" panose="020B0503020204020204" pitchFamily="34" charset="-122"/>
                          <a:sym typeface="Arial" panose="020B0604020202020204" pitchFamily="34" charset="0"/>
                        </a:rPr>
                        <a:t>车道：高速</a:t>
                      </a:r>
                      <a:r>
                        <a:rPr lang="en-US" altLang="zh-CN" sz="1200" b="0" i="0" dirty="0">
                          <a:solidFill>
                            <a:srgbClr val="000000"/>
                          </a:solidFill>
                          <a:effectLst/>
                          <a:latin typeface="Arial" panose="020B0604020202020204" pitchFamily="34" charset="0"/>
                          <a:ea typeface="微软雅黑" panose="020B0503020204020204" pitchFamily="34" charset="-122"/>
                          <a:sym typeface="Arial" panose="020B0604020202020204" pitchFamily="34" charset="0"/>
                        </a:rPr>
                        <a:t>/</a:t>
                      </a:r>
                      <a:r>
                        <a:rPr lang="zh-CN" altLang="en-US" sz="1200" b="0" i="0" dirty="0">
                          <a:solidFill>
                            <a:srgbClr val="000000"/>
                          </a:solidFill>
                          <a:effectLst/>
                          <a:latin typeface="Arial" panose="020B0604020202020204" pitchFamily="34" charset="0"/>
                          <a:ea typeface="微软雅黑" panose="020B0503020204020204" pitchFamily="34" charset="-122"/>
                          <a:sym typeface="Arial" panose="020B0604020202020204" pitchFamily="34" charset="0"/>
                        </a:rPr>
                        <a:t>高架 </a:t>
                      </a:r>
                      <a:r>
                        <a:rPr lang="en-US" altLang="zh-CN" sz="1200" b="0" i="0" dirty="0">
                          <a:solidFill>
                            <a:srgbClr val="000000"/>
                          </a:solidFill>
                          <a:effectLst/>
                          <a:latin typeface="Arial" panose="020B0604020202020204" pitchFamily="34" charset="0"/>
                          <a:ea typeface="微软雅黑" panose="020B0503020204020204" pitchFamily="34" charset="-122"/>
                          <a:sym typeface="Arial" panose="020B0604020202020204" pitchFamily="34" charset="0"/>
                        </a:rPr>
                        <a:t>3 </a:t>
                      </a:r>
                      <a:r>
                        <a:rPr lang="zh-CN" altLang="en-US" sz="1200" b="0" i="0" dirty="0">
                          <a:solidFill>
                            <a:srgbClr val="000000"/>
                          </a:solidFill>
                          <a:effectLst/>
                          <a:latin typeface="Arial" panose="020B0604020202020204" pitchFamily="34" charset="0"/>
                          <a:ea typeface="微软雅黑" panose="020B0503020204020204" pitchFamily="34" charset="-122"/>
                          <a:sym typeface="Arial" panose="020B0604020202020204" pitchFamily="34" charset="0"/>
                        </a:rPr>
                        <a:t>车道及以上，需尽量远离右</a:t>
                      </a:r>
                      <a:r>
                        <a:rPr lang="en-US" altLang="zh-CN" sz="1200" b="0" i="0" dirty="0">
                          <a:solidFill>
                            <a:srgbClr val="000000"/>
                          </a:solidFill>
                          <a:effectLst/>
                          <a:latin typeface="Arial" panose="020B0604020202020204" pitchFamily="34" charset="0"/>
                          <a:ea typeface="微软雅黑" panose="020B0503020204020204" pitchFamily="34" charset="-122"/>
                          <a:sym typeface="Arial" panose="020B0604020202020204" pitchFamily="34" charset="0"/>
                        </a:rPr>
                        <a:t>1</a:t>
                      </a:r>
                      <a:r>
                        <a:rPr lang="zh-CN" altLang="en-US" sz="1200" b="0" i="0" dirty="0">
                          <a:solidFill>
                            <a:srgbClr val="000000"/>
                          </a:solidFill>
                          <a:effectLst/>
                          <a:latin typeface="Arial" panose="020B0604020202020204" pitchFamily="34" charset="0"/>
                          <a:ea typeface="微软雅黑" panose="020B0503020204020204" pitchFamily="34" charset="-122"/>
                          <a:sym typeface="Arial" panose="020B0604020202020204" pitchFamily="34" charset="0"/>
                        </a:rPr>
                        <a:t>车道</a:t>
                      </a:r>
                      <a:endParaRPr lang="en-US" altLang="zh-CN" sz="1200" b="0" i="0" dirty="0">
                        <a:solidFill>
                          <a:srgbClr val="000000"/>
                        </a:solidFill>
                        <a:effectLst/>
                        <a:latin typeface="Arial" panose="020B0604020202020204" pitchFamily="34" charset="0"/>
                        <a:ea typeface="微软雅黑" panose="020B0503020204020204" pitchFamily="34" charset="-122"/>
                        <a:sym typeface="Arial" panose="020B0604020202020204" pitchFamily="34" charset="0"/>
                      </a:endParaRPr>
                    </a:p>
                    <a:p>
                      <a:pPr marL="171450" indent="-171450" algn="l" fontAlgn="ctr" latinLnBrk="0">
                        <a:lnSpc>
                          <a:spcPts val="1600"/>
                        </a:lnSpc>
                        <a:buFont typeface="微软雅黑" panose="020B0503020204020204" pitchFamily="34" charset="-122"/>
                        <a:buChar char="￭"/>
                      </a:pPr>
                      <a:r>
                        <a:rPr lang="zh-CN" altLang="en-US" sz="1200" b="0" i="0" dirty="0">
                          <a:solidFill>
                            <a:srgbClr val="000000"/>
                          </a:solidFill>
                          <a:effectLst/>
                          <a:latin typeface="Arial" panose="020B0604020202020204" pitchFamily="34" charset="0"/>
                          <a:ea typeface="微软雅黑" panose="020B0503020204020204" pitchFamily="34" charset="-122"/>
                          <a:sym typeface="Arial" panose="020B0604020202020204" pitchFamily="34" charset="0"/>
                        </a:rPr>
                        <a:t>远离大车变道：高速</a:t>
                      </a:r>
                      <a:r>
                        <a:rPr lang="en-US" altLang="zh-CN" sz="1200" b="0" i="0" dirty="0">
                          <a:solidFill>
                            <a:srgbClr val="000000"/>
                          </a:solidFill>
                          <a:effectLst/>
                          <a:latin typeface="Arial" panose="020B0604020202020204" pitchFamily="34" charset="0"/>
                          <a:ea typeface="微软雅黑" panose="020B0503020204020204" pitchFamily="34" charset="-122"/>
                          <a:sym typeface="Arial" panose="020B0604020202020204" pitchFamily="34" charset="0"/>
                        </a:rPr>
                        <a:t>/</a:t>
                      </a:r>
                      <a:r>
                        <a:rPr lang="zh-CN" altLang="en-US" sz="1200" b="0" i="0" dirty="0">
                          <a:solidFill>
                            <a:srgbClr val="000000"/>
                          </a:solidFill>
                          <a:effectLst/>
                          <a:latin typeface="Arial" panose="020B0604020202020204" pitchFamily="34" charset="0"/>
                          <a:ea typeface="微软雅黑" panose="020B0503020204020204" pitchFamily="34" charset="-122"/>
                          <a:sym typeface="Arial" panose="020B0604020202020204" pitchFamily="34" charset="0"/>
                        </a:rPr>
                        <a:t>高架 </a:t>
                      </a:r>
                      <a:r>
                        <a:rPr lang="en-US" altLang="zh-CN" sz="1200" b="0" i="0" dirty="0">
                          <a:solidFill>
                            <a:srgbClr val="000000"/>
                          </a:solidFill>
                          <a:effectLst/>
                          <a:latin typeface="Arial" panose="020B0604020202020204" pitchFamily="34" charset="0"/>
                          <a:ea typeface="微软雅黑" panose="020B0503020204020204" pitchFamily="34" charset="-122"/>
                          <a:sym typeface="Arial" panose="020B0604020202020204" pitchFamily="34" charset="0"/>
                        </a:rPr>
                        <a:t>3 </a:t>
                      </a:r>
                      <a:r>
                        <a:rPr lang="zh-CN" altLang="en-US" sz="1200" b="0" i="0" dirty="0">
                          <a:solidFill>
                            <a:srgbClr val="000000"/>
                          </a:solidFill>
                          <a:effectLst/>
                          <a:latin typeface="Arial" panose="020B0604020202020204" pitchFamily="34" charset="0"/>
                          <a:ea typeface="微软雅黑" panose="020B0503020204020204" pitchFamily="34" charset="-122"/>
                          <a:sym typeface="Arial" panose="020B0604020202020204" pitchFamily="34" charset="0"/>
                        </a:rPr>
                        <a:t>车道及以上，前方右侧车道存在超长大车</a:t>
                      </a:r>
                      <a:r>
                        <a:rPr lang="en-US" altLang="zh-CN" sz="1200" b="0" i="0" dirty="0">
                          <a:solidFill>
                            <a:srgbClr val="000000"/>
                          </a:solidFill>
                          <a:effectLst/>
                          <a:latin typeface="Arial" panose="020B0604020202020204" pitchFamily="34" charset="0"/>
                          <a:ea typeface="微软雅黑" panose="020B0503020204020204" pitchFamily="34" charset="-122"/>
                          <a:sym typeface="Arial" panose="020B0604020202020204" pitchFamily="34" charset="0"/>
                        </a:rPr>
                        <a:t>&amp;</a:t>
                      </a:r>
                      <a:r>
                        <a:rPr lang="zh-CN" altLang="en-US" sz="1200" b="0" i="0" dirty="0">
                          <a:solidFill>
                            <a:srgbClr val="000000"/>
                          </a:solidFill>
                          <a:effectLst/>
                          <a:latin typeface="Arial" panose="020B0604020202020204" pitchFamily="34" charset="0"/>
                          <a:ea typeface="微软雅黑" panose="020B0503020204020204" pitchFamily="34" charset="-122"/>
                          <a:sym typeface="Arial" panose="020B0604020202020204" pitchFamily="34" charset="0"/>
                        </a:rPr>
                        <a:t>邻车道没有目标车时，触发远离大车变道</a:t>
                      </a:r>
                      <a:endParaRPr lang="en-US" altLang="zh-CN" sz="1200" b="0" i="0" dirty="0">
                        <a:solidFill>
                          <a:srgbClr val="000000"/>
                        </a:solidFill>
                        <a:effectLst/>
                        <a:latin typeface="Arial" panose="020B0604020202020204" pitchFamily="34" charset="0"/>
                        <a:ea typeface="微软雅黑" panose="020B0503020204020204" pitchFamily="34" charset="-122"/>
                        <a:sym typeface="Arial" panose="020B0604020202020204" pitchFamily="34" charset="0"/>
                      </a:endParaRPr>
                    </a:p>
                    <a:p>
                      <a:pPr marL="171450" indent="-171450" algn="l" fontAlgn="ctr" latinLnBrk="0">
                        <a:lnSpc>
                          <a:spcPts val="1600"/>
                        </a:lnSpc>
                        <a:buFont typeface="微软雅黑" panose="020B0503020204020204" pitchFamily="34" charset="-122"/>
                        <a:buChar char="￭"/>
                      </a:pPr>
                      <a:r>
                        <a:rPr lang="zh-CN" altLang="en-US" sz="1200" b="0" i="0" dirty="0">
                          <a:solidFill>
                            <a:srgbClr val="000000"/>
                          </a:solidFill>
                          <a:effectLst/>
                          <a:latin typeface="Arial" panose="020B0604020202020204" pitchFamily="34" charset="0"/>
                          <a:ea typeface="微软雅黑" panose="020B0503020204020204" pitchFamily="34" charset="-122"/>
                          <a:sym typeface="Arial" panose="020B0604020202020204" pitchFamily="34" charset="0"/>
                        </a:rPr>
                        <a:t>避让汇流口变道：高速</a:t>
                      </a:r>
                      <a:r>
                        <a:rPr lang="en-US" altLang="zh-CN" sz="1200" b="0" i="0" dirty="0">
                          <a:solidFill>
                            <a:srgbClr val="000000"/>
                          </a:solidFill>
                          <a:effectLst/>
                          <a:latin typeface="Arial" panose="020B0604020202020204" pitchFamily="34" charset="0"/>
                          <a:ea typeface="微软雅黑" panose="020B0503020204020204" pitchFamily="34" charset="-122"/>
                          <a:sym typeface="Arial" panose="020B0604020202020204" pitchFamily="34" charset="0"/>
                        </a:rPr>
                        <a:t>/</a:t>
                      </a:r>
                      <a:r>
                        <a:rPr lang="zh-CN" altLang="en-US" sz="1200" b="0" i="0" dirty="0">
                          <a:solidFill>
                            <a:srgbClr val="000000"/>
                          </a:solidFill>
                          <a:effectLst/>
                          <a:latin typeface="Arial" panose="020B0604020202020204" pitchFamily="34" charset="0"/>
                          <a:ea typeface="微软雅黑" panose="020B0503020204020204" pitchFamily="34" charset="-122"/>
                          <a:sym typeface="Arial" panose="020B0604020202020204" pitchFamily="34" charset="0"/>
                        </a:rPr>
                        <a:t>高架，前方道路右侧有汇入口，需尽量远离右</a:t>
                      </a:r>
                      <a:r>
                        <a:rPr lang="en-US" altLang="zh-CN" sz="1200" b="0" i="0" dirty="0">
                          <a:solidFill>
                            <a:srgbClr val="000000"/>
                          </a:solidFill>
                          <a:effectLst/>
                          <a:latin typeface="Arial" panose="020B0604020202020204" pitchFamily="34" charset="0"/>
                          <a:ea typeface="微软雅黑" panose="020B0503020204020204" pitchFamily="34" charset="-122"/>
                          <a:sym typeface="Arial" panose="020B0604020202020204" pitchFamily="34" charset="0"/>
                        </a:rPr>
                        <a:t>1</a:t>
                      </a:r>
                      <a:r>
                        <a:rPr lang="zh-CN" altLang="en-US" sz="1200" b="0" i="0" dirty="0">
                          <a:solidFill>
                            <a:srgbClr val="000000"/>
                          </a:solidFill>
                          <a:effectLst/>
                          <a:latin typeface="Arial" panose="020B0604020202020204" pitchFamily="34" charset="0"/>
                          <a:ea typeface="微软雅黑" panose="020B0503020204020204" pitchFamily="34" charset="-122"/>
                          <a:sym typeface="Arial" panose="020B0604020202020204" pitchFamily="34" charset="0"/>
                        </a:rPr>
                        <a:t>车道</a:t>
                      </a:r>
                    </a:p>
                  </a:txBody>
                  <a:tcPr marL="72000" marR="7200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latinLnBrk="0">
                        <a:lnSpc>
                          <a:spcPts val="1600"/>
                        </a:lnSpc>
                        <a:buNone/>
                      </a:pPr>
                      <a:r>
                        <a:rPr lang="zh-CN" altLang="en-US" sz="1200" b="0" i="0" dirty="0">
                          <a:solidFill>
                            <a:srgbClr val="000000"/>
                          </a:solidFill>
                          <a:effectLst/>
                          <a:latin typeface="Arial" panose="020B0604020202020204" pitchFamily="34" charset="0"/>
                          <a:ea typeface="微软雅黑" panose="020B0503020204020204" pitchFamily="34" charset="-122"/>
                          <a:sym typeface="Arial" panose="020B0604020202020204" pitchFamily="34" charset="0"/>
                        </a:rPr>
                        <a:t>高速</a:t>
                      </a:r>
                    </a:p>
                  </a:txBody>
                  <a:tcPr marL="0" marR="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latinLnBrk="0">
                        <a:lnSpc>
                          <a:spcPts val="1600"/>
                        </a:lnSpc>
                        <a:buNone/>
                      </a:pPr>
                      <a:r>
                        <a:rPr lang="en-US" sz="1200" b="0" i="0" dirty="0">
                          <a:solidFill>
                            <a:srgbClr val="000000"/>
                          </a:solidFill>
                          <a:effectLst/>
                          <a:latin typeface="Arial" panose="020B0604020202020204" pitchFamily="34" charset="0"/>
                          <a:ea typeface="微软雅黑" panose="020B0503020204020204" pitchFamily="34" charset="-122"/>
                          <a:sym typeface="Arial" panose="020B0604020202020204" pitchFamily="34" charset="0"/>
                        </a:rPr>
                        <a:t>NOA，</a:t>
                      </a:r>
                      <a:r>
                        <a:rPr lang="zh-CN" altLang="en-US" sz="1200" b="0" i="0" dirty="0">
                          <a:solidFill>
                            <a:srgbClr val="000000"/>
                          </a:solidFill>
                          <a:effectLst/>
                          <a:latin typeface="Arial" panose="020B0604020202020204" pitchFamily="34" charset="0"/>
                          <a:ea typeface="微软雅黑" panose="020B0503020204020204" pitchFamily="34" charset="-122"/>
                          <a:sym typeface="Arial" panose="020B0604020202020204" pitchFamily="34" charset="0"/>
                        </a:rPr>
                        <a:t>漫游</a:t>
                      </a:r>
                    </a:p>
                  </a:txBody>
                  <a:tcPr marL="0" marR="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latinLnBrk="0">
                        <a:lnSpc>
                          <a:spcPts val="1600"/>
                        </a:lnSpc>
                        <a:buNone/>
                      </a:pPr>
                      <a:r>
                        <a:rPr lang="en-US" sz="1200" b="0" i="0" dirty="0">
                          <a:solidFill>
                            <a:srgbClr val="000000"/>
                          </a:solidFill>
                          <a:effectLst/>
                          <a:latin typeface="Arial" panose="020B0604020202020204" pitchFamily="34" charset="0"/>
                          <a:ea typeface="微软雅黑" panose="020B0503020204020204" pitchFamily="34" charset="-122"/>
                          <a:sym typeface="Arial" panose="020B0604020202020204" pitchFamily="34" charset="0"/>
                        </a:rPr>
                        <a:t>SOP(530)</a:t>
                      </a:r>
                    </a:p>
                  </a:txBody>
                  <a:tcPr marL="0" marR="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679262337"/>
                  </a:ext>
                </a:extLst>
              </a:tr>
              <a:tr h="417350">
                <a:tc vMerge="1">
                  <a:txBody>
                    <a:bodyPr/>
                    <a:lstStyle/>
                    <a:p>
                      <a:endParaRPr lang="zh-CN" altLang="en-US"/>
                    </a:p>
                  </a:txBody>
                  <a:tcPr/>
                </a:tc>
                <a:tc rowSpan="6">
                  <a:txBody>
                    <a:bodyPr/>
                    <a:lstStyle/>
                    <a:p>
                      <a:pPr algn="ctr" fontAlgn="ctr" latinLnBrk="0">
                        <a:lnSpc>
                          <a:spcPts val="1600"/>
                        </a:lnSpc>
                        <a:buNone/>
                      </a:pPr>
                      <a:r>
                        <a:rPr lang="zh-CN" altLang="en-US" sz="1200" b="0" i="0" dirty="0">
                          <a:solidFill>
                            <a:srgbClr val="000000"/>
                          </a:solidFill>
                          <a:effectLst/>
                          <a:latin typeface="Arial" panose="020B0604020202020204" pitchFamily="34" charset="0"/>
                          <a:ea typeface="微软雅黑" panose="020B0503020204020204" pitchFamily="34" charset="-122"/>
                          <a:sym typeface="Arial" panose="020B0604020202020204" pitchFamily="34" charset="0"/>
                        </a:rPr>
                        <a:t>路口通行</a:t>
                      </a:r>
                    </a:p>
                  </a:txBody>
                  <a:tcPr marL="0" marR="0" marT="36000" marB="36000"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914400" rtl="0" eaLnBrk="1" fontAlgn="ctr" latinLnBrk="0" hangingPunct="1">
                        <a:lnSpc>
                          <a:spcPts val="1600"/>
                        </a:lnSpc>
                        <a:buNone/>
                      </a:pPr>
                      <a:r>
                        <a:rPr lang="zh-CN" altLang="en-US" sz="1200" b="0" i="0" kern="1200" dirty="0">
                          <a:solidFill>
                            <a:srgbClr val="000000"/>
                          </a:solidFill>
                          <a:effectLst/>
                          <a:latin typeface="Arial" panose="020B0604020202020204" pitchFamily="34" charset="0"/>
                          <a:ea typeface="微软雅黑" panose="020B0503020204020204" pitchFamily="34" charset="-122"/>
                          <a:cs typeface="+mn-cs"/>
                          <a:sym typeface="Arial" panose="020B0604020202020204" pitchFamily="34" charset="0"/>
                        </a:rPr>
                        <a:t>直行</a:t>
                      </a:r>
                      <a:r>
                        <a:rPr lang="en-US" altLang="zh-CN" sz="1200" b="0" i="0" kern="1200" dirty="0">
                          <a:solidFill>
                            <a:srgbClr val="000000"/>
                          </a:solidFill>
                          <a:effectLst/>
                          <a:latin typeface="Arial" panose="020B0604020202020204" pitchFamily="34" charset="0"/>
                          <a:ea typeface="微软雅黑" panose="020B0503020204020204" pitchFamily="34" charset="-122"/>
                          <a:cs typeface="+mn-cs"/>
                          <a:sym typeface="Arial" panose="020B0604020202020204" pitchFamily="34" charset="0"/>
                        </a:rPr>
                        <a:t>/</a:t>
                      </a:r>
                      <a:r>
                        <a:rPr lang="zh-CN" altLang="en-US" sz="1200" b="0" i="0" kern="1200" dirty="0">
                          <a:solidFill>
                            <a:srgbClr val="000000"/>
                          </a:solidFill>
                          <a:effectLst/>
                          <a:latin typeface="Arial" panose="020B0604020202020204" pitchFamily="34" charset="0"/>
                          <a:ea typeface="微软雅黑" panose="020B0503020204020204" pitchFamily="34" charset="-122"/>
                          <a:cs typeface="+mn-cs"/>
                          <a:sym typeface="Arial" panose="020B0604020202020204" pitchFamily="34" charset="0"/>
                        </a:rPr>
                        <a:t>左转</a:t>
                      </a:r>
                      <a:r>
                        <a:rPr lang="en-US" altLang="zh-CN" sz="1200" b="0" i="0" kern="1200" dirty="0">
                          <a:solidFill>
                            <a:srgbClr val="000000"/>
                          </a:solidFill>
                          <a:effectLst/>
                          <a:latin typeface="Arial" panose="020B0604020202020204" pitchFamily="34" charset="0"/>
                          <a:ea typeface="微软雅黑" panose="020B0503020204020204" pitchFamily="34" charset="-122"/>
                          <a:cs typeface="+mn-cs"/>
                          <a:sym typeface="Arial" panose="020B0604020202020204" pitchFamily="34" charset="0"/>
                        </a:rPr>
                        <a:t>/</a:t>
                      </a:r>
                      <a:r>
                        <a:rPr lang="zh-CN" altLang="en-US" sz="1200" b="0" i="0" kern="1200" dirty="0">
                          <a:solidFill>
                            <a:srgbClr val="000000"/>
                          </a:solidFill>
                          <a:effectLst/>
                          <a:latin typeface="Arial" panose="020B0604020202020204" pitchFamily="34" charset="0"/>
                          <a:ea typeface="微软雅黑" panose="020B0503020204020204" pitchFamily="34" charset="-122"/>
                          <a:cs typeface="+mn-cs"/>
                          <a:sym typeface="Arial" panose="020B0604020202020204" pitchFamily="34" charset="0"/>
                        </a:rPr>
                        <a:t>右转</a:t>
                      </a:r>
                    </a:p>
                  </a:txBody>
                  <a:tcPr marL="0" marR="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171450" indent="-171450" algn="l" fontAlgn="ctr" latinLnBrk="0">
                        <a:lnSpc>
                          <a:spcPts val="1600"/>
                        </a:lnSpc>
                        <a:buFont typeface="微软雅黑" panose="020B0503020204020204" pitchFamily="34" charset="-122"/>
                        <a:buChar char="￭"/>
                      </a:pPr>
                      <a:r>
                        <a:rPr lang="zh-CN" altLang="en-US" sz="1200" b="0" i="0" dirty="0">
                          <a:solidFill>
                            <a:srgbClr val="000000"/>
                          </a:solidFill>
                          <a:effectLst/>
                          <a:latin typeface="Arial" panose="020B0604020202020204" pitchFamily="34" charset="0"/>
                          <a:ea typeface="微软雅黑" panose="020B0503020204020204" pitchFamily="34" charset="-122"/>
                          <a:sym typeface="Arial" panose="020B0604020202020204" pitchFamily="34" charset="0"/>
                        </a:rPr>
                        <a:t>路口通行融合防御性驾驶、车辆</a:t>
                      </a:r>
                      <a:r>
                        <a:rPr lang="en-US" altLang="zh-CN" sz="1200" b="0" i="0" dirty="0">
                          <a:solidFill>
                            <a:srgbClr val="000000"/>
                          </a:solidFill>
                          <a:effectLst/>
                          <a:latin typeface="Arial" panose="020B0604020202020204" pitchFamily="34" charset="0"/>
                          <a:ea typeface="微软雅黑" panose="020B0503020204020204" pitchFamily="34" charset="-122"/>
                          <a:sym typeface="Arial" panose="020B0604020202020204" pitchFamily="34" charset="0"/>
                        </a:rPr>
                        <a:t>&amp;VRU</a:t>
                      </a:r>
                      <a:r>
                        <a:rPr lang="zh-CN" altLang="en-US" sz="1200" b="0" i="0" dirty="0">
                          <a:solidFill>
                            <a:srgbClr val="000000"/>
                          </a:solidFill>
                          <a:effectLst/>
                          <a:latin typeface="Arial" panose="020B0604020202020204" pitchFamily="34" charset="0"/>
                          <a:ea typeface="微软雅黑" panose="020B0503020204020204" pitchFamily="34" charset="-122"/>
                          <a:sym typeface="Arial" panose="020B0604020202020204" pitchFamily="34" charset="0"/>
                        </a:rPr>
                        <a:t>博弈、行人礼让等策略，输出动态轨迹线拟人化路口通行，包括直行</a:t>
                      </a:r>
                      <a:r>
                        <a:rPr lang="en-US" altLang="zh-CN" sz="1200" b="0" i="0" dirty="0">
                          <a:solidFill>
                            <a:srgbClr val="000000"/>
                          </a:solidFill>
                          <a:effectLst/>
                          <a:latin typeface="Arial" panose="020B0604020202020204" pitchFamily="34" charset="0"/>
                          <a:ea typeface="微软雅黑" panose="020B0503020204020204" pitchFamily="34" charset="-122"/>
                          <a:sym typeface="Arial" panose="020B0604020202020204" pitchFamily="34" charset="0"/>
                        </a:rPr>
                        <a:t>/</a:t>
                      </a:r>
                      <a:r>
                        <a:rPr lang="zh-CN" altLang="en-US" sz="1200" b="0" i="0" dirty="0">
                          <a:solidFill>
                            <a:srgbClr val="000000"/>
                          </a:solidFill>
                          <a:effectLst/>
                          <a:latin typeface="Arial" panose="020B0604020202020204" pitchFamily="34" charset="0"/>
                          <a:ea typeface="微软雅黑" panose="020B0503020204020204" pitchFamily="34" charset="-122"/>
                          <a:sym typeface="Arial" panose="020B0604020202020204" pitchFamily="34" charset="0"/>
                        </a:rPr>
                        <a:t>左转</a:t>
                      </a:r>
                      <a:r>
                        <a:rPr lang="en-US" altLang="zh-CN" sz="1200" b="0" i="0" dirty="0">
                          <a:solidFill>
                            <a:srgbClr val="000000"/>
                          </a:solidFill>
                          <a:effectLst/>
                          <a:latin typeface="Arial" panose="020B0604020202020204" pitchFamily="34" charset="0"/>
                          <a:ea typeface="微软雅黑" panose="020B0503020204020204" pitchFamily="34" charset="-122"/>
                          <a:sym typeface="Arial" panose="020B0604020202020204" pitchFamily="34" charset="0"/>
                        </a:rPr>
                        <a:t>/</a:t>
                      </a:r>
                      <a:r>
                        <a:rPr lang="zh-CN" altLang="en-US" sz="1200" b="0" i="0" dirty="0">
                          <a:solidFill>
                            <a:srgbClr val="000000"/>
                          </a:solidFill>
                          <a:effectLst/>
                          <a:latin typeface="Arial" panose="020B0604020202020204" pitchFamily="34" charset="0"/>
                          <a:ea typeface="微软雅黑" panose="020B0503020204020204" pitchFamily="34" charset="-122"/>
                          <a:sym typeface="Arial" panose="020B0604020202020204" pitchFamily="34" charset="0"/>
                        </a:rPr>
                        <a:t>右转</a:t>
                      </a:r>
                    </a:p>
                  </a:txBody>
                  <a:tcPr marL="72000" marR="7200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latinLnBrk="0">
                        <a:lnSpc>
                          <a:spcPts val="1600"/>
                        </a:lnSpc>
                        <a:buNone/>
                      </a:pPr>
                      <a:r>
                        <a:rPr lang="zh-CN" altLang="en-US" sz="1200" b="0" i="0" dirty="0">
                          <a:solidFill>
                            <a:srgbClr val="000000"/>
                          </a:solidFill>
                          <a:effectLst/>
                          <a:latin typeface="Arial" panose="020B0604020202020204" pitchFamily="34" charset="0"/>
                          <a:ea typeface="微软雅黑" panose="020B0503020204020204" pitchFamily="34" charset="-122"/>
                          <a:sym typeface="Arial" panose="020B0604020202020204" pitchFamily="34" charset="0"/>
                        </a:rPr>
                        <a:t>城区</a:t>
                      </a:r>
                    </a:p>
                  </a:txBody>
                  <a:tcPr marL="0" marR="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latinLnBrk="0">
                        <a:lnSpc>
                          <a:spcPts val="1600"/>
                        </a:lnSpc>
                        <a:buNone/>
                      </a:pPr>
                      <a:r>
                        <a:rPr lang="en-US" sz="1200" b="0" i="0" dirty="0">
                          <a:solidFill>
                            <a:srgbClr val="000000"/>
                          </a:solidFill>
                          <a:effectLst/>
                          <a:latin typeface="Arial" panose="020B0604020202020204" pitchFamily="34" charset="0"/>
                          <a:ea typeface="微软雅黑" panose="020B0503020204020204" pitchFamily="34" charset="-122"/>
                          <a:sym typeface="Arial" panose="020B0604020202020204" pitchFamily="34" charset="0"/>
                        </a:rPr>
                        <a:t>NOA，</a:t>
                      </a:r>
                      <a:r>
                        <a:rPr lang="zh-CN" altLang="en-US" sz="1200" b="0" i="0" dirty="0">
                          <a:solidFill>
                            <a:srgbClr val="000000"/>
                          </a:solidFill>
                          <a:effectLst/>
                          <a:latin typeface="Arial" panose="020B0604020202020204" pitchFamily="34" charset="0"/>
                          <a:ea typeface="微软雅黑" panose="020B0503020204020204" pitchFamily="34" charset="-122"/>
                          <a:sym typeface="Arial" panose="020B0604020202020204" pitchFamily="34" charset="0"/>
                        </a:rPr>
                        <a:t>漫游</a:t>
                      </a:r>
                    </a:p>
                  </a:txBody>
                  <a:tcPr marL="0" marR="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latinLnBrk="0">
                        <a:lnSpc>
                          <a:spcPts val="1600"/>
                        </a:lnSpc>
                        <a:buNone/>
                      </a:pPr>
                      <a:r>
                        <a:rPr lang="en-US" sz="1200" b="0" i="0" dirty="0">
                          <a:solidFill>
                            <a:srgbClr val="000000"/>
                          </a:solidFill>
                          <a:effectLst/>
                          <a:latin typeface="Arial" panose="020B0604020202020204" pitchFamily="34" charset="0"/>
                          <a:ea typeface="微软雅黑" panose="020B0503020204020204" pitchFamily="34" charset="-122"/>
                          <a:sym typeface="Arial" panose="020B0604020202020204" pitchFamily="34" charset="0"/>
                        </a:rPr>
                        <a:t>SOP(530)</a:t>
                      </a:r>
                    </a:p>
                  </a:txBody>
                  <a:tcPr marL="0" marR="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991142218"/>
                  </a:ext>
                </a:extLst>
              </a:tr>
              <a:tr h="417350">
                <a:tc vMerge="1">
                  <a:txBody>
                    <a:bodyPr/>
                    <a:lstStyle/>
                    <a:p>
                      <a:endParaRPr lang="zh-CN" altLang="en-US"/>
                    </a:p>
                  </a:txBody>
                  <a:tcPr/>
                </a:tc>
                <a:tc vMerge="1">
                  <a:txBody>
                    <a:bodyPr/>
                    <a:lstStyle/>
                    <a:p>
                      <a:endParaRPr lang="zh-CN" altLang="en-US"/>
                    </a:p>
                  </a:txBody>
                  <a:tcPr/>
                </a:tc>
                <a:tc>
                  <a:txBody>
                    <a:bodyPr/>
                    <a:lstStyle/>
                    <a:p>
                      <a:pPr marL="0" algn="ctr" defTabSz="914400" rtl="0" eaLnBrk="1" fontAlgn="ctr" latinLnBrk="0" hangingPunct="1">
                        <a:lnSpc>
                          <a:spcPts val="1600"/>
                        </a:lnSpc>
                        <a:buNone/>
                      </a:pPr>
                      <a:r>
                        <a:rPr lang="zh-CN" altLang="en-US" sz="1200" b="0" i="0" kern="1200" dirty="0">
                          <a:solidFill>
                            <a:srgbClr val="000000"/>
                          </a:solidFill>
                          <a:effectLst/>
                          <a:latin typeface="Arial" panose="020B0604020202020204" pitchFamily="34" charset="0"/>
                          <a:ea typeface="微软雅黑" panose="020B0503020204020204" pitchFamily="34" charset="-122"/>
                          <a:cs typeface="+mn-cs"/>
                        </a:rPr>
                        <a:t>路口绕行</a:t>
                      </a:r>
                    </a:p>
                  </a:txBody>
                  <a:tcPr marL="0" marR="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171450" indent="-171450" algn="l" defTabSz="914400" rtl="0" eaLnBrk="1" fontAlgn="ctr" latinLnBrk="0" hangingPunct="1">
                        <a:lnSpc>
                          <a:spcPts val="1600"/>
                        </a:lnSpc>
                        <a:buFont typeface="微软雅黑" panose="020B0503020204020204" pitchFamily="34" charset="-122"/>
                        <a:buChar char="￭"/>
                      </a:pPr>
                      <a:r>
                        <a:rPr lang="zh-CN" altLang="en-US" sz="1200" b="0" i="0" kern="1200" dirty="0">
                          <a:solidFill>
                            <a:srgbClr val="000000"/>
                          </a:solidFill>
                          <a:effectLst/>
                          <a:latin typeface="Arial" panose="020B0604020202020204" pitchFamily="34" charset="0"/>
                          <a:ea typeface="微软雅黑" panose="020B0503020204020204" pitchFamily="34" charset="-122"/>
                          <a:cs typeface="+mn-cs"/>
                        </a:rPr>
                        <a:t>通过城市路口时，路口虚拟车道内存在占道障碍物，导致无法沿原定路径行驶时，系统在遵守交通规则的前提下，临时调整行驶轨迹完成绕行动作，以安全、高效通过路口</a:t>
                      </a:r>
                    </a:p>
                  </a:txBody>
                  <a:tcPr marL="72000" marR="7200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914400" rtl="0" eaLnBrk="1" fontAlgn="ctr" latinLnBrk="0" hangingPunct="1">
                        <a:lnSpc>
                          <a:spcPts val="1600"/>
                        </a:lnSpc>
                        <a:buNone/>
                      </a:pPr>
                      <a:r>
                        <a:rPr lang="zh-CN" altLang="en-US" sz="1200" b="0" i="0" kern="1200" dirty="0">
                          <a:solidFill>
                            <a:srgbClr val="000000"/>
                          </a:solidFill>
                          <a:effectLst/>
                          <a:latin typeface="Arial" panose="020B0604020202020204" pitchFamily="34" charset="0"/>
                          <a:ea typeface="微软雅黑" panose="020B0503020204020204" pitchFamily="34" charset="-122"/>
                          <a:cs typeface="+mn-cs"/>
                        </a:rPr>
                        <a:t>城区</a:t>
                      </a:r>
                    </a:p>
                  </a:txBody>
                  <a:tcPr marL="0" marR="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ctr" latinLnBrk="0" hangingPunct="1">
                        <a:lnSpc>
                          <a:spcPts val="1600"/>
                        </a:lnSpc>
                        <a:spcBef>
                          <a:spcPts val="0"/>
                        </a:spcBef>
                        <a:spcAft>
                          <a:spcPts val="0"/>
                        </a:spcAft>
                        <a:buClrTx/>
                        <a:buSzTx/>
                        <a:buFontTx/>
                        <a:buNone/>
                        <a:tabLst/>
                        <a:defRPr/>
                      </a:pPr>
                      <a:r>
                        <a:rPr lang="en-US" altLang="zh-CN" sz="1200" b="0" i="0" kern="1200" noProof="0" dirty="0">
                          <a:solidFill>
                            <a:srgbClr val="000000"/>
                          </a:solidFill>
                          <a:effectLst/>
                          <a:latin typeface="Arial" panose="020B0604020202020204" pitchFamily="34" charset="0"/>
                          <a:ea typeface="微软雅黑" panose="020B0503020204020204" pitchFamily="34" charset="-122"/>
                          <a:cs typeface="+mn-cs"/>
                        </a:rPr>
                        <a:t>NOA</a:t>
                      </a:r>
                      <a:r>
                        <a:rPr lang="zh-CN" altLang="en-US" sz="1200" b="0" i="0" kern="1200" noProof="0" dirty="0">
                          <a:solidFill>
                            <a:srgbClr val="000000"/>
                          </a:solidFill>
                          <a:effectLst/>
                          <a:latin typeface="Arial" panose="020B0604020202020204" pitchFamily="34" charset="0"/>
                          <a:ea typeface="微软雅黑" panose="020B0503020204020204" pitchFamily="34" charset="-122"/>
                          <a:cs typeface="+mn-cs"/>
                        </a:rPr>
                        <a:t>，漫游</a:t>
                      </a:r>
                    </a:p>
                  </a:txBody>
                  <a:tcPr marL="0" marR="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ctr" latinLnBrk="0" hangingPunct="1">
                        <a:lnSpc>
                          <a:spcPts val="1600"/>
                        </a:lnSpc>
                        <a:spcBef>
                          <a:spcPts val="0"/>
                        </a:spcBef>
                        <a:spcAft>
                          <a:spcPts val="0"/>
                        </a:spcAft>
                        <a:buClrTx/>
                        <a:buSzTx/>
                        <a:buFontTx/>
                        <a:buNone/>
                        <a:tabLst/>
                        <a:defRPr/>
                      </a:pPr>
                      <a:r>
                        <a:rPr lang="en-US" altLang="zh-CN" sz="1200" b="0" i="0" kern="1200" noProof="0" dirty="0">
                          <a:solidFill>
                            <a:srgbClr val="000000"/>
                          </a:solidFill>
                          <a:effectLst/>
                          <a:latin typeface="Arial" panose="020B0604020202020204" pitchFamily="34" charset="0"/>
                          <a:ea typeface="微软雅黑" panose="020B0503020204020204" pitchFamily="34" charset="-122"/>
                          <a:cs typeface="+mn-cs"/>
                          <a:sym typeface="Arial" panose="020B0604020202020204" pitchFamily="34" charset="0"/>
                        </a:rPr>
                        <a:t>SOP(530)</a:t>
                      </a:r>
                    </a:p>
                  </a:txBody>
                  <a:tcPr marL="0" marR="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627814513"/>
                  </a:ext>
                </a:extLst>
              </a:tr>
              <a:tr h="381896">
                <a:tc vMerge="1">
                  <a:txBody>
                    <a:bodyPr/>
                    <a:lstStyle/>
                    <a:p>
                      <a:endParaRPr lang="zh-CN" altLang="en-US"/>
                    </a:p>
                  </a:txBody>
                  <a:tcPr/>
                </a:tc>
                <a:tc vMerge="1">
                  <a:txBody>
                    <a:bodyPr/>
                    <a:lstStyle/>
                    <a:p>
                      <a:endParaRPr lang="zh-CN" altLang="en-US"/>
                    </a:p>
                  </a:txBody>
                  <a:tcPr/>
                </a:tc>
                <a:tc>
                  <a:txBody>
                    <a:bodyPr/>
                    <a:lstStyle/>
                    <a:p>
                      <a:pPr marL="0" algn="ctr" defTabSz="914400" rtl="0" eaLnBrk="1" fontAlgn="ctr" latinLnBrk="0" hangingPunct="1">
                        <a:lnSpc>
                          <a:spcPts val="1600"/>
                        </a:lnSpc>
                        <a:buNone/>
                      </a:pPr>
                      <a:r>
                        <a:rPr lang="zh-CN" altLang="en-US" sz="1200" b="0" i="0" kern="1200" dirty="0">
                          <a:solidFill>
                            <a:srgbClr val="000000"/>
                          </a:solidFill>
                          <a:effectLst/>
                          <a:latin typeface="Arial" panose="020B0604020202020204" pitchFamily="34" charset="0"/>
                          <a:ea typeface="微软雅黑" panose="020B0503020204020204" pitchFamily="34" charset="-122"/>
                          <a:cs typeface="+mn-cs"/>
                        </a:rPr>
                        <a:t>横穿应对</a:t>
                      </a:r>
                    </a:p>
                  </a:txBody>
                  <a:tcPr marL="0" marR="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171450" indent="-171450" algn="l" fontAlgn="ctr" latinLnBrk="0">
                        <a:buFont typeface="微软雅黑" panose="020B0503020204020204" pitchFamily="34" charset="-122"/>
                        <a:buChar char="￭"/>
                      </a:pPr>
                      <a:r>
                        <a:rPr lang="zh-CN" altLang="en-US" sz="1200" b="0" i="0" dirty="0">
                          <a:solidFill>
                            <a:srgbClr val="000000"/>
                          </a:solidFill>
                          <a:effectLst/>
                        </a:rPr>
                        <a:t>激活状态，障碍物从道路一侧横向穿过到另一侧且与本车行驶方向夹角较大</a:t>
                      </a:r>
                      <a:r>
                        <a:rPr lang="en-US" altLang="zh-CN" sz="1200" b="0" i="0" dirty="0">
                          <a:solidFill>
                            <a:srgbClr val="000000"/>
                          </a:solidFill>
                          <a:effectLst/>
                        </a:rPr>
                        <a:t>(</a:t>
                      </a:r>
                      <a:r>
                        <a:rPr lang="zh-CN" altLang="en-US" sz="1200" b="0" i="0" dirty="0">
                          <a:solidFill>
                            <a:srgbClr val="000000"/>
                          </a:solidFill>
                          <a:effectLst/>
                        </a:rPr>
                        <a:t>垂直或接近垂直</a:t>
                      </a:r>
                      <a:r>
                        <a:rPr lang="en-US" altLang="zh-CN" sz="1200" b="0" i="0" dirty="0">
                          <a:solidFill>
                            <a:srgbClr val="000000"/>
                          </a:solidFill>
                          <a:effectLst/>
                        </a:rPr>
                        <a:t>)</a:t>
                      </a:r>
                      <a:r>
                        <a:rPr lang="zh-CN" altLang="en-US" sz="1200" b="0" i="0" dirty="0">
                          <a:solidFill>
                            <a:srgbClr val="000000"/>
                          </a:solidFill>
                          <a:effectLst/>
                        </a:rPr>
                        <a:t>。自车状态可为直行，左转，右转以及掉头状态。系统需提前决策超让</a:t>
                      </a:r>
                      <a:r>
                        <a:rPr lang="zh-CN" altLang="en-US" sz="1200" b="0" i="0" spc="-300" dirty="0">
                          <a:solidFill>
                            <a:srgbClr val="000000"/>
                          </a:solidFill>
                          <a:effectLst/>
                        </a:rPr>
                        <a:t>、</a:t>
                      </a:r>
                      <a:r>
                        <a:rPr lang="zh-CN" altLang="en-US" sz="1200" b="0" i="0" dirty="0">
                          <a:solidFill>
                            <a:srgbClr val="000000"/>
                          </a:solidFill>
                          <a:effectLst/>
                        </a:rPr>
                        <a:t>舒适加减速，安全通行</a:t>
                      </a:r>
                    </a:p>
                  </a:txBody>
                  <a:tcPr marL="72000" marR="7200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latinLnBrk="0">
                        <a:buNone/>
                      </a:pPr>
                      <a:r>
                        <a:rPr lang="zh-CN" altLang="en-US" sz="1200" b="0" i="0" dirty="0">
                          <a:solidFill>
                            <a:srgbClr val="000000"/>
                          </a:solidFill>
                          <a:effectLst/>
                        </a:rPr>
                        <a:t>城区</a:t>
                      </a:r>
                    </a:p>
                  </a:txBody>
                  <a:tcPr marL="0" marR="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US" altLang="zh-CN" sz="1200" b="0" i="0" u="none" strike="noStrike" kern="1200" cap="none" spc="0" normalizeH="0" baseline="0" noProof="0" dirty="0">
                          <a:ln>
                            <a:noFill/>
                          </a:ln>
                          <a:solidFill>
                            <a:srgbClr val="000000"/>
                          </a:solidFill>
                          <a:effectLst/>
                          <a:uLnTx/>
                          <a:uFillTx/>
                          <a:latin typeface="微软雅黑"/>
                          <a:ea typeface="微软雅黑"/>
                          <a:cs typeface="+mn-cs"/>
                        </a:rPr>
                        <a:t>NOA</a:t>
                      </a:r>
                      <a:r>
                        <a:rPr kumimoji="0" lang="zh-CN" altLang="en-US" sz="1200" b="0" i="0" u="none" strike="noStrike" kern="1200" cap="none" spc="0" normalizeH="0" baseline="0" noProof="0" dirty="0">
                          <a:ln>
                            <a:noFill/>
                          </a:ln>
                          <a:solidFill>
                            <a:srgbClr val="000000"/>
                          </a:solidFill>
                          <a:effectLst/>
                          <a:uLnTx/>
                          <a:uFillTx/>
                          <a:latin typeface="微软雅黑"/>
                          <a:ea typeface="微软雅黑"/>
                          <a:cs typeface="+mn-cs"/>
                        </a:rPr>
                        <a:t>，漫游</a:t>
                      </a:r>
                    </a:p>
                  </a:txBody>
                  <a:tcPr marL="0" marR="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ctr" latinLnBrk="0" hangingPunct="1">
                        <a:lnSpc>
                          <a:spcPts val="1600"/>
                        </a:lnSpc>
                        <a:spcBef>
                          <a:spcPts val="0"/>
                        </a:spcBef>
                        <a:spcAft>
                          <a:spcPts val="0"/>
                        </a:spcAft>
                        <a:buClrTx/>
                        <a:buSzTx/>
                        <a:buFontTx/>
                        <a:buNone/>
                        <a:tabLst/>
                        <a:defRPr/>
                      </a:pPr>
                      <a:r>
                        <a:rPr kumimoji="0" lang="en-US" altLang="zh-CN" sz="1200" b="0"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pitchFamily="34" charset="-122"/>
                          <a:cs typeface="+mn-cs"/>
                          <a:sym typeface="Arial" panose="020B0604020202020204" pitchFamily="34" charset="0"/>
                        </a:rPr>
                        <a:t>SOP(530)</a:t>
                      </a:r>
                    </a:p>
                  </a:txBody>
                  <a:tcPr marL="0" marR="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052508204"/>
                  </a:ext>
                </a:extLst>
              </a:tr>
              <a:tr h="594619">
                <a:tc vMerge="1">
                  <a:txBody>
                    <a:bodyPr/>
                    <a:lstStyle/>
                    <a:p>
                      <a:endParaRPr lang="zh-CN" altLang="en-US"/>
                    </a:p>
                  </a:txBody>
                  <a:tcPr/>
                </a:tc>
                <a:tc vMerge="1">
                  <a:txBody>
                    <a:bodyPr/>
                    <a:lstStyle/>
                    <a:p>
                      <a:endParaRPr lang="zh-CN" altLang="en-US"/>
                    </a:p>
                  </a:txBody>
                  <a:tcPr>
                    <a:lnT w="12700" cap="flat" cmpd="sng" algn="ctr">
                      <a:solidFill>
                        <a:schemeClr val="tx1"/>
                      </a:solidFill>
                      <a:prstDash val="solid"/>
                      <a:round/>
                      <a:headEnd type="none" w="med" len="med"/>
                      <a:tailEnd type="none" w="med" len="med"/>
                    </a:lnT>
                  </a:tcPr>
                </a:tc>
                <a:tc>
                  <a:txBody>
                    <a:bodyPr/>
                    <a:lstStyle/>
                    <a:p>
                      <a:pPr marL="0" algn="ctr" defTabSz="914400" rtl="0" eaLnBrk="1" fontAlgn="ctr" latinLnBrk="0" hangingPunct="1">
                        <a:lnSpc>
                          <a:spcPts val="1600"/>
                        </a:lnSpc>
                        <a:buNone/>
                      </a:pPr>
                      <a:r>
                        <a:rPr lang="zh-CN" altLang="en-US" sz="1200" b="0" i="0" kern="1200" dirty="0">
                          <a:solidFill>
                            <a:srgbClr val="000000"/>
                          </a:solidFill>
                          <a:effectLst/>
                          <a:latin typeface="Arial" panose="020B0604020202020204" pitchFamily="34" charset="0"/>
                          <a:ea typeface="微软雅黑" panose="020B0503020204020204" pitchFamily="34" charset="-122"/>
                          <a:cs typeface="+mn-cs"/>
                          <a:sym typeface="Arial" panose="020B0604020202020204" pitchFamily="34" charset="0"/>
                        </a:rPr>
                        <a:t>红绿灯启停</a:t>
                      </a:r>
                    </a:p>
                  </a:txBody>
                  <a:tcPr marL="0" marR="0" marT="36000" marB="36000"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171450" indent="-171450" algn="l" fontAlgn="ctr" latinLnBrk="0">
                        <a:lnSpc>
                          <a:spcPts val="1600"/>
                        </a:lnSpc>
                        <a:buFont typeface="微软雅黑" panose="020B0503020204020204" pitchFamily="34" charset="-122"/>
                        <a:buChar char="￭"/>
                      </a:pPr>
                      <a:r>
                        <a:rPr lang="zh-CN" altLang="en-US" sz="1200" b="0" i="0" dirty="0">
                          <a:solidFill>
                            <a:srgbClr val="000000"/>
                          </a:solidFill>
                          <a:effectLst/>
                          <a:latin typeface="Arial" panose="020B0604020202020204" pitchFamily="34" charset="0"/>
                          <a:ea typeface="微软雅黑" panose="020B0503020204020204" pitchFamily="34" charset="-122"/>
                          <a:sym typeface="Arial" panose="020B0604020202020204" pitchFamily="34" charset="0"/>
                        </a:rPr>
                        <a:t>激活状态，通过摄像头获取前方路口的标准机动车交通信号灯信息，系统会根据当前红绿灯状态 </a:t>
                      </a:r>
                      <a:r>
                        <a:rPr lang="en-US" altLang="zh-CN" sz="1200" b="0" i="0" dirty="0">
                          <a:solidFill>
                            <a:srgbClr val="000000"/>
                          </a:solidFill>
                          <a:effectLst/>
                          <a:latin typeface="Arial" panose="020B0604020202020204" pitchFamily="34" charset="0"/>
                          <a:ea typeface="微软雅黑" panose="020B0503020204020204" pitchFamily="34" charset="-122"/>
                          <a:sym typeface="Arial" panose="020B0604020202020204" pitchFamily="34" charset="0"/>
                        </a:rPr>
                        <a:t>(</a:t>
                      </a:r>
                      <a:r>
                        <a:rPr lang="zh-CN" altLang="en-US" sz="1200" b="0" i="0" dirty="0">
                          <a:solidFill>
                            <a:srgbClr val="000000"/>
                          </a:solidFill>
                          <a:effectLst/>
                          <a:latin typeface="Arial" panose="020B0604020202020204" pitchFamily="34" charset="0"/>
                          <a:ea typeface="微软雅黑" panose="020B0503020204020204" pitchFamily="34" charset="-122"/>
                          <a:sym typeface="Arial" panose="020B0604020202020204" pitchFamily="34" charset="0"/>
                        </a:rPr>
                        <a:t>红</a:t>
                      </a:r>
                      <a:r>
                        <a:rPr lang="en-US" altLang="zh-CN" sz="1200" b="0" i="0" dirty="0">
                          <a:solidFill>
                            <a:srgbClr val="000000"/>
                          </a:solidFill>
                          <a:effectLst/>
                          <a:latin typeface="Arial" panose="020B0604020202020204" pitchFamily="34" charset="0"/>
                          <a:ea typeface="微软雅黑" panose="020B0503020204020204" pitchFamily="34" charset="-122"/>
                          <a:sym typeface="Arial" panose="020B0604020202020204" pitchFamily="34" charset="0"/>
                        </a:rPr>
                        <a:t>/</a:t>
                      </a:r>
                      <a:r>
                        <a:rPr lang="zh-CN" altLang="en-US" sz="1200" b="0" i="0" dirty="0">
                          <a:solidFill>
                            <a:srgbClr val="000000"/>
                          </a:solidFill>
                          <a:effectLst/>
                          <a:latin typeface="Arial" panose="020B0604020202020204" pitchFamily="34" charset="0"/>
                          <a:ea typeface="微软雅黑" panose="020B0503020204020204" pitchFamily="34" charset="-122"/>
                          <a:sym typeface="Arial" panose="020B0604020202020204" pitchFamily="34" charset="0"/>
                        </a:rPr>
                        <a:t>绿</a:t>
                      </a:r>
                      <a:r>
                        <a:rPr lang="en-US" altLang="zh-CN" sz="1200" b="0" i="0" dirty="0">
                          <a:solidFill>
                            <a:srgbClr val="000000"/>
                          </a:solidFill>
                          <a:effectLst/>
                          <a:latin typeface="Arial" panose="020B0604020202020204" pitchFamily="34" charset="0"/>
                          <a:ea typeface="微软雅黑" panose="020B0503020204020204" pitchFamily="34" charset="-122"/>
                          <a:sym typeface="Arial" panose="020B0604020202020204" pitchFamily="34" charset="0"/>
                        </a:rPr>
                        <a:t>/</a:t>
                      </a:r>
                      <a:r>
                        <a:rPr lang="zh-CN" altLang="en-US" sz="1200" b="0" i="0" dirty="0">
                          <a:solidFill>
                            <a:srgbClr val="000000"/>
                          </a:solidFill>
                          <a:effectLst/>
                          <a:latin typeface="Arial" panose="020B0604020202020204" pitchFamily="34" charset="0"/>
                          <a:ea typeface="微软雅黑" panose="020B0503020204020204" pitchFamily="34" charset="-122"/>
                          <a:sym typeface="Arial" panose="020B0604020202020204" pitchFamily="34" charset="0"/>
                        </a:rPr>
                        <a:t>黄</a:t>
                      </a:r>
                      <a:r>
                        <a:rPr lang="en-US" altLang="zh-CN" sz="1200" b="0" i="0" dirty="0">
                          <a:solidFill>
                            <a:srgbClr val="000000"/>
                          </a:solidFill>
                          <a:effectLst/>
                          <a:latin typeface="Arial" panose="020B0604020202020204" pitchFamily="34" charset="0"/>
                          <a:ea typeface="微软雅黑" panose="020B0503020204020204" pitchFamily="34" charset="-122"/>
                          <a:sym typeface="Arial" panose="020B0604020202020204" pitchFamily="34" charset="0"/>
                        </a:rPr>
                        <a:t>)</a:t>
                      </a:r>
                      <a:r>
                        <a:rPr lang="zh-CN" altLang="en-US" sz="1200" b="0" i="0" dirty="0">
                          <a:solidFill>
                            <a:srgbClr val="000000"/>
                          </a:solidFill>
                          <a:effectLst/>
                          <a:latin typeface="Arial" panose="020B0604020202020204" pitchFamily="34" charset="0"/>
                          <a:ea typeface="微软雅黑" panose="020B0503020204020204" pitchFamily="34" charset="-122"/>
                          <a:sym typeface="Arial" panose="020B0604020202020204" pitchFamily="34" charset="0"/>
                        </a:rPr>
                        <a:t>、本车速度、与停止线的距离、前方障碍物、同向旁车道车流变化情况等因素，综合判断并执行相应驾驶动作 </a:t>
                      </a:r>
                      <a:r>
                        <a:rPr lang="en-US" altLang="zh-CN" sz="1200" b="0" i="0" dirty="0">
                          <a:solidFill>
                            <a:srgbClr val="000000"/>
                          </a:solidFill>
                          <a:effectLst/>
                          <a:latin typeface="Arial" panose="020B0604020202020204" pitchFamily="34" charset="0"/>
                          <a:ea typeface="微软雅黑" panose="020B0503020204020204" pitchFamily="34" charset="-122"/>
                          <a:sym typeface="Arial" panose="020B0604020202020204" pitchFamily="34" charset="0"/>
                        </a:rPr>
                        <a:t>(</a:t>
                      </a:r>
                      <a:r>
                        <a:rPr lang="zh-CN" altLang="en-US" sz="1200" b="0" i="0" dirty="0">
                          <a:solidFill>
                            <a:srgbClr val="000000"/>
                          </a:solidFill>
                          <a:effectLst/>
                          <a:latin typeface="Arial" panose="020B0604020202020204" pitchFamily="34" charset="0"/>
                          <a:ea typeface="微软雅黑" panose="020B0503020204020204" pitchFamily="34" charset="-122"/>
                          <a:sym typeface="Arial" panose="020B0604020202020204" pitchFamily="34" charset="0"/>
                        </a:rPr>
                        <a:t>减速、刹停、等待、起步等</a:t>
                      </a:r>
                      <a:r>
                        <a:rPr lang="en-US" altLang="zh-CN" sz="1200" b="0" i="0" dirty="0">
                          <a:solidFill>
                            <a:srgbClr val="000000"/>
                          </a:solidFill>
                          <a:effectLst/>
                          <a:latin typeface="Arial" panose="020B0604020202020204" pitchFamily="34" charset="0"/>
                          <a:ea typeface="微软雅黑" panose="020B0503020204020204" pitchFamily="34" charset="-122"/>
                          <a:sym typeface="Arial" panose="020B0604020202020204" pitchFamily="34" charset="0"/>
                        </a:rPr>
                        <a:t>)</a:t>
                      </a:r>
                      <a:endParaRPr lang="zh-CN" altLang="en-US" sz="1200" b="0" i="0" dirty="0">
                        <a:solidFill>
                          <a:srgbClr val="000000"/>
                        </a:solidFill>
                        <a:effectLst/>
                        <a:latin typeface="Arial" panose="020B0604020202020204" pitchFamily="34" charset="0"/>
                        <a:ea typeface="微软雅黑" panose="020B0503020204020204" pitchFamily="34" charset="-122"/>
                        <a:sym typeface="Arial" panose="020B0604020202020204" pitchFamily="34" charset="0"/>
                      </a:endParaRPr>
                    </a:p>
                  </a:txBody>
                  <a:tcPr marL="72000" marR="7200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latinLnBrk="0">
                        <a:lnSpc>
                          <a:spcPts val="1600"/>
                        </a:lnSpc>
                        <a:buNone/>
                      </a:pPr>
                      <a:r>
                        <a:rPr lang="zh-CN" altLang="en-US" sz="1200" b="0" i="0" dirty="0">
                          <a:solidFill>
                            <a:srgbClr val="000000"/>
                          </a:solidFill>
                          <a:effectLst/>
                          <a:latin typeface="Arial" panose="020B0604020202020204" pitchFamily="34" charset="0"/>
                          <a:ea typeface="微软雅黑" panose="020B0503020204020204" pitchFamily="34" charset="-122"/>
                          <a:sym typeface="Arial" panose="020B0604020202020204" pitchFamily="34" charset="0"/>
                        </a:rPr>
                        <a:t>城区，高速</a:t>
                      </a:r>
                    </a:p>
                  </a:txBody>
                  <a:tcPr marL="0" marR="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latinLnBrk="0">
                        <a:lnSpc>
                          <a:spcPts val="1600"/>
                        </a:lnSpc>
                        <a:buNone/>
                      </a:pPr>
                      <a:r>
                        <a:rPr lang="en-US" sz="1200" b="0" i="0" dirty="0">
                          <a:solidFill>
                            <a:srgbClr val="000000"/>
                          </a:solidFill>
                          <a:effectLst/>
                          <a:latin typeface="Arial" panose="020B0604020202020204" pitchFamily="34" charset="0"/>
                          <a:ea typeface="微软雅黑" panose="020B0503020204020204" pitchFamily="34" charset="-122"/>
                          <a:sym typeface="Arial" panose="020B0604020202020204" pitchFamily="34" charset="0"/>
                        </a:rPr>
                        <a:t>NOA，</a:t>
                      </a:r>
                      <a:r>
                        <a:rPr lang="zh-CN" altLang="en-US" sz="1200" b="0" i="0" dirty="0">
                          <a:solidFill>
                            <a:srgbClr val="000000"/>
                          </a:solidFill>
                          <a:effectLst/>
                          <a:latin typeface="Arial" panose="020B0604020202020204" pitchFamily="34" charset="0"/>
                          <a:ea typeface="微软雅黑" panose="020B0503020204020204" pitchFamily="34" charset="-122"/>
                          <a:sym typeface="Arial" panose="020B0604020202020204" pitchFamily="34" charset="0"/>
                        </a:rPr>
                        <a:t>漫游</a:t>
                      </a:r>
                    </a:p>
                  </a:txBody>
                  <a:tcPr marL="0" marR="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latinLnBrk="0">
                        <a:lnSpc>
                          <a:spcPts val="1600"/>
                        </a:lnSpc>
                        <a:buNone/>
                      </a:pPr>
                      <a:r>
                        <a:rPr lang="en-US" sz="1200" b="0" i="0" dirty="0">
                          <a:solidFill>
                            <a:srgbClr val="000000"/>
                          </a:solidFill>
                          <a:effectLst/>
                          <a:latin typeface="Arial" panose="020B0604020202020204" pitchFamily="34" charset="0"/>
                          <a:ea typeface="微软雅黑" panose="020B0503020204020204" pitchFamily="34" charset="-122"/>
                          <a:sym typeface="Arial" panose="020B0604020202020204" pitchFamily="34" charset="0"/>
                        </a:rPr>
                        <a:t>SOP(530)</a:t>
                      </a:r>
                    </a:p>
                  </a:txBody>
                  <a:tcPr marL="0" marR="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31364009"/>
                  </a:ext>
                </a:extLst>
              </a:tr>
              <a:tr h="240081">
                <a:tc vMerge="1">
                  <a:txBody>
                    <a:bodyPr/>
                    <a:lstStyle/>
                    <a:p>
                      <a:endParaRPr lang="zh-CN" altLang="en-US" dirty="0"/>
                    </a:p>
                  </a:txBody>
                  <a:tcPr/>
                </a:tc>
                <a:tc vMerge="1">
                  <a:txBody>
                    <a:bodyPr/>
                    <a:lstStyle/>
                    <a:p>
                      <a:endParaRPr lang="zh-CN" altLang="en-US"/>
                    </a:p>
                  </a:txBody>
                  <a:tcPr/>
                </a:tc>
                <a:tc>
                  <a:txBody>
                    <a:bodyPr/>
                    <a:lstStyle/>
                    <a:p>
                      <a:pPr algn="ctr" fontAlgn="ctr" latinLnBrk="0">
                        <a:lnSpc>
                          <a:spcPts val="1600"/>
                        </a:lnSpc>
                        <a:buNone/>
                      </a:pPr>
                      <a:r>
                        <a:rPr lang="zh-CN" altLang="en-US" sz="1200" b="0" i="0" dirty="0">
                          <a:solidFill>
                            <a:srgbClr val="000000"/>
                          </a:solidFill>
                          <a:effectLst/>
                          <a:latin typeface="Arial" panose="020B0604020202020204" pitchFamily="34" charset="0"/>
                          <a:ea typeface="微软雅黑" panose="020B0503020204020204" pitchFamily="34" charset="-122"/>
                          <a:sym typeface="Arial" panose="020B0604020202020204" pitchFamily="34" charset="0"/>
                        </a:rPr>
                        <a:t>左右转待行区</a:t>
                      </a:r>
                    </a:p>
                  </a:txBody>
                  <a:tcPr marL="0" marR="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171450" indent="-171450" algn="l" fontAlgn="ctr" latinLnBrk="0">
                        <a:lnSpc>
                          <a:spcPts val="1600"/>
                        </a:lnSpc>
                        <a:buFont typeface="微软雅黑" panose="020B0503020204020204" pitchFamily="34" charset="-122"/>
                        <a:buChar char="￭"/>
                      </a:pPr>
                      <a:r>
                        <a:rPr lang="zh-CN" altLang="en-US" sz="1200" b="0" i="0" dirty="0">
                          <a:solidFill>
                            <a:srgbClr val="000000"/>
                          </a:solidFill>
                          <a:effectLst/>
                          <a:latin typeface="Arial" panose="020B0604020202020204" pitchFamily="34" charset="0"/>
                          <a:ea typeface="微软雅黑" panose="020B0503020204020204" pitchFamily="34" charset="-122"/>
                          <a:sym typeface="Arial" panose="020B0604020202020204" pitchFamily="34" charset="0"/>
                        </a:rPr>
                        <a:t>可正确识别左右转待行区，并正确响应红绿灯，进入</a:t>
                      </a:r>
                      <a:r>
                        <a:rPr lang="en-US" altLang="zh-CN" sz="1200" b="0" i="0" dirty="0">
                          <a:solidFill>
                            <a:srgbClr val="000000"/>
                          </a:solidFill>
                          <a:effectLst/>
                          <a:latin typeface="Arial" panose="020B0604020202020204" pitchFamily="34" charset="0"/>
                          <a:ea typeface="微软雅黑" panose="020B0503020204020204" pitchFamily="34" charset="-122"/>
                          <a:sym typeface="Arial" panose="020B0604020202020204" pitchFamily="34" charset="0"/>
                        </a:rPr>
                        <a:t>/</a:t>
                      </a:r>
                      <a:r>
                        <a:rPr lang="zh-CN" altLang="en-US" sz="1200" b="0" i="0" dirty="0">
                          <a:solidFill>
                            <a:srgbClr val="000000"/>
                          </a:solidFill>
                          <a:effectLst/>
                          <a:latin typeface="Arial" panose="020B0604020202020204" pitchFamily="34" charset="0"/>
                          <a:ea typeface="微软雅黑" panose="020B0503020204020204" pitchFamily="34" charset="-122"/>
                          <a:sym typeface="Arial" panose="020B0604020202020204" pitchFamily="34" charset="0"/>
                        </a:rPr>
                        <a:t>驶离待行区</a:t>
                      </a:r>
                    </a:p>
                  </a:txBody>
                  <a:tcPr marL="72000" marR="7200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latinLnBrk="0">
                        <a:lnSpc>
                          <a:spcPts val="1600"/>
                        </a:lnSpc>
                        <a:buNone/>
                      </a:pPr>
                      <a:r>
                        <a:rPr lang="zh-CN" altLang="en-US" sz="1200" b="0" i="0" dirty="0">
                          <a:solidFill>
                            <a:srgbClr val="000000"/>
                          </a:solidFill>
                          <a:effectLst/>
                          <a:latin typeface="Arial" panose="020B0604020202020204" pitchFamily="34" charset="0"/>
                          <a:ea typeface="微软雅黑" panose="020B0503020204020204" pitchFamily="34" charset="-122"/>
                          <a:sym typeface="Arial" panose="020B0604020202020204" pitchFamily="34" charset="0"/>
                        </a:rPr>
                        <a:t>城区</a:t>
                      </a:r>
                    </a:p>
                  </a:txBody>
                  <a:tcPr marL="0" marR="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latinLnBrk="0">
                        <a:lnSpc>
                          <a:spcPts val="1600"/>
                        </a:lnSpc>
                        <a:buNone/>
                      </a:pPr>
                      <a:r>
                        <a:rPr lang="en-US" sz="1200" b="0" i="0" dirty="0">
                          <a:solidFill>
                            <a:srgbClr val="000000"/>
                          </a:solidFill>
                          <a:effectLst/>
                          <a:latin typeface="Arial" panose="020B0604020202020204" pitchFamily="34" charset="0"/>
                          <a:ea typeface="微软雅黑" panose="020B0503020204020204" pitchFamily="34" charset="-122"/>
                          <a:sym typeface="Arial" panose="020B0604020202020204" pitchFamily="34" charset="0"/>
                        </a:rPr>
                        <a:t>NOA，</a:t>
                      </a:r>
                      <a:r>
                        <a:rPr lang="zh-CN" altLang="en-US" sz="1200" b="0" i="0" dirty="0">
                          <a:solidFill>
                            <a:srgbClr val="000000"/>
                          </a:solidFill>
                          <a:effectLst/>
                          <a:latin typeface="Arial" panose="020B0604020202020204" pitchFamily="34" charset="0"/>
                          <a:ea typeface="微软雅黑" panose="020B0503020204020204" pitchFamily="34" charset="-122"/>
                          <a:sym typeface="Arial" panose="020B0604020202020204" pitchFamily="34" charset="0"/>
                        </a:rPr>
                        <a:t>漫游</a:t>
                      </a:r>
                    </a:p>
                  </a:txBody>
                  <a:tcPr marL="0" marR="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latinLnBrk="0">
                        <a:lnSpc>
                          <a:spcPts val="1600"/>
                        </a:lnSpc>
                        <a:buNone/>
                      </a:pPr>
                      <a:r>
                        <a:rPr lang="en-US" sz="1200" b="0" i="0" dirty="0">
                          <a:solidFill>
                            <a:srgbClr val="000000"/>
                          </a:solidFill>
                          <a:effectLst/>
                          <a:latin typeface="Arial" panose="020B0604020202020204" pitchFamily="34" charset="0"/>
                          <a:ea typeface="微软雅黑" panose="020B0503020204020204" pitchFamily="34" charset="-122"/>
                          <a:sym typeface="Arial" panose="020B0604020202020204" pitchFamily="34" charset="0"/>
                        </a:rPr>
                        <a:t>SOP(530)</a:t>
                      </a:r>
                    </a:p>
                  </a:txBody>
                  <a:tcPr marL="0" marR="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923124786"/>
                  </a:ext>
                </a:extLst>
              </a:tr>
              <a:tr h="240081">
                <a:tc vMerge="1">
                  <a:txBody>
                    <a:bodyPr/>
                    <a:lstStyle/>
                    <a:p>
                      <a:pPr marL="0" marR="0" lvl="0" indent="0" algn="ctr" defTabSz="914400" rtl="0" eaLnBrk="1" fontAlgn="ctr" latinLnBrk="0" hangingPunct="1">
                        <a:lnSpc>
                          <a:spcPts val="1600"/>
                        </a:lnSpc>
                        <a:spcBef>
                          <a:spcPts val="0"/>
                        </a:spcBef>
                        <a:spcAft>
                          <a:spcPts val="0"/>
                        </a:spcAft>
                        <a:buClrTx/>
                        <a:buSzTx/>
                        <a:buFontTx/>
                        <a:buNone/>
                        <a:tabLst/>
                        <a:defRPr/>
                      </a:pPr>
                      <a:endParaRPr kumimoji="0" lang="zh-CN" altLang="en-US" sz="1200" b="0"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pitchFamily="34" charset="-122"/>
                        <a:cs typeface="+mn-cs"/>
                        <a:sym typeface="Arial" panose="020B0604020202020204" pitchFamily="34" charset="0"/>
                      </a:endParaRPr>
                    </a:p>
                  </a:txBody>
                  <a:tcPr marL="0" marR="0" marT="36000" marB="36000" anchor="ctr">
                    <a:lnT w="12700" cap="flat" cmpd="sng" algn="ctr">
                      <a:solidFill>
                        <a:schemeClr val="tx1"/>
                      </a:solidFill>
                      <a:prstDash val="solid"/>
                      <a:round/>
                      <a:headEnd type="none" w="med" len="med"/>
                      <a:tailEnd type="none" w="med" len="med"/>
                    </a:lnT>
                  </a:tcPr>
                </a:tc>
                <a:tc vMerge="1">
                  <a:txBody>
                    <a:bodyPr/>
                    <a:lstStyle/>
                    <a:p>
                      <a:pPr algn="ctr" fontAlgn="ctr" latinLnBrk="0">
                        <a:lnSpc>
                          <a:spcPts val="1600"/>
                        </a:lnSpc>
                        <a:buNone/>
                      </a:pPr>
                      <a:endParaRPr lang="zh-CN" altLang="en-US" sz="1200" b="0" i="0" dirty="0">
                        <a:solidFill>
                          <a:srgbClr val="000000"/>
                        </a:solidFill>
                        <a:effectLst/>
                        <a:latin typeface="Arial" panose="020B0604020202020204" pitchFamily="34" charset="0"/>
                        <a:ea typeface="微软雅黑" panose="020B0503020204020204" pitchFamily="34" charset="-122"/>
                        <a:sym typeface="Arial" panose="020B0604020202020204" pitchFamily="34" charset="0"/>
                      </a:endParaRPr>
                    </a:p>
                  </a:txBody>
                  <a:tcPr marL="0" marR="0" marT="36000" marB="36000"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914400" rtl="0" eaLnBrk="1" fontAlgn="ctr" latinLnBrk="0" hangingPunct="1">
                        <a:lnSpc>
                          <a:spcPts val="1600"/>
                        </a:lnSpc>
                        <a:buNone/>
                      </a:pPr>
                      <a:r>
                        <a:rPr lang="en-US" sz="1200" b="0" i="0" kern="1200" dirty="0">
                          <a:solidFill>
                            <a:srgbClr val="000000"/>
                          </a:solidFill>
                          <a:effectLst/>
                          <a:latin typeface="Arial" panose="020B0604020202020204" pitchFamily="34" charset="0"/>
                          <a:ea typeface="微软雅黑" panose="020B0503020204020204" pitchFamily="34" charset="-122"/>
                          <a:cs typeface="+mn-cs"/>
                        </a:rPr>
                        <a:t>U-Turn</a:t>
                      </a:r>
                      <a:r>
                        <a:rPr lang="zh-CN" altLang="en-US" sz="1200" b="0" i="0" kern="1200" dirty="0">
                          <a:solidFill>
                            <a:srgbClr val="000000"/>
                          </a:solidFill>
                          <a:effectLst/>
                          <a:latin typeface="Arial" panose="020B0604020202020204" pitchFamily="34" charset="0"/>
                          <a:ea typeface="微软雅黑" panose="020B0503020204020204" pitchFamily="34" charset="-122"/>
                          <a:cs typeface="+mn-cs"/>
                        </a:rPr>
                        <a:t>掉头</a:t>
                      </a:r>
                    </a:p>
                  </a:txBody>
                  <a:tcPr marL="0" marR="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171450" indent="-171450" algn="l" defTabSz="914400" rtl="0" eaLnBrk="1" fontAlgn="ctr" latinLnBrk="0" hangingPunct="1">
                        <a:lnSpc>
                          <a:spcPts val="1600"/>
                        </a:lnSpc>
                        <a:buFont typeface="微软雅黑" panose="020B0503020204020204" pitchFamily="34" charset="-122"/>
                        <a:buChar char="￭"/>
                      </a:pPr>
                      <a:r>
                        <a:rPr lang="zh-CN" altLang="en-US" sz="1200" b="0" i="0" kern="1200" dirty="0">
                          <a:solidFill>
                            <a:srgbClr val="000000"/>
                          </a:solidFill>
                          <a:effectLst/>
                          <a:latin typeface="Arial" panose="020B0604020202020204" pitchFamily="34" charset="0"/>
                          <a:ea typeface="微软雅黑" panose="020B0503020204020204" pitchFamily="34" charset="-122"/>
                          <a:cs typeface="+mn-cs"/>
                        </a:rPr>
                        <a:t>掉头空间足够大的场景，系统支持一把完成路口掉头，无需倒车</a:t>
                      </a:r>
                    </a:p>
                  </a:txBody>
                  <a:tcPr marL="72000" marR="7200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latinLnBrk="0">
                        <a:lnSpc>
                          <a:spcPts val="1600"/>
                        </a:lnSpc>
                        <a:buNone/>
                      </a:pPr>
                      <a:r>
                        <a:rPr lang="zh-CN" altLang="en-US" sz="1200" b="0" i="0" dirty="0">
                          <a:solidFill>
                            <a:srgbClr val="000000"/>
                          </a:solidFill>
                          <a:effectLst/>
                          <a:latin typeface="Arial" panose="020B0604020202020204" pitchFamily="34" charset="0"/>
                          <a:ea typeface="微软雅黑" panose="020B0503020204020204" pitchFamily="34" charset="-122"/>
                          <a:sym typeface="Arial" panose="020B0604020202020204" pitchFamily="34" charset="0"/>
                        </a:rPr>
                        <a:t>城区</a:t>
                      </a:r>
                    </a:p>
                  </a:txBody>
                  <a:tcPr marL="0" marR="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latinLnBrk="0">
                        <a:lnSpc>
                          <a:spcPts val="1600"/>
                        </a:lnSpc>
                        <a:buNone/>
                      </a:pPr>
                      <a:r>
                        <a:rPr lang="en-US" sz="1200" b="0" i="0" dirty="0">
                          <a:solidFill>
                            <a:srgbClr val="000000"/>
                          </a:solidFill>
                          <a:effectLst/>
                          <a:latin typeface="Arial" panose="020B0604020202020204" pitchFamily="34" charset="0"/>
                          <a:ea typeface="微软雅黑" panose="020B0503020204020204" pitchFamily="34" charset="-122"/>
                          <a:sym typeface="Arial" panose="020B0604020202020204" pitchFamily="34" charset="0"/>
                        </a:rPr>
                        <a:t>NOA，</a:t>
                      </a:r>
                      <a:r>
                        <a:rPr lang="zh-CN" altLang="en-US" sz="1200" b="0" i="0" dirty="0">
                          <a:solidFill>
                            <a:srgbClr val="000000"/>
                          </a:solidFill>
                          <a:effectLst/>
                          <a:latin typeface="Arial" panose="020B0604020202020204" pitchFamily="34" charset="0"/>
                          <a:ea typeface="微软雅黑" panose="020B0503020204020204" pitchFamily="34" charset="-122"/>
                          <a:sym typeface="Arial" panose="020B0604020202020204" pitchFamily="34" charset="0"/>
                        </a:rPr>
                        <a:t>漫游</a:t>
                      </a:r>
                    </a:p>
                  </a:txBody>
                  <a:tcPr marL="0" marR="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latinLnBrk="0">
                        <a:lnSpc>
                          <a:spcPts val="1600"/>
                        </a:lnSpc>
                        <a:buNone/>
                      </a:pPr>
                      <a:r>
                        <a:rPr lang="en-US" sz="1200" b="0" i="0" dirty="0">
                          <a:solidFill>
                            <a:srgbClr val="000000"/>
                          </a:solidFill>
                          <a:effectLst/>
                          <a:latin typeface="Arial" panose="020B0604020202020204" pitchFamily="34" charset="0"/>
                          <a:ea typeface="微软雅黑" panose="020B0503020204020204" pitchFamily="34" charset="-122"/>
                          <a:sym typeface="Arial" panose="020B0604020202020204" pitchFamily="34" charset="0"/>
                        </a:rPr>
                        <a:t>SOP(530)</a:t>
                      </a:r>
                    </a:p>
                  </a:txBody>
                  <a:tcPr marL="0" marR="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789399788"/>
                  </a:ext>
                </a:extLst>
              </a:tr>
            </a:tbl>
          </a:graphicData>
        </a:graphic>
      </p:graphicFrame>
    </p:spTree>
    <p:extLst>
      <p:ext uri="{BB962C8B-B14F-4D97-AF65-F5344CB8AC3E}">
        <p14:creationId xmlns:p14="http://schemas.microsoft.com/office/powerpoint/2010/main" val="392913759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BF72E5-EC55-3FA4-0DC4-5B3302CBD233}"/>
            </a:ext>
          </a:extLst>
        </p:cNvPr>
        <p:cNvGrpSpPr/>
        <p:nvPr/>
      </p:nvGrpSpPr>
      <p:grpSpPr>
        <a:xfrm>
          <a:off x="0" y="0"/>
          <a:ext cx="0" cy="0"/>
          <a:chOff x="0" y="0"/>
          <a:chExt cx="0" cy="0"/>
        </a:xfrm>
      </p:grpSpPr>
      <p:sp>
        <p:nvSpPr>
          <p:cNvPr id="2" name="日期占位符 1">
            <a:extLst>
              <a:ext uri="{FF2B5EF4-FFF2-40B4-BE49-F238E27FC236}">
                <a16:creationId xmlns:a16="http://schemas.microsoft.com/office/drawing/2014/main" id="{C58D6FAE-4F7F-1660-E08D-C3EBB58E5B33}"/>
              </a:ext>
            </a:extLst>
          </p:cNvPr>
          <p:cNvSpPr>
            <a:spLocks noGrp="1"/>
          </p:cNvSpPr>
          <p:nvPr>
            <p:ph type="dt" sz="half" idx="10"/>
          </p:nvPr>
        </p:nvSpPr>
        <p:spPr/>
        <p:txBody>
          <a:bodyPr/>
          <a:lstStyle/>
          <a:p>
            <a:fld id="{0B4571A7-0608-4CA0-91C4-DD76FEAC2393}" type="datetime1">
              <a:rPr lang="zh-CN" altLang="en-US" smtClean="0">
                <a:latin typeface="Arial" panose="020B0604020202020204" pitchFamily="34" charset="0"/>
                <a:ea typeface="微软雅黑" panose="020B0503020204020204" pitchFamily="34" charset="-122"/>
                <a:sym typeface="Arial" panose="020B0604020202020204" pitchFamily="34" charset="0"/>
              </a:rPr>
              <a:t>2026/2/10</a:t>
            </a:fld>
            <a:endParaRPr lang="en-US" altLang="en-US" dirty="0">
              <a:latin typeface="Arial" panose="020B0604020202020204" pitchFamily="34" charset="0"/>
              <a:ea typeface="微软雅黑" panose="020B0503020204020204" pitchFamily="34" charset="-122"/>
              <a:sym typeface="Arial" panose="020B0604020202020204" pitchFamily="34" charset="0"/>
            </a:endParaRPr>
          </a:p>
        </p:txBody>
      </p:sp>
      <p:sp>
        <p:nvSpPr>
          <p:cNvPr id="3" name="页脚占位符 2">
            <a:extLst>
              <a:ext uri="{FF2B5EF4-FFF2-40B4-BE49-F238E27FC236}">
                <a16:creationId xmlns:a16="http://schemas.microsoft.com/office/drawing/2014/main" id="{D6557222-1608-7F19-4603-2138F8078503}"/>
              </a:ext>
            </a:extLst>
          </p:cNvPr>
          <p:cNvSpPr>
            <a:spLocks noGrp="1"/>
          </p:cNvSpPr>
          <p:nvPr>
            <p:ph type="ftr" sz="quarter" idx="11"/>
          </p:nvPr>
        </p:nvSpPr>
        <p:spPr>
          <a:xfrm>
            <a:off x="3783332" y="6484621"/>
            <a:ext cx="4771388" cy="373379"/>
          </a:xfrm>
        </p:spPr>
        <p:txBody>
          <a:bodyPr/>
          <a:lstStyle/>
          <a:p>
            <a:r>
              <a:rPr lang="en-US" altLang="en-US" dirty="0">
                <a:latin typeface="Arial" panose="020B0604020202020204" pitchFamily="34" charset="0"/>
                <a:ea typeface="微软雅黑" panose="020B0503020204020204" pitchFamily="34" charset="-122"/>
                <a:sym typeface="Arial" panose="020B0604020202020204" pitchFamily="34" charset="0"/>
              </a:rPr>
              <a:t>Horizon Continental Technology Shanghai Co.， Ltd -  Confidential Information Under NDA</a:t>
            </a:r>
          </a:p>
        </p:txBody>
      </p:sp>
      <p:sp>
        <p:nvSpPr>
          <p:cNvPr id="4" name="灯片编号占位符 3">
            <a:extLst>
              <a:ext uri="{FF2B5EF4-FFF2-40B4-BE49-F238E27FC236}">
                <a16:creationId xmlns:a16="http://schemas.microsoft.com/office/drawing/2014/main" id="{49C4B083-BBE7-6567-5ED3-47C8E5B34D08}"/>
              </a:ext>
            </a:extLst>
          </p:cNvPr>
          <p:cNvSpPr>
            <a:spLocks noGrp="1"/>
          </p:cNvSpPr>
          <p:nvPr>
            <p:ph type="sldNum" sz="quarter" idx="12"/>
          </p:nvPr>
        </p:nvSpPr>
        <p:spPr/>
        <p:txBody>
          <a:bodyPr/>
          <a:lstStyle/>
          <a:p>
            <a:fld id="{9CC13275-6251-4C40-AFE1-85D85DA07171}" type="slidenum">
              <a:rPr lang="en-US" altLang="en-US" smtClean="0">
                <a:latin typeface="Arial" panose="020B0604020202020204" pitchFamily="34" charset="0"/>
                <a:ea typeface="微软雅黑" panose="020B0503020204020204" pitchFamily="34" charset="-122"/>
                <a:sym typeface="Arial" panose="020B0604020202020204" pitchFamily="34" charset="0"/>
              </a:rPr>
              <a:t>3</a:t>
            </a:fld>
            <a:endParaRPr lang="en-US" altLang="en-US" dirty="0">
              <a:latin typeface="Arial" panose="020B0604020202020204" pitchFamily="34" charset="0"/>
              <a:ea typeface="微软雅黑" panose="020B0503020204020204" pitchFamily="34" charset="-122"/>
              <a:sym typeface="Arial" panose="020B0604020202020204" pitchFamily="34" charset="0"/>
            </a:endParaRPr>
          </a:p>
        </p:txBody>
      </p:sp>
      <p:sp>
        <p:nvSpPr>
          <p:cNvPr id="5" name="文本框 4">
            <a:extLst>
              <a:ext uri="{FF2B5EF4-FFF2-40B4-BE49-F238E27FC236}">
                <a16:creationId xmlns:a16="http://schemas.microsoft.com/office/drawing/2014/main" id="{96302FFA-4C3F-DF86-27FF-C085C9582DC2}"/>
              </a:ext>
            </a:extLst>
          </p:cNvPr>
          <p:cNvSpPr txBox="1"/>
          <p:nvPr/>
        </p:nvSpPr>
        <p:spPr>
          <a:xfrm>
            <a:off x="777240" y="488315"/>
            <a:ext cx="10637520" cy="491490"/>
          </a:xfrm>
          <a:prstGeom prst="rect">
            <a:avLst/>
          </a:prstGeom>
          <a:noFill/>
        </p:spPr>
        <p:txBody>
          <a:bodyPr wrap="square">
            <a:spAutoFit/>
          </a:bodyPr>
          <a:lstStyle>
            <a:defPPr>
              <a:defRPr lang="en-US"/>
            </a:defPPr>
            <a:lvl1pPr algn="ctr">
              <a:defRPr sz="2600" b="0" spc="300">
                <a:solidFill>
                  <a:srgbClr val="001432"/>
                </a:solidFill>
                <a:latin typeface="+mj-ea"/>
                <a:ea typeface="+mj-ea"/>
              </a:defRPr>
            </a:lvl1pPr>
          </a:lstStyle>
          <a:p>
            <a:pPr lvl="0" defTabSz="914400">
              <a:defRPr/>
            </a:pPr>
            <a:r>
              <a:rPr lang="en-US" altLang="zh-CN" dirty="0">
                <a:solidFill>
                  <a:srgbClr val="131319"/>
                </a:solidFill>
                <a:latin typeface="Arial" panose="020B0604020202020204" pitchFamily="34" charset="0"/>
                <a:ea typeface="微软雅黑" panose="020B0503020204020204" pitchFamily="34" charset="-122"/>
                <a:sym typeface="Arial" panose="020B0604020202020204" pitchFamily="34" charset="0"/>
              </a:rPr>
              <a:t>Astra</a:t>
            </a:r>
            <a:r>
              <a:rPr lang="zh-CN" altLang="en-US" dirty="0">
                <a:solidFill>
                  <a:srgbClr val="131319"/>
                </a:solidFill>
                <a:latin typeface="Arial" panose="020B0604020202020204" pitchFamily="34" charset="0"/>
                <a:ea typeface="微软雅黑" panose="020B0503020204020204" pitchFamily="34" charset="-122"/>
                <a:sym typeface="Arial" panose="020B0604020202020204" pitchFamily="34" charset="0"/>
              </a:rPr>
              <a:t>行车功能列表</a:t>
            </a:r>
            <a:endParaRPr lang="zh-CN" altLang="en-US" sz="4000" dirty="0">
              <a:solidFill>
                <a:srgbClr val="131319"/>
              </a:solidFill>
              <a:latin typeface="Arial" panose="020B0604020202020204" pitchFamily="34" charset="0"/>
              <a:ea typeface="微软雅黑" panose="020B0503020204020204" pitchFamily="34" charset="-122"/>
              <a:sym typeface="Arial" panose="020B0604020202020204" pitchFamily="34" charset="0"/>
            </a:endParaRPr>
          </a:p>
        </p:txBody>
      </p:sp>
      <p:graphicFrame>
        <p:nvGraphicFramePr>
          <p:cNvPr id="7" name="表格 6">
            <a:extLst>
              <a:ext uri="{FF2B5EF4-FFF2-40B4-BE49-F238E27FC236}">
                <a16:creationId xmlns:a16="http://schemas.microsoft.com/office/drawing/2014/main" id="{FB578A86-B24E-5DD2-E9DD-0749859305DE}"/>
              </a:ext>
            </a:extLst>
          </p:cNvPr>
          <p:cNvGraphicFramePr>
            <a:graphicFrameLocks noGrp="1"/>
          </p:cNvGraphicFramePr>
          <p:nvPr>
            <p:extLst>
              <p:ext uri="{D42A27DB-BD31-4B8C-83A1-F6EECF244321}">
                <p14:modId xmlns:p14="http://schemas.microsoft.com/office/powerpoint/2010/main" val="90588010"/>
              </p:ext>
            </p:extLst>
          </p:nvPr>
        </p:nvGraphicFramePr>
        <p:xfrm>
          <a:off x="206245" y="1055615"/>
          <a:ext cx="11779505" cy="5349235"/>
        </p:xfrm>
        <a:graphic>
          <a:graphicData uri="http://schemas.openxmlformats.org/drawingml/2006/table">
            <a:tbl>
              <a:tblPr/>
              <a:tblGrid>
                <a:gridCol w="708155">
                  <a:extLst>
                    <a:ext uri="{9D8B030D-6E8A-4147-A177-3AD203B41FA5}">
                      <a16:colId xmlns:a16="http://schemas.microsoft.com/office/drawing/2014/main" val="753555554"/>
                    </a:ext>
                  </a:extLst>
                </a:gridCol>
                <a:gridCol w="894080">
                  <a:extLst>
                    <a:ext uri="{9D8B030D-6E8A-4147-A177-3AD203B41FA5}">
                      <a16:colId xmlns:a16="http://schemas.microsoft.com/office/drawing/2014/main" val="1683866501"/>
                    </a:ext>
                  </a:extLst>
                </a:gridCol>
                <a:gridCol w="1259840">
                  <a:extLst>
                    <a:ext uri="{9D8B030D-6E8A-4147-A177-3AD203B41FA5}">
                      <a16:colId xmlns:a16="http://schemas.microsoft.com/office/drawing/2014/main" val="3663784263"/>
                    </a:ext>
                  </a:extLst>
                </a:gridCol>
                <a:gridCol w="6258560">
                  <a:extLst>
                    <a:ext uri="{9D8B030D-6E8A-4147-A177-3AD203B41FA5}">
                      <a16:colId xmlns:a16="http://schemas.microsoft.com/office/drawing/2014/main" val="2991448286"/>
                    </a:ext>
                  </a:extLst>
                </a:gridCol>
                <a:gridCol w="886290">
                  <a:extLst>
                    <a:ext uri="{9D8B030D-6E8A-4147-A177-3AD203B41FA5}">
                      <a16:colId xmlns:a16="http://schemas.microsoft.com/office/drawing/2014/main" val="577342126"/>
                    </a:ext>
                  </a:extLst>
                </a:gridCol>
                <a:gridCol w="886290">
                  <a:extLst>
                    <a:ext uri="{9D8B030D-6E8A-4147-A177-3AD203B41FA5}">
                      <a16:colId xmlns:a16="http://schemas.microsoft.com/office/drawing/2014/main" val="1391232952"/>
                    </a:ext>
                  </a:extLst>
                </a:gridCol>
                <a:gridCol w="886290">
                  <a:extLst>
                    <a:ext uri="{9D8B030D-6E8A-4147-A177-3AD203B41FA5}">
                      <a16:colId xmlns:a16="http://schemas.microsoft.com/office/drawing/2014/main" val="2161060958"/>
                    </a:ext>
                  </a:extLst>
                </a:gridCol>
              </a:tblGrid>
              <a:tr h="252427">
                <a:tc gridSpan="2">
                  <a:txBody>
                    <a:bodyPr/>
                    <a:lstStyle/>
                    <a:p>
                      <a:pPr algn="ctr" fontAlgn="ctr" latinLnBrk="0">
                        <a:lnSpc>
                          <a:spcPts val="1600"/>
                        </a:lnSpc>
                        <a:buNone/>
                      </a:pPr>
                      <a:r>
                        <a:rPr lang="zh-CN" altLang="en-US" sz="1200" b="1" i="0" dirty="0">
                          <a:solidFill>
                            <a:schemeClr val="bg1"/>
                          </a:solidFill>
                          <a:effectLst/>
                          <a:latin typeface="Arial" panose="020B0604020202020204" pitchFamily="34" charset="0"/>
                          <a:ea typeface="微软雅黑" panose="020B0503020204020204" pitchFamily="34" charset="-122"/>
                          <a:sym typeface="Arial" panose="020B0604020202020204" pitchFamily="34" charset="0"/>
                        </a:rPr>
                        <a:t>一级功能</a:t>
                      </a:r>
                    </a:p>
                  </a:txBody>
                  <a:tcPr marL="0" marR="0" marT="18000" marB="18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hMerge="1">
                  <a:txBody>
                    <a:bodyPr/>
                    <a:lstStyle/>
                    <a:p>
                      <a:endParaRPr lang="zh-CN" altLang="en-US"/>
                    </a:p>
                  </a:txBody>
                  <a:tcPr/>
                </a:tc>
                <a:tc>
                  <a:txBody>
                    <a:bodyPr/>
                    <a:lstStyle/>
                    <a:p>
                      <a:pPr algn="ctr" fontAlgn="ctr" latinLnBrk="0">
                        <a:lnSpc>
                          <a:spcPts val="1600"/>
                        </a:lnSpc>
                        <a:buNone/>
                      </a:pPr>
                      <a:r>
                        <a:rPr lang="zh-CN" altLang="en-US" sz="1200" b="1" i="0" dirty="0">
                          <a:solidFill>
                            <a:schemeClr val="bg1"/>
                          </a:solidFill>
                          <a:effectLst/>
                          <a:latin typeface="Arial" panose="020B0604020202020204" pitchFamily="34" charset="0"/>
                          <a:ea typeface="微软雅黑" panose="020B0503020204020204" pitchFamily="34" charset="-122"/>
                          <a:sym typeface="Arial" panose="020B0604020202020204" pitchFamily="34" charset="0"/>
                        </a:rPr>
                        <a:t>二级功能</a:t>
                      </a:r>
                    </a:p>
                  </a:txBody>
                  <a:tcPr marL="0" marR="0" marT="18000" marB="18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fontAlgn="ctr" latinLnBrk="0">
                        <a:lnSpc>
                          <a:spcPts val="1600"/>
                        </a:lnSpc>
                        <a:buNone/>
                      </a:pPr>
                      <a:r>
                        <a:rPr lang="zh-CN" altLang="en-US" sz="1200" b="1" i="0" dirty="0">
                          <a:solidFill>
                            <a:schemeClr val="bg1"/>
                          </a:solidFill>
                          <a:effectLst/>
                          <a:latin typeface="Arial" panose="020B0604020202020204" pitchFamily="34" charset="0"/>
                          <a:ea typeface="微软雅黑" panose="020B0503020204020204" pitchFamily="34" charset="-122"/>
                          <a:sym typeface="Arial" panose="020B0604020202020204" pitchFamily="34" charset="0"/>
                        </a:rPr>
                        <a:t>描述</a:t>
                      </a:r>
                    </a:p>
                  </a:txBody>
                  <a:tcPr marL="0" marR="0" marT="18000" marB="18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fontAlgn="ctr" latinLnBrk="0">
                        <a:lnSpc>
                          <a:spcPts val="1600"/>
                        </a:lnSpc>
                        <a:buNone/>
                      </a:pPr>
                      <a:r>
                        <a:rPr lang="zh-CN" altLang="en-US" sz="1200" b="1" i="0" dirty="0">
                          <a:solidFill>
                            <a:schemeClr val="bg1"/>
                          </a:solidFill>
                          <a:effectLst/>
                          <a:latin typeface="Arial" panose="020B0604020202020204" pitchFamily="34" charset="0"/>
                          <a:ea typeface="微软雅黑" panose="020B0503020204020204" pitchFamily="34" charset="-122"/>
                          <a:sym typeface="Arial" panose="020B0604020202020204" pitchFamily="34" charset="0"/>
                        </a:rPr>
                        <a:t>场景</a:t>
                      </a:r>
                    </a:p>
                  </a:txBody>
                  <a:tcPr marL="0" marR="0" marT="18000" marB="18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fontAlgn="ctr" latinLnBrk="0">
                        <a:lnSpc>
                          <a:spcPts val="1600"/>
                        </a:lnSpc>
                        <a:buNone/>
                      </a:pPr>
                      <a:r>
                        <a:rPr lang="zh-CN" altLang="en-US" sz="1200" b="1" i="0" dirty="0">
                          <a:solidFill>
                            <a:schemeClr val="bg1"/>
                          </a:solidFill>
                          <a:effectLst/>
                          <a:latin typeface="Arial" panose="020B0604020202020204" pitchFamily="34" charset="0"/>
                          <a:ea typeface="微软雅黑" panose="020B0503020204020204" pitchFamily="34" charset="-122"/>
                          <a:sym typeface="Arial" panose="020B0604020202020204" pitchFamily="34" charset="0"/>
                        </a:rPr>
                        <a:t>功能</a:t>
                      </a:r>
                    </a:p>
                  </a:txBody>
                  <a:tcPr marL="0" marR="0" marT="18000" marB="18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fontAlgn="ctr" latinLnBrk="0">
                        <a:lnSpc>
                          <a:spcPts val="1600"/>
                        </a:lnSpc>
                        <a:buNone/>
                      </a:pPr>
                      <a:r>
                        <a:rPr lang="zh-CN" altLang="en-US" sz="1200" b="1" i="0" dirty="0">
                          <a:solidFill>
                            <a:schemeClr val="bg1"/>
                          </a:solidFill>
                          <a:effectLst/>
                          <a:latin typeface="Arial" panose="020B0604020202020204" pitchFamily="34" charset="0"/>
                          <a:ea typeface="微软雅黑" panose="020B0503020204020204" pitchFamily="34" charset="-122"/>
                          <a:sym typeface="Arial" panose="020B0604020202020204" pitchFamily="34" charset="0"/>
                        </a:rPr>
                        <a:t>上线计划</a:t>
                      </a:r>
                    </a:p>
                  </a:txBody>
                  <a:tcPr marL="0" marR="0" marT="18000" marB="18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extLst>
                  <a:ext uri="{0D108BD9-81ED-4DB2-BD59-A6C34878D82A}">
                    <a16:rowId xmlns:a16="http://schemas.microsoft.com/office/drawing/2014/main" val="1774747084"/>
                  </a:ext>
                </a:extLst>
              </a:tr>
              <a:tr h="407259">
                <a:tc rowSpan="15">
                  <a:txBody>
                    <a:bodyPr/>
                    <a:lstStyle/>
                    <a:p>
                      <a:pPr marL="0" marR="0" lvl="0" indent="0" algn="ctr" defTabSz="914400" rtl="0" eaLnBrk="1" fontAlgn="ctr" latinLnBrk="0" hangingPunct="1">
                        <a:lnSpc>
                          <a:spcPts val="1600"/>
                        </a:lnSpc>
                        <a:spcBef>
                          <a:spcPts val="0"/>
                        </a:spcBef>
                        <a:spcAft>
                          <a:spcPts val="0"/>
                        </a:spcAft>
                        <a:buClrTx/>
                        <a:buSzTx/>
                        <a:buFontTx/>
                        <a:buNone/>
                        <a:tabLst/>
                        <a:defRPr/>
                      </a:pPr>
                      <a:r>
                        <a:rPr kumimoji="0" lang="zh-CN" altLang="en-US" sz="1200" b="0"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pitchFamily="34" charset="-122"/>
                          <a:cs typeface="+mn-cs"/>
                          <a:sym typeface="Arial" panose="020B0604020202020204" pitchFamily="34" charset="0"/>
                        </a:rPr>
                        <a:t>领航功能</a:t>
                      </a:r>
                    </a:p>
                  </a:txBody>
                  <a:tcPr marL="0" marR="0" marT="18000" marB="18000" anchor="ctr">
                    <a:lnT w="12700" cap="flat" cmpd="sng" algn="ctr">
                      <a:solidFill>
                        <a:schemeClr val="tx1"/>
                      </a:solidFill>
                      <a:prstDash val="solid"/>
                      <a:round/>
                      <a:headEnd type="none" w="med" len="med"/>
                      <a:tailEnd type="none" w="med" len="med"/>
                    </a:lnT>
                  </a:tcPr>
                </a:tc>
                <a:tc rowSpan="6">
                  <a:txBody>
                    <a:bodyPr/>
                    <a:lstStyle/>
                    <a:p>
                      <a:pPr algn="ctr"/>
                      <a:r>
                        <a:rPr kumimoji="0" lang="zh-CN" altLang="en-US" sz="1200" b="0" i="0" u="none" strike="noStrike" kern="1200" cap="none" spc="0" normalizeH="0" baseline="0" noProof="0" dirty="0">
                          <a:ln>
                            <a:noFill/>
                          </a:ln>
                          <a:solidFill>
                            <a:srgbClr val="000000"/>
                          </a:solidFill>
                          <a:effectLst/>
                          <a:uLnTx/>
                          <a:uFillTx/>
                          <a:latin typeface="+mn-lt"/>
                          <a:ea typeface="+mn-ea"/>
                          <a:cs typeface="+mn-cs"/>
                        </a:rPr>
                        <a:t>绕行</a:t>
                      </a:r>
                      <a:endParaRPr dirty="0"/>
                    </a:p>
                  </a:txBody>
                  <a:tcPr marL="0" marR="0" marT="18000" marB="18000" anchor="ctr"/>
                </a:tc>
                <a:tc>
                  <a:txBody>
                    <a:bodyPr/>
                    <a:lstStyle/>
                    <a:p>
                      <a:pPr algn="ctr" fontAlgn="ctr" latinLnBrk="0">
                        <a:buNone/>
                      </a:pPr>
                      <a:r>
                        <a:rPr lang="zh-CN" altLang="en-US" sz="1200" b="0" i="0" dirty="0">
                          <a:solidFill>
                            <a:srgbClr val="000000"/>
                          </a:solidFill>
                          <a:effectLst/>
                        </a:rPr>
                        <a:t>道内绕行</a:t>
                      </a:r>
                    </a:p>
                  </a:txBody>
                  <a:tcPr marL="0" marR="0" marT="18000" marB="18000"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171450" indent="-171450" algn="l" fontAlgn="ctr" latinLnBrk="0">
                        <a:buFont typeface="微软雅黑" panose="020B0503020204020204" pitchFamily="34" charset="-122"/>
                        <a:buChar char="￭"/>
                      </a:pPr>
                      <a:r>
                        <a:rPr lang="zh-CN" altLang="en-US" sz="1200" b="0" i="0" kern="1200" dirty="0">
                          <a:solidFill>
                            <a:srgbClr val="000000"/>
                          </a:solidFill>
                          <a:effectLst/>
                          <a:latin typeface="+mn-lt"/>
                          <a:ea typeface="+mn-ea"/>
                          <a:cs typeface="+mn-cs"/>
                        </a:rPr>
                        <a:t>车道前方存在占道障碍物或隔壁车道有危险障碍物，且道内剩余空间满足自车通行时，根据与障碍物横向距离，判断绕行幅度及偏移量，绕行成功后居中行驶</a:t>
                      </a:r>
                    </a:p>
                  </a:txBody>
                  <a:tcPr marL="72000" marR="72000" marT="18000" marB="18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zh-CN" altLang="en-US" sz="1200" b="0" i="0" u="none" strike="noStrike" kern="1200" cap="none" spc="0" normalizeH="0" baseline="0" noProof="0" dirty="0">
                          <a:ln>
                            <a:noFill/>
                          </a:ln>
                          <a:solidFill>
                            <a:srgbClr val="000000"/>
                          </a:solidFill>
                          <a:effectLst/>
                          <a:uLnTx/>
                          <a:uFillTx/>
                          <a:latin typeface="微软雅黑"/>
                          <a:ea typeface="微软雅黑"/>
                          <a:cs typeface="+mn-cs"/>
                        </a:rPr>
                        <a:t>城区，高速</a:t>
                      </a:r>
                    </a:p>
                  </a:txBody>
                  <a:tcPr marL="0" marR="0" marT="18000" marB="18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US" altLang="zh-CN" sz="1200" b="0" i="0" u="none" strike="noStrike" kern="1200" cap="none" spc="0" normalizeH="0" baseline="0" noProof="0">
                          <a:ln>
                            <a:noFill/>
                          </a:ln>
                          <a:solidFill>
                            <a:srgbClr val="000000"/>
                          </a:solidFill>
                          <a:effectLst/>
                          <a:uLnTx/>
                          <a:uFillTx/>
                          <a:latin typeface="微软雅黑"/>
                          <a:ea typeface="微软雅黑"/>
                          <a:cs typeface="+mn-cs"/>
                        </a:rPr>
                        <a:t>NOA</a:t>
                      </a:r>
                      <a:r>
                        <a:rPr kumimoji="0" lang="zh-CN" altLang="en-US" sz="1200" b="0" i="0" u="none" strike="noStrike" kern="1200" cap="none" spc="0" normalizeH="0" baseline="0" noProof="0">
                          <a:ln>
                            <a:noFill/>
                          </a:ln>
                          <a:solidFill>
                            <a:srgbClr val="000000"/>
                          </a:solidFill>
                          <a:effectLst/>
                          <a:uLnTx/>
                          <a:uFillTx/>
                          <a:latin typeface="微软雅黑"/>
                          <a:ea typeface="微软雅黑"/>
                          <a:cs typeface="+mn-cs"/>
                        </a:rPr>
                        <a:t>，漫游</a:t>
                      </a:r>
                      <a:endParaRPr kumimoji="0" lang="zh-CN" altLang="en-US" sz="1200" b="0" i="0" u="none" strike="noStrike" kern="1200" cap="none" spc="0" normalizeH="0" baseline="0" noProof="0" dirty="0">
                        <a:ln>
                          <a:noFill/>
                        </a:ln>
                        <a:solidFill>
                          <a:srgbClr val="000000"/>
                        </a:solidFill>
                        <a:effectLst/>
                        <a:uLnTx/>
                        <a:uFillTx/>
                        <a:latin typeface="微软雅黑"/>
                        <a:ea typeface="微软雅黑"/>
                        <a:cs typeface="+mn-cs"/>
                      </a:endParaRPr>
                    </a:p>
                  </a:txBody>
                  <a:tcPr marL="0" marR="0" marT="18000" marB="18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ctr" latinLnBrk="0" hangingPunct="1">
                        <a:lnSpc>
                          <a:spcPts val="1600"/>
                        </a:lnSpc>
                        <a:spcBef>
                          <a:spcPts val="0"/>
                        </a:spcBef>
                        <a:spcAft>
                          <a:spcPts val="0"/>
                        </a:spcAft>
                        <a:buClrTx/>
                        <a:buSzTx/>
                        <a:buFontTx/>
                        <a:buNone/>
                        <a:tabLst/>
                        <a:defRPr/>
                      </a:pPr>
                      <a:r>
                        <a:rPr kumimoji="0" lang="en-US" altLang="zh-CN" sz="1200" b="0"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pitchFamily="34" charset="-122"/>
                          <a:cs typeface="+mn-cs"/>
                          <a:sym typeface="Arial" panose="020B0604020202020204" pitchFamily="34" charset="0"/>
                        </a:rPr>
                        <a:t>SOP(530)</a:t>
                      </a:r>
                    </a:p>
                  </a:txBody>
                  <a:tcPr marL="0" marR="0" marT="18000" marB="18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20951431"/>
                  </a:ext>
                </a:extLst>
              </a:tr>
              <a:tr h="407259">
                <a:tc vMerge="1">
                  <a:txBody>
                    <a:bodyPr/>
                    <a:lstStyle/>
                    <a:p>
                      <a:endParaRPr lang="zh-CN" altLang="en-US"/>
                    </a:p>
                  </a:txBody>
                  <a:tcPr/>
                </a:tc>
                <a:tc vMerge="1">
                  <a:txBody>
                    <a:bodyPr/>
                    <a:lstStyle/>
                    <a:p>
                      <a:endParaRPr lang="zh-CN" altLang="en-US"/>
                    </a:p>
                  </a:txBody>
                  <a:tcPr/>
                </a:tc>
                <a:tc>
                  <a:txBody>
                    <a:bodyPr/>
                    <a:lstStyle/>
                    <a:p>
                      <a:pPr algn="ctr" fontAlgn="ctr" latinLnBrk="0">
                        <a:buNone/>
                      </a:pPr>
                      <a:r>
                        <a:rPr lang="zh-CN" altLang="en-US" sz="1200" b="0" i="0" dirty="0">
                          <a:solidFill>
                            <a:srgbClr val="000000"/>
                          </a:solidFill>
                          <a:effectLst/>
                        </a:rPr>
                        <a:t>借道绕行</a:t>
                      </a:r>
                    </a:p>
                  </a:txBody>
                  <a:tcPr marL="0" marR="0" marT="18000" marB="18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171450" indent="-171450" algn="l" fontAlgn="ctr" latinLnBrk="0">
                        <a:buFont typeface="微软雅黑" panose="020B0503020204020204" pitchFamily="34" charset="-122"/>
                        <a:buChar char="￭"/>
                      </a:pPr>
                      <a:r>
                        <a:rPr lang="zh-CN" altLang="en-US" sz="1200" b="0" i="0" kern="1200" dirty="0">
                          <a:solidFill>
                            <a:srgbClr val="000000"/>
                          </a:solidFill>
                          <a:effectLst/>
                          <a:latin typeface="+mn-lt"/>
                          <a:ea typeface="+mn-ea"/>
                          <a:cs typeface="+mn-cs"/>
                        </a:rPr>
                        <a:t>车道前方内存在占道障碍物，道内剩余空间不满足自车通行条件时，系统可利用隔壁车道的空间进行绕行，绕行成功后，返回原车道居中行驶</a:t>
                      </a:r>
                    </a:p>
                  </a:txBody>
                  <a:tcPr marL="72000" marR="72000" marT="18000" marB="18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zh-CN" altLang="en-US" sz="1200" b="0" i="0" u="none" strike="noStrike" kern="1200" cap="none" spc="0" normalizeH="0" baseline="0" noProof="0" dirty="0">
                          <a:ln>
                            <a:noFill/>
                          </a:ln>
                          <a:solidFill>
                            <a:srgbClr val="000000"/>
                          </a:solidFill>
                          <a:effectLst/>
                          <a:uLnTx/>
                          <a:uFillTx/>
                          <a:latin typeface="微软雅黑"/>
                          <a:ea typeface="微软雅黑"/>
                          <a:cs typeface="+mn-cs"/>
                        </a:rPr>
                        <a:t>城区，高速</a:t>
                      </a:r>
                    </a:p>
                  </a:txBody>
                  <a:tcPr marL="0" marR="0" marT="18000" marB="18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US" altLang="zh-CN" sz="1200" b="0" i="0" u="none" strike="noStrike" kern="1200" cap="none" spc="0" normalizeH="0" baseline="0" noProof="0">
                          <a:ln>
                            <a:noFill/>
                          </a:ln>
                          <a:solidFill>
                            <a:srgbClr val="000000"/>
                          </a:solidFill>
                          <a:effectLst/>
                          <a:uLnTx/>
                          <a:uFillTx/>
                          <a:latin typeface="微软雅黑"/>
                          <a:ea typeface="微软雅黑"/>
                          <a:cs typeface="+mn-cs"/>
                        </a:rPr>
                        <a:t>NOA</a:t>
                      </a:r>
                      <a:r>
                        <a:rPr kumimoji="0" lang="zh-CN" altLang="en-US" sz="1200" b="0" i="0" u="none" strike="noStrike" kern="1200" cap="none" spc="0" normalizeH="0" baseline="0" noProof="0">
                          <a:ln>
                            <a:noFill/>
                          </a:ln>
                          <a:solidFill>
                            <a:srgbClr val="000000"/>
                          </a:solidFill>
                          <a:effectLst/>
                          <a:uLnTx/>
                          <a:uFillTx/>
                          <a:latin typeface="微软雅黑"/>
                          <a:ea typeface="微软雅黑"/>
                          <a:cs typeface="+mn-cs"/>
                        </a:rPr>
                        <a:t>，漫游</a:t>
                      </a:r>
                      <a:endParaRPr kumimoji="0" lang="zh-CN" altLang="en-US" sz="1200" b="0" i="0" u="none" strike="noStrike" kern="1200" cap="none" spc="0" normalizeH="0" baseline="0" noProof="0" dirty="0">
                        <a:ln>
                          <a:noFill/>
                        </a:ln>
                        <a:solidFill>
                          <a:srgbClr val="000000"/>
                        </a:solidFill>
                        <a:effectLst/>
                        <a:uLnTx/>
                        <a:uFillTx/>
                        <a:latin typeface="微软雅黑"/>
                        <a:ea typeface="微软雅黑"/>
                        <a:cs typeface="+mn-cs"/>
                      </a:endParaRPr>
                    </a:p>
                  </a:txBody>
                  <a:tcPr marL="0" marR="0" marT="18000" marB="18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ctr" latinLnBrk="0" hangingPunct="1">
                        <a:lnSpc>
                          <a:spcPts val="1600"/>
                        </a:lnSpc>
                        <a:spcBef>
                          <a:spcPts val="0"/>
                        </a:spcBef>
                        <a:spcAft>
                          <a:spcPts val="0"/>
                        </a:spcAft>
                        <a:buClrTx/>
                        <a:buSzTx/>
                        <a:buFontTx/>
                        <a:buNone/>
                        <a:tabLst/>
                        <a:defRPr/>
                      </a:pPr>
                      <a:r>
                        <a:rPr kumimoji="0" lang="en-US" altLang="zh-CN" sz="1200" b="0"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pitchFamily="34" charset="-122"/>
                          <a:cs typeface="+mn-cs"/>
                          <a:sym typeface="Arial" panose="020B0604020202020204" pitchFamily="34" charset="0"/>
                        </a:rPr>
                        <a:t>SOP(530)</a:t>
                      </a:r>
                    </a:p>
                  </a:txBody>
                  <a:tcPr marL="0" marR="0" marT="18000" marB="18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5125430"/>
                  </a:ext>
                </a:extLst>
              </a:tr>
              <a:tr h="407259">
                <a:tc vMerge="1">
                  <a:txBody>
                    <a:bodyPr/>
                    <a:lstStyle/>
                    <a:p>
                      <a:endParaRPr lang="zh-CN" altLang="en-US"/>
                    </a:p>
                  </a:txBody>
                  <a:tcPr/>
                </a:tc>
                <a:tc vMerge="1">
                  <a:txBody>
                    <a:bodyPr/>
                    <a:lstStyle/>
                    <a:p>
                      <a:endParaRPr lang="zh-CN" altLang="en-US"/>
                    </a:p>
                  </a:txBody>
                  <a:tcPr/>
                </a:tc>
                <a:tc>
                  <a:txBody>
                    <a:bodyPr/>
                    <a:lstStyle/>
                    <a:p>
                      <a:pPr algn="ctr" fontAlgn="ctr" latinLnBrk="0">
                        <a:buNone/>
                      </a:pPr>
                      <a:r>
                        <a:rPr lang="zh-CN" altLang="en-US" sz="1200" b="0" i="0" dirty="0">
                          <a:solidFill>
                            <a:srgbClr val="000000"/>
                          </a:solidFill>
                          <a:effectLst/>
                        </a:rPr>
                        <a:t>变道绕行</a:t>
                      </a:r>
                    </a:p>
                  </a:txBody>
                  <a:tcPr marL="0" marR="0" marT="18000" marB="18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171450" indent="-171450" algn="l" fontAlgn="ctr" latinLnBrk="0">
                        <a:buFont typeface="微软雅黑" panose="020B0503020204020204" pitchFamily="34" charset="-122"/>
                        <a:buChar char="￭"/>
                      </a:pPr>
                      <a:r>
                        <a:rPr lang="zh-CN" altLang="en-US" sz="1200" b="0" i="0" dirty="0">
                          <a:solidFill>
                            <a:srgbClr val="000000"/>
                          </a:solidFill>
                          <a:effectLst/>
                        </a:rPr>
                        <a:t>车道前方内存在占道障碍物，本车必须完全变道才可通行，根据自车速度、位置与障碍物纵向距离，速度差，判断提前变道时机，通过变道绕行障碍物</a:t>
                      </a:r>
                    </a:p>
                  </a:txBody>
                  <a:tcPr marL="72000" marR="72000" marT="18000" marB="18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latinLnBrk="0">
                        <a:buNone/>
                      </a:pPr>
                      <a:r>
                        <a:rPr lang="zh-CN" altLang="en-US" sz="1200" b="0" i="0" dirty="0">
                          <a:solidFill>
                            <a:srgbClr val="000000"/>
                          </a:solidFill>
                          <a:effectLst/>
                        </a:rPr>
                        <a:t>城区，高速</a:t>
                      </a:r>
                    </a:p>
                  </a:txBody>
                  <a:tcPr marL="0" marR="0" marT="18000" marB="18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US" altLang="zh-CN" sz="1200" b="0" i="0" u="none" strike="noStrike" kern="1200" cap="none" spc="0" normalizeH="0" baseline="0" noProof="0">
                          <a:ln>
                            <a:noFill/>
                          </a:ln>
                          <a:solidFill>
                            <a:srgbClr val="000000"/>
                          </a:solidFill>
                          <a:effectLst/>
                          <a:uLnTx/>
                          <a:uFillTx/>
                          <a:latin typeface="微软雅黑"/>
                          <a:ea typeface="微软雅黑"/>
                          <a:cs typeface="+mn-cs"/>
                        </a:rPr>
                        <a:t>NOA</a:t>
                      </a:r>
                      <a:r>
                        <a:rPr kumimoji="0" lang="zh-CN" altLang="en-US" sz="1200" b="0" i="0" u="none" strike="noStrike" kern="1200" cap="none" spc="0" normalizeH="0" baseline="0" noProof="0">
                          <a:ln>
                            <a:noFill/>
                          </a:ln>
                          <a:solidFill>
                            <a:srgbClr val="000000"/>
                          </a:solidFill>
                          <a:effectLst/>
                          <a:uLnTx/>
                          <a:uFillTx/>
                          <a:latin typeface="微软雅黑"/>
                          <a:ea typeface="微软雅黑"/>
                          <a:cs typeface="+mn-cs"/>
                        </a:rPr>
                        <a:t>，漫游</a:t>
                      </a:r>
                      <a:endParaRPr kumimoji="0" lang="zh-CN" altLang="en-US" sz="1200" b="0" i="0" u="none" strike="noStrike" kern="1200" cap="none" spc="0" normalizeH="0" baseline="0" noProof="0" dirty="0">
                        <a:ln>
                          <a:noFill/>
                        </a:ln>
                        <a:solidFill>
                          <a:srgbClr val="000000"/>
                        </a:solidFill>
                        <a:effectLst/>
                        <a:uLnTx/>
                        <a:uFillTx/>
                        <a:latin typeface="微软雅黑"/>
                        <a:ea typeface="微软雅黑"/>
                        <a:cs typeface="+mn-cs"/>
                      </a:endParaRPr>
                    </a:p>
                  </a:txBody>
                  <a:tcPr marL="0" marR="0" marT="18000" marB="18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ctr" latinLnBrk="0" hangingPunct="1">
                        <a:lnSpc>
                          <a:spcPts val="1600"/>
                        </a:lnSpc>
                        <a:spcBef>
                          <a:spcPts val="0"/>
                        </a:spcBef>
                        <a:spcAft>
                          <a:spcPts val="0"/>
                        </a:spcAft>
                        <a:buClrTx/>
                        <a:buSzTx/>
                        <a:buFontTx/>
                        <a:buNone/>
                        <a:tabLst/>
                        <a:defRPr/>
                      </a:pPr>
                      <a:r>
                        <a:rPr kumimoji="0" lang="en-US" altLang="zh-CN" sz="1200" b="0"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pitchFamily="34" charset="-122"/>
                          <a:cs typeface="+mn-cs"/>
                          <a:sym typeface="Arial" panose="020B0604020202020204" pitchFamily="34" charset="0"/>
                        </a:rPr>
                        <a:t>SOP(530)</a:t>
                      </a:r>
                    </a:p>
                  </a:txBody>
                  <a:tcPr marL="0" marR="0" marT="18000" marB="18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679262337"/>
                  </a:ext>
                </a:extLst>
              </a:tr>
              <a:tr h="448455">
                <a:tc vMerge="1">
                  <a:txBody>
                    <a:bodyPr/>
                    <a:lstStyle/>
                    <a:p>
                      <a:endParaRPr lang="zh-CN" altLang="en-US"/>
                    </a:p>
                  </a:txBody>
                  <a:tcPr/>
                </a:tc>
                <a:tc vMerge="1">
                  <a:txBody>
                    <a:bodyPr/>
                    <a:lstStyle/>
                    <a:p>
                      <a:endParaRPr lang="zh-CN" altLang="en-US"/>
                    </a:p>
                  </a:txBody>
                  <a:tcPr/>
                </a:tc>
                <a:tc>
                  <a:txBody>
                    <a:bodyPr/>
                    <a:lstStyle/>
                    <a:p>
                      <a:pPr algn="ctr" fontAlgn="ctr" latinLnBrk="0">
                        <a:lnSpc>
                          <a:spcPts val="1600"/>
                        </a:lnSpc>
                        <a:buNone/>
                      </a:pPr>
                      <a:r>
                        <a:rPr lang="zh-CN" altLang="en-US" sz="1200" b="0" i="0" dirty="0">
                          <a:solidFill>
                            <a:srgbClr val="000000"/>
                          </a:solidFill>
                          <a:effectLst/>
                          <a:latin typeface="Arial" panose="020B0604020202020204" pitchFamily="34" charset="0"/>
                          <a:ea typeface="微软雅黑" panose="020B0503020204020204" pitchFamily="34" charset="-122"/>
                          <a:sym typeface="Arial" panose="020B0604020202020204" pitchFamily="34" charset="0"/>
                        </a:rPr>
                        <a:t>窄道通行</a:t>
                      </a:r>
                    </a:p>
                  </a:txBody>
                  <a:tcPr marL="0" marR="0" marT="18000" marB="18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171450" indent="-171450" algn="l" defTabSz="914400" rtl="0" eaLnBrk="1" fontAlgn="ctr" latinLnBrk="0" hangingPunct="1">
                        <a:lnSpc>
                          <a:spcPts val="1600"/>
                        </a:lnSpc>
                        <a:buFont typeface="微软雅黑" panose="020B0503020204020204" pitchFamily="34" charset="-122"/>
                        <a:buChar char="￭"/>
                      </a:pPr>
                      <a:r>
                        <a:rPr lang="zh-CN" altLang="en-US" sz="1200" b="0" i="0" kern="1200" dirty="0">
                          <a:solidFill>
                            <a:srgbClr val="000000"/>
                          </a:solidFill>
                          <a:effectLst/>
                          <a:latin typeface="+mn-lt"/>
                          <a:ea typeface="+mn-ea"/>
                          <a:cs typeface="+mn-cs"/>
                          <a:sym typeface="Arial" panose="020B0604020202020204" pitchFamily="34" charset="0"/>
                        </a:rPr>
                        <a:t>功能激活后，在道路两侧有静止车辆、锥桶、石墩、路沿、墙等导致自车的通行空间变窄，在该环境下正常通行</a:t>
                      </a:r>
                    </a:p>
                  </a:txBody>
                  <a:tcPr marL="72000" marR="72000" marT="18000" marB="18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latinLnBrk="0">
                        <a:lnSpc>
                          <a:spcPts val="1600"/>
                        </a:lnSpc>
                        <a:buNone/>
                      </a:pPr>
                      <a:r>
                        <a:rPr lang="zh-CN" altLang="en-US" sz="1200" b="0" i="0" dirty="0">
                          <a:solidFill>
                            <a:srgbClr val="000000"/>
                          </a:solidFill>
                          <a:effectLst/>
                          <a:latin typeface="Arial" panose="020B0604020202020204" pitchFamily="34" charset="0"/>
                          <a:ea typeface="微软雅黑" panose="020B0503020204020204" pitchFamily="34" charset="-122"/>
                          <a:sym typeface="Arial" panose="020B0604020202020204" pitchFamily="34" charset="0"/>
                        </a:rPr>
                        <a:t>城区，高速</a:t>
                      </a:r>
                    </a:p>
                  </a:txBody>
                  <a:tcPr marL="0" marR="0" marT="18000" marB="18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latinLnBrk="0">
                        <a:lnSpc>
                          <a:spcPts val="1600"/>
                        </a:lnSpc>
                        <a:buNone/>
                      </a:pPr>
                      <a:r>
                        <a:rPr lang="en-US" sz="1200" b="0" i="0" dirty="0">
                          <a:solidFill>
                            <a:srgbClr val="000000"/>
                          </a:solidFill>
                          <a:effectLst/>
                          <a:latin typeface="Arial" panose="020B0604020202020204" pitchFamily="34" charset="0"/>
                          <a:ea typeface="微软雅黑" panose="020B0503020204020204" pitchFamily="34" charset="-122"/>
                          <a:sym typeface="Arial" panose="020B0604020202020204" pitchFamily="34" charset="0"/>
                        </a:rPr>
                        <a:t>NOA，</a:t>
                      </a:r>
                      <a:r>
                        <a:rPr lang="zh-CN" altLang="en-US" sz="1200" b="0" i="0" dirty="0">
                          <a:solidFill>
                            <a:srgbClr val="000000"/>
                          </a:solidFill>
                          <a:effectLst/>
                          <a:latin typeface="Arial" panose="020B0604020202020204" pitchFamily="34" charset="0"/>
                          <a:ea typeface="微软雅黑" panose="020B0503020204020204" pitchFamily="34" charset="-122"/>
                          <a:sym typeface="Arial" panose="020B0604020202020204" pitchFamily="34" charset="0"/>
                        </a:rPr>
                        <a:t>漫游</a:t>
                      </a:r>
                    </a:p>
                  </a:txBody>
                  <a:tcPr marL="0" marR="0" marT="18000" marB="18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latinLnBrk="0">
                        <a:lnSpc>
                          <a:spcPts val="1600"/>
                        </a:lnSpc>
                        <a:buNone/>
                      </a:pPr>
                      <a:r>
                        <a:rPr lang="en-US" sz="1200" b="0" i="0" dirty="0">
                          <a:solidFill>
                            <a:srgbClr val="000000"/>
                          </a:solidFill>
                          <a:effectLst/>
                          <a:latin typeface="Arial" panose="020B0604020202020204" pitchFamily="34" charset="0"/>
                          <a:ea typeface="微软雅黑" panose="020B0503020204020204" pitchFamily="34" charset="-122"/>
                          <a:sym typeface="Arial" panose="020B0604020202020204" pitchFamily="34" charset="0"/>
                        </a:rPr>
                        <a:t>SOP(530)</a:t>
                      </a:r>
                    </a:p>
                  </a:txBody>
                  <a:tcPr marL="0" marR="0" marT="18000" marB="18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129443839"/>
                  </a:ext>
                </a:extLst>
              </a:tr>
              <a:tr h="252427">
                <a:tc vMerge="1">
                  <a:txBody>
                    <a:bodyPr/>
                    <a:lstStyle/>
                    <a:p>
                      <a:endParaRPr lang="zh-CN" altLang="en-US"/>
                    </a:p>
                  </a:txBody>
                  <a:tcPr>
                    <a:lnT w="12700" cap="flat" cmpd="sng" algn="ctr">
                      <a:solidFill>
                        <a:schemeClr val="tx1"/>
                      </a:solidFill>
                      <a:prstDash val="solid"/>
                      <a:round/>
                      <a:headEnd type="none" w="med" len="med"/>
                      <a:tailEnd type="none" w="med" len="med"/>
                    </a:lnT>
                  </a:tcPr>
                </a:tc>
                <a:tc vMerge="1">
                  <a:txBody>
                    <a:bodyPr/>
                    <a:lstStyle/>
                    <a:p>
                      <a:endParaRPr lang="zh-CN" altLang="en-US"/>
                    </a:p>
                  </a:txBody>
                  <a:tcPr>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noFill/>
                  </a:tcPr>
                </a:tc>
                <a:tc>
                  <a:txBody>
                    <a:bodyPr/>
                    <a:lstStyle/>
                    <a:p>
                      <a:pPr algn="ctr" fontAlgn="ctr" latinLnBrk="0">
                        <a:buNone/>
                      </a:pPr>
                      <a:r>
                        <a:rPr lang="zh-CN" altLang="en-US" sz="1100" b="0" i="0" dirty="0">
                          <a:solidFill>
                            <a:srgbClr val="000000"/>
                          </a:solidFill>
                          <a:effectLst/>
                        </a:rPr>
                        <a:t>施工区域</a:t>
                      </a:r>
                    </a:p>
                  </a:txBody>
                  <a:tcPr marL="0" marR="0" marT="18000" marB="18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171450" indent="-171450" algn="l" defTabSz="914400" rtl="0" eaLnBrk="1" fontAlgn="ctr" latinLnBrk="0" hangingPunct="1">
                        <a:buFont typeface="微软雅黑" panose="020B0503020204020204" pitchFamily="34" charset="-122"/>
                        <a:buChar char="￭"/>
                      </a:pPr>
                      <a:r>
                        <a:rPr lang="zh-CN" altLang="en-US" sz="1200" b="0" i="0" kern="1200" dirty="0">
                          <a:solidFill>
                            <a:srgbClr val="000000"/>
                          </a:solidFill>
                          <a:effectLst/>
                          <a:latin typeface="+mn-lt"/>
                          <a:ea typeface="+mn-ea"/>
                          <a:cs typeface="+mn-cs"/>
                        </a:rPr>
                        <a:t>系统可识别并响应施工场景、施工障碍物、施工标志等，进行有效的绕行或刹车避让</a:t>
                      </a:r>
                    </a:p>
                  </a:txBody>
                  <a:tcPr marL="72000" marR="72000" marT="18000" marB="18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latinLnBrk="0">
                        <a:buNone/>
                      </a:pPr>
                      <a:r>
                        <a:rPr lang="zh-CN" altLang="en-US" sz="1200" b="0" i="0" dirty="0">
                          <a:solidFill>
                            <a:srgbClr val="000000"/>
                          </a:solidFill>
                          <a:effectLst/>
                        </a:rPr>
                        <a:t>城区</a:t>
                      </a:r>
                      <a:r>
                        <a:rPr lang="zh-CN" altLang="en-US" sz="1200" b="0" i="0" dirty="0">
                          <a:solidFill>
                            <a:srgbClr val="000000"/>
                          </a:solidFill>
                          <a:effectLst/>
                          <a:latin typeface="Arial" panose="020B0604020202020204" pitchFamily="34" charset="0"/>
                          <a:ea typeface="微软雅黑" panose="020B0503020204020204" pitchFamily="34" charset="-122"/>
                          <a:sym typeface="Arial" panose="020B0604020202020204" pitchFamily="34" charset="0"/>
                        </a:rPr>
                        <a:t>，高速</a:t>
                      </a:r>
                      <a:endParaRPr lang="zh-CN" altLang="en-US" sz="1200" b="0" i="0" dirty="0">
                        <a:solidFill>
                          <a:srgbClr val="000000"/>
                        </a:solidFill>
                        <a:effectLst/>
                      </a:endParaRPr>
                    </a:p>
                  </a:txBody>
                  <a:tcPr marL="0" marR="0" marT="18000" marB="18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US" altLang="zh-CN" sz="1200" b="0" i="0" u="none" strike="noStrike" kern="1200" cap="none" spc="0" normalizeH="0" baseline="0" noProof="0" dirty="0">
                          <a:ln>
                            <a:noFill/>
                          </a:ln>
                          <a:solidFill>
                            <a:srgbClr val="000000"/>
                          </a:solidFill>
                          <a:effectLst/>
                          <a:uLnTx/>
                          <a:uFillTx/>
                          <a:latin typeface="微软雅黑"/>
                          <a:ea typeface="微软雅黑"/>
                          <a:cs typeface="+mn-cs"/>
                        </a:rPr>
                        <a:t>NOA</a:t>
                      </a:r>
                      <a:r>
                        <a:rPr kumimoji="0" lang="zh-CN" altLang="en-US" sz="1200" b="0" i="0" u="none" strike="noStrike" kern="1200" cap="none" spc="0" normalizeH="0" baseline="0" noProof="0" dirty="0">
                          <a:ln>
                            <a:noFill/>
                          </a:ln>
                          <a:solidFill>
                            <a:srgbClr val="000000"/>
                          </a:solidFill>
                          <a:effectLst/>
                          <a:uLnTx/>
                          <a:uFillTx/>
                          <a:latin typeface="微软雅黑"/>
                          <a:ea typeface="微软雅黑"/>
                          <a:cs typeface="+mn-cs"/>
                        </a:rPr>
                        <a:t>，漫游</a:t>
                      </a:r>
                    </a:p>
                  </a:txBody>
                  <a:tcPr marL="0" marR="0" marT="18000" marB="18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ctr" latinLnBrk="0" hangingPunct="1">
                        <a:lnSpc>
                          <a:spcPts val="1600"/>
                        </a:lnSpc>
                        <a:spcBef>
                          <a:spcPts val="0"/>
                        </a:spcBef>
                        <a:spcAft>
                          <a:spcPts val="0"/>
                        </a:spcAft>
                        <a:buClrTx/>
                        <a:buSzTx/>
                        <a:buFontTx/>
                        <a:buNone/>
                        <a:tabLst/>
                        <a:defRPr/>
                      </a:pPr>
                      <a:r>
                        <a:rPr kumimoji="0" lang="en-US" altLang="zh-CN" sz="1200" b="0"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pitchFamily="34" charset="-122"/>
                          <a:cs typeface="+mn-cs"/>
                          <a:sym typeface="Arial" panose="020B0604020202020204" pitchFamily="34" charset="0"/>
                        </a:rPr>
                        <a:t>SOP(530)</a:t>
                      </a:r>
                    </a:p>
                  </a:txBody>
                  <a:tcPr marL="0" marR="0" marT="18000" marB="18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991142218"/>
                  </a:ext>
                </a:extLst>
              </a:tr>
              <a:tr h="407259">
                <a:tc vMerge="1">
                  <a:txBody>
                    <a:bodyPr/>
                    <a:lstStyle/>
                    <a:p>
                      <a:endParaRPr lang="zh-CN" altLang="en-US"/>
                    </a:p>
                  </a:txBody>
                  <a:tcPr/>
                </a:tc>
                <a:tc vMerge="1">
                  <a:txBody>
                    <a:bodyPr/>
                    <a:lstStyle/>
                    <a:p>
                      <a:endParaRPr lang="zh-CN" altLang="en-US"/>
                    </a:p>
                  </a:txBody>
                  <a:tcPr/>
                </a:tc>
                <a:tc>
                  <a:txBody>
                    <a:bodyPr/>
                    <a:lstStyle/>
                    <a:p>
                      <a:pPr algn="ctr" fontAlgn="ctr" latinLnBrk="0">
                        <a:buNone/>
                      </a:pPr>
                      <a:r>
                        <a:rPr lang="zh-CN" altLang="en-US" sz="1100" b="0" i="0" dirty="0">
                          <a:solidFill>
                            <a:srgbClr val="000000"/>
                          </a:solidFill>
                          <a:effectLst/>
                        </a:rPr>
                        <a:t>会车场景处理</a:t>
                      </a:r>
                    </a:p>
                  </a:txBody>
                  <a:tcPr marL="0" marR="0" marT="18000" marB="18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171450" indent="-171450" algn="l" defTabSz="914400" rtl="0" eaLnBrk="1" fontAlgn="ctr" latinLnBrk="0" hangingPunct="1">
                        <a:buFont typeface="微软雅黑" panose="020B0503020204020204" pitchFamily="34" charset="-122"/>
                        <a:buChar char="￭"/>
                      </a:pPr>
                      <a:r>
                        <a:rPr lang="zh-CN" altLang="en-US" sz="1200" b="0" i="0" kern="1200" dirty="0">
                          <a:solidFill>
                            <a:srgbClr val="000000"/>
                          </a:solidFill>
                          <a:effectLst/>
                          <a:latin typeface="+mn-lt"/>
                          <a:ea typeface="+mn-ea"/>
                          <a:cs typeface="+mn-cs"/>
                        </a:rPr>
                        <a:t>自车与对向车在道路上相向而行（即行驶方向相反），常见于窄路、弯道、桥梁、坡道或无中央隔离带的双向车道，需要驾驶员谨慎操作，适当绕行，确保安全通过</a:t>
                      </a:r>
                    </a:p>
                  </a:txBody>
                  <a:tcPr marL="72000" marR="72000" marT="18000" marB="18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latinLnBrk="0">
                        <a:buNone/>
                      </a:pPr>
                      <a:r>
                        <a:rPr lang="zh-CN" altLang="en-US" sz="1200" b="0" i="0">
                          <a:solidFill>
                            <a:srgbClr val="000000"/>
                          </a:solidFill>
                          <a:effectLst/>
                        </a:rPr>
                        <a:t>城区</a:t>
                      </a:r>
                    </a:p>
                  </a:txBody>
                  <a:tcPr marL="0" marR="0" marT="18000" marB="18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US" altLang="zh-CN" sz="1200" b="0" i="0" u="none" strike="noStrike" kern="1200" cap="none" spc="0" normalizeH="0" baseline="0" noProof="0" dirty="0">
                          <a:ln>
                            <a:noFill/>
                          </a:ln>
                          <a:solidFill>
                            <a:srgbClr val="000000"/>
                          </a:solidFill>
                          <a:effectLst/>
                          <a:uLnTx/>
                          <a:uFillTx/>
                          <a:latin typeface="微软雅黑"/>
                          <a:ea typeface="微软雅黑"/>
                          <a:cs typeface="+mn-cs"/>
                        </a:rPr>
                        <a:t>NOA</a:t>
                      </a:r>
                      <a:r>
                        <a:rPr kumimoji="0" lang="zh-CN" altLang="en-US" sz="1200" b="0" i="0" u="none" strike="noStrike" kern="1200" cap="none" spc="0" normalizeH="0" baseline="0" noProof="0" dirty="0">
                          <a:ln>
                            <a:noFill/>
                          </a:ln>
                          <a:solidFill>
                            <a:srgbClr val="000000"/>
                          </a:solidFill>
                          <a:effectLst/>
                          <a:uLnTx/>
                          <a:uFillTx/>
                          <a:latin typeface="微软雅黑"/>
                          <a:ea typeface="微软雅黑"/>
                          <a:cs typeface="+mn-cs"/>
                        </a:rPr>
                        <a:t>，漫游</a:t>
                      </a:r>
                    </a:p>
                  </a:txBody>
                  <a:tcPr marL="0" marR="0" marT="18000" marB="18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ctr" latinLnBrk="0" hangingPunct="1">
                        <a:lnSpc>
                          <a:spcPts val="1600"/>
                        </a:lnSpc>
                        <a:spcBef>
                          <a:spcPts val="0"/>
                        </a:spcBef>
                        <a:spcAft>
                          <a:spcPts val="0"/>
                        </a:spcAft>
                        <a:buClrTx/>
                        <a:buSzTx/>
                        <a:buFontTx/>
                        <a:buNone/>
                        <a:tabLst/>
                        <a:defRPr/>
                      </a:pPr>
                      <a:r>
                        <a:rPr kumimoji="0" lang="en-US" altLang="zh-CN" sz="1200" b="0"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pitchFamily="34" charset="-122"/>
                          <a:cs typeface="+mn-cs"/>
                          <a:sym typeface="Arial" panose="020B0604020202020204" pitchFamily="34" charset="0"/>
                        </a:rPr>
                        <a:t>SOP(530)</a:t>
                      </a:r>
                    </a:p>
                  </a:txBody>
                  <a:tcPr marL="0" marR="0" marT="18000" marB="18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625418125"/>
                  </a:ext>
                </a:extLst>
              </a:tr>
              <a:tr h="252427">
                <a:tc vMerge="1">
                  <a:txBody>
                    <a:bodyPr/>
                    <a:lstStyle/>
                    <a:p>
                      <a:pPr marL="0" algn="ctr" defTabSz="914400" rtl="0" eaLnBrk="1" fontAlgn="ctr" latinLnBrk="0" hangingPunct="1">
                        <a:lnSpc>
                          <a:spcPts val="1600"/>
                        </a:lnSpc>
                        <a:buNone/>
                      </a:pPr>
                      <a:endParaRPr lang="zh-CN" altLang="en-US" sz="1200" b="0" i="0" kern="1200" dirty="0">
                        <a:solidFill>
                          <a:srgbClr val="000000"/>
                        </a:solidFill>
                        <a:effectLst/>
                        <a:latin typeface="Arial" panose="020B0604020202020204" pitchFamily="34" charset="0"/>
                        <a:ea typeface="微软雅黑" panose="020B0503020204020204" pitchFamily="34" charset="-122"/>
                        <a:cs typeface="+mn-cs"/>
                        <a:sym typeface="Arial" panose="020B0604020202020204" pitchFamily="34" charset="0"/>
                      </a:endParaRPr>
                    </a:p>
                  </a:txBody>
                  <a:tcPr marL="0" marR="0" marT="36000" marB="3600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rowSpan="2">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zh-CN" altLang="en-US" sz="1200" b="0" i="0" u="none" strike="noStrike" kern="1200" cap="none" spc="0" normalizeH="0" baseline="0" noProof="0" dirty="0">
                          <a:ln>
                            <a:noFill/>
                          </a:ln>
                          <a:solidFill>
                            <a:srgbClr val="000000"/>
                          </a:solidFill>
                          <a:effectLst/>
                          <a:uLnTx/>
                          <a:uFillTx/>
                          <a:latin typeface="+mn-lt"/>
                          <a:ea typeface="+mn-ea"/>
                          <a:cs typeface="+mn-cs"/>
                        </a:rPr>
                        <a:t>特殊场景处理</a:t>
                      </a:r>
                    </a:p>
                  </a:txBody>
                  <a:tcPr marL="0" marR="0" marT="18000" marB="18000" anchor="ctr">
                    <a:lnR w="12700" cap="flat" cmpd="sng" algn="ctr">
                      <a:solidFill>
                        <a:schemeClr val="tx1"/>
                      </a:solidFill>
                      <a:prstDash val="solid"/>
                      <a:round/>
                      <a:headEnd type="none" w="med" len="med"/>
                      <a:tailEnd type="none" w="med" len="med"/>
                    </a:lnR>
                  </a:tcPr>
                </a:tc>
                <a:tc>
                  <a:txBody>
                    <a:bodyPr/>
                    <a:lstStyle/>
                    <a:p>
                      <a:pPr algn="ctr" fontAlgn="ctr" latinLnBrk="0">
                        <a:buNone/>
                      </a:pPr>
                      <a:r>
                        <a:rPr lang="zh-CN" altLang="en-US" sz="1200" b="0" i="0" dirty="0">
                          <a:solidFill>
                            <a:srgbClr val="000000"/>
                          </a:solidFill>
                          <a:effectLst/>
                        </a:rPr>
                        <a:t>环岛通行</a:t>
                      </a:r>
                    </a:p>
                  </a:txBody>
                  <a:tcPr marL="0" marR="0" marT="18000" marB="18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171450" indent="-171450" algn="l" fontAlgn="ctr" latinLnBrk="0">
                        <a:buFont typeface="微软雅黑" panose="020B0503020204020204" pitchFamily="34" charset="-122"/>
                        <a:buChar char="￭"/>
                      </a:pPr>
                      <a:r>
                        <a:rPr lang="zh-CN" altLang="en-US" sz="1200" b="0" i="0" dirty="0">
                          <a:solidFill>
                            <a:srgbClr val="000000"/>
                          </a:solidFill>
                          <a:effectLst/>
                        </a:rPr>
                        <a:t>功能激活后，自动进入环岛，在环岛内正常通行，并按照导航方向驶出环岛</a:t>
                      </a:r>
                    </a:p>
                  </a:txBody>
                  <a:tcPr marL="72000" marR="72000" marT="18000" marB="18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latinLnBrk="0">
                        <a:buNone/>
                      </a:pPr>
                      <a:r>
                        <a:rPr lang="zh-CN" altLang="en-US" sz="1200" b="0" i="0" dirty="0">
                          <a:solidFill>
                            <a:srgbClr val="000000"/>
                          </a:solidFill>
                          <a:effectLst/>
                        </a:rPr>
                        <a:t>城区，高速</a:t>
                      </a:r>
                    </a:p>
                  </a:txBody>
                  <a:tcPr marL="0" marR="0" marT="18000" marB="18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latinLnBrk="0">
                        <a:buNone/>
                      </a:pPr>
                      <a:r>
                        <a:rPr lang="en-US" sz="1200" b="0" i="0" dirty="0">
                          <a:solidFill>
                            <a:srgbClr val="000000"/>
                          </a:solidFill>
                          <a:effectLst/>
                        </a:rPr>
                        <a:t>NOA</a:t>
                      </a:r>
                      <a:r>
                        <a:rPr lang="zh-CN" altLang="en-US" sz="1200" b="0" i="0" dirty="0">
                          <a:solidFill>
                            <a:srgbClr val="000000"/>
                          </a:solidFill>
                          <a:effectLst/>
                        </a:rPr>
                        <a:t>，漫游</a:t>
                      </a:r>
                    </a:p>
                  </a:txBody>
                  <a:tcPr marL="0" marR="0" marT="18000" marB="18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latinLnBrk="0">
                        <a:lnSpc>
                          <a:spcPts val="1600"/>
                        </a:lnSpc>
                        <a:buNone/>
                      </a:pPr>
                      <a:r>
                        <a:rPr lang="en-US" sz="1200" b="0" i="0" dirty="0">
                          <a:solidFill>
                            <a:srgbClr val="000000"/>
                          </a:solidFill>
                          <a:effectLst/>
                          <a:latin typeface="Arial" panose="020B0604020202020204" pitchFamily="34" charset="0"/>
                          <a:ea typeface="微软雅黑" panose="020B0503020204020204" pitchFamily="34" charset="-122"/>
                          <a:sym typeface="Arial" panose="020B0604020202020204" pitchFamily="34" charset="0"/>
                        </a:rPr>
                        <a:t>SOP(530)</a:t>
                      </a:r>
                    </a:p>
                  </a:txBody>
                  <a:tcPr marL="0" marR="0" marT="18000" marB="18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785028948"/>
                  </a:ext>
                </a:extLst>
              </a:tr>
              <a:tr h="252427">
                <a:tc vMerge="1">
                  <a:txBody>
                    <a:bodyPr/>
                    <a:lstStyle/>
                    <a:p>
                      <a:pPr marL="0" algn="ctr" defTabSz="914400" rtl="0" eaLnBrk="1" fontAlgn="ctr" latinLnBrk="0" hangingPunct="1">
                        <a:lnSpc>
                          <a:spcPts val="1600"/>
                        </a:lnSpc>
                        <a:buNone/>
                      </a:pPr>
                      <a:endParaRPr lang="zh-CN" altLang="en-US" sz="1200" b="0" i="0" kern="1200" dirty="0">
                        <a:solidFill>
                          <a:srgbClr val="000000"/>
                        </a:solidFill>
                        <a:effectLst/>
                        <a:latin typeface="Arial" panose="020B0604020202020204" pitchFamily="34" charset="0"/>
                        <a:ea typeface="微软雅黑" panose="020B0503020204020204" pitchFamily="34" charset="-122"/>
                        <a:cs typeface="+mn-cs"/>
                        <a:sym typeface="Arial" panose="020B0604020202020204" pitchFamily="34" charset="0"/>
                      </a:endParaRPr>
                    </a:p>
                  </a:txBody>
                  <a:tcPr marL="0" marR="0" marT="36000" marB="36000" anchor="ctr">
                    <a:lnT w="12700" cap="flat" cmpd="sng" algn="ctr">
                      <a:solidFill>
                        <a:schemeClr val="tx1"/>
                      </a:solidFill>
                      <a:prstDash val="solid"/>
                      <a:round/>
                      <a:headEnd type="none" w="med" len="med"/>
                      <a:tailEnd type="none" w="med" len="med"/>
                    </a:lnT>
                  </a:tcPr>
                </a:tc>
                <a:tc vMerge="1">
                  <a:txBody>
                    <a:bodyPr/>
                    <a:lstStyle/>
                    <a:p>
                      <a:endParaRPr lang="zh-CN" altLang="en-US"/>
                    </a:p>
                  </a:txBody>
                  <a:tcPr>
                    <a:lnR w="12700" cap="flat" cmpd="sng" algn="ctr">
                      <a:solidFill>
                        <a:schemeClr val="tx1"/>
                      </a:solidFill>
                      <a:prstDash val="solid"/>
                      <a:round/>
                      <a:headEnd type="none" w="med" len="med"/>
                      <a:tailEnd type="none" w="med" len="med"/>
                    </a:lnR>
                  </a:tcPr>
                </a:tc>
                <a:tc>
                  <a:txBody>
                    <a:bodyPr/>
                    <a:lstStyle/>
                    <a:p>
                      <a:pPr algn="ctr" fontAlgn="ctr" latinLnBrk="0">
                        <a:buNone/>
                      </a:pPr>
                      <a:r>
                        <a:rPr lang="en-US" sz="1200" b="0" i="0" dirty="0">
                          <a:solidFill>
                            <a:srgbClr val="000000"/>
                          </a:solidFill>
                          <a:effectLst/>
                        </a:rPr>
                        <a:t>ETC</a:t>
                      </a:r>
                      <a:r>
                        <a:rPr lang="zh-CN" altLang="en-US" sz="1200" b="0" i="0" dirty="0">
                          <a:solidFill>
                            <a:srgbClr val="000000"/>
                          </a:solidFill>
                          <a:effectLst/>
                        </a:rPr>
                        <a:t>通行</a:t>
                      </a:r>
                    </a:p>
                  </a:txBody>
                  <a:tcPr marL="0" marR="0" marT="18000" marB="18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171450" indent="-171450" algn="l" fontAlgn="ctr" latinLnBrk="0">
                        <a:buFont typeface="微软雅黑" panose="020B0503020204020204" pitchFamily="34" charset="-122"/>
                        <a:buChar char="￭"/>
                      </a:pPr>
                      <a:r>
                        <a:rPr lang="zh-CN" altLang="en-US" sz="1200" b="0" i="0" dirty="0">
                          <a:solidFill>
                            <a:srgbClr val="000000"/>
                          </a:solidFill>
                          <a:effectLst/>
                        </a:rPr>
                        <a:t>系统默认选择</a:t>
                      </a:r>
                      <a:r>
                        <a:rPr lang="en-US" altLang="zh-CN" sz="1200" b="0" i="0" dirty="0">
                          <a:solidFill>
                            <a:srgbClr val="000000"/>
                          </a:solidFill>
                          <a:effectLst/>
                        </a:rPr>
                        <a:t>ETC</a:t>
                      </a:r>
                      <a:r>
                        <a:rPr lang="zh-CN" altLang="en-US" sz="1200" b="0" i="0" dirty="0">
                          <a:solidFill>
                            <a:srgbClr val="000000"/>
                          </a:solidFill>
                          <a:effectLst/>
                        </a:rPr>
                        <a:t>通道，并自动识别抬杆，通过</a:t>
                      </a:r>
                      <a:r>
                        <a:rPr lang="en-US" altLang="zh-CN" sz="1200" b="0" i="0" dirty="0">
                          <a:solidFill>
                            <a:srgbClr val="000000"/>
                          </a:solidFill>
                          <a:effectLst/>
                        </a:rPr>
                        <a:t>ETC</a:t>
                      </a:r>
                      <a:r>
                        <a:rPr lang="zh-CN" altLang="en-US" sz="1200" b="0" i="0" dirty="0">
                          <a:solidFill>
                            <a:srgbClr val="000000"/>
                          </a:solidFill>
                          <a:effectLst/>
                        </a:rPr>
                        <a:t>收费口</a:t>
                      </a:r>
                    </a:p>
                  </a:txBody>
                  <a:tcPr marL="72000" marR="72000" marT="18000" marB="18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latinLnBrk="0">
                        <a:buNone/>
                      </a:pPr>
                      <a:r>
                        <a:rPr lang="zh-CN" altLang="en-US" sz="1200" b="0" i="0" dirty="0">
                          <a:solidFill>
                            <a:srgbClr val="000000"/>
                          </a:solidFill>
                          <a:effectLst/>
                        </a:rPr>
                        <a:t>高速</a:t>
                      </a:r>
                    </a:p>
                  </a:txBody>
                  <a:tcPr marL="0" marR="0" marT="18000" marB="18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latinLnBrk="0">
                        <a:lnSpc>
                          <a:spcPts val="1600"/>
                        </a:lnSpc>
                        <a:buNone/>
                      </a:pPr>
                      <a:r>
                        <a:rPr lang="en-US" altLang="zh-CN" sz="1200" b="0" i="0" dirty="0">
                          <a:solidFill>
                            <a:srgbClr val="000000"/>
                          </a:solidFill>
                          <a:effectLst/>
                          <a:latin typeface="Arial" panose="020B0604020202020204" pitchFamily="34" charset="0"/>
                          <a:ea typeface="微软雅黑" panose="020B0503020204020204" pitchFamily="34" charset="-122"/>
                          <a:sym typeface="Arial" panose="020B0604020202020204" pitchFamily="34" charset="0"/>
                        </a:rPr>
                        <a:t>NOA，</a:t>
                      </a:r>
                      <a:r>
                        <a:rPr lang="zh-CN" altLang="en-US" sz="1200" b="0" i="0" dirty="0">
                          <a:solidFill>
                            <a:srgbClr val="000000"/>
                          </a:solidFill>
                          <a:effectLst/>
                          <a:latin typeface="Arial" panose="020B0604020202020204" pitchFamily="34" charset="0"/>
                          <a:ea typeface="微软雅黑" panose="020B0503020204020204" pitchFamily="34" charset="-122"/>
                          <a:sym typeface="Arial" panose="020B0604020202020204" pitchFamily="34" charset="0"/>
                        </a:rPr>
                        <a:t>漫游</a:t>
                      </a:r>
                    </a:p>
                  </a:txBody>
                  <a:tcPr marL="0" marR="0" marT="18000" marB="18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ctr" latinLnBrk="0" hangingPunct="1">
                        <a:lnSpc>
                          <a:spcPts val="1600"/>
                        </a:lnSpc>
                        <a:spcBef>
                          <a:spcPts val="0"/>
                        </a:spcBef>
                        <a:spcAft>
                          <a:spcPts val="0"/>
                        </a:spcAft>
                        <a:buClrTx/>
                        <a:buSzTx/>
                        <a:buFontTx/>
                        <a:buNone/>
                        <a:tabLst/>
                        <a:defRPr/>
                      </a:pPr>
                      <a:r>
                        <a:rPr kumimoji="0" lang="en-US" altLang="zh-CN" sz="1200" b="0"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pitchFamily="34" charset="-122"/>
                          <a:cs typeface="+mn-cs"/>
                          <a:sym typeface="Arial" panose="020B0604020202020204" pitchFamily="34" charset="0"/>
                        </a:rPr>
                        <a:t>SOP(1130)</a:t>
                      </a:r>
                    </a:p>
                  </a:txBody>
                  <a:tcPr marL="0" marR="0" marT="18000" marB="18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033223814"/>
                  </a:ext>
                </a:extLst>
              </a:tr>
              <a:tr h="252427">
                <a:tc vMerge="1">
                  <a:txBody>
                    <a:bodyPr/>
                    <a:lstStyle/>
                    <a:p>
                      <a:endParaRPr dirty="0"/>
                    </a:p>
                  </a:txBody>
                  <a:tcPr marL="8859" marR="8859" marT="4430" marB="443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rowSpan="3">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zh-CN" altLang="en-US" sz="1200" b="0" i="0" u="none" strike="noStrike" kern="1200" cap="none" spc="0" normalizeH="0" baseline="0" noProof="0" dirty="0">
                          <a:ln>
                            <a:noFill/>
                          </a:ln>
                          <a:solidFill>
                            <a:srgbClr val="000000"/>
                          </a:solidFill>
                          <a:effectLst/>
                          <a:uLnTx/>
                          <a:uFillTx/>
                          <a:latin typeface="+mn-lt"/>
                          <a:ea typeface="+mn-ea"/>
                          <a:cs typeface="+mn-cs"/>
                        </a:rPr>
                        <a:t>驾驶员在环判断</a:t>
                      </a:r>
                    </a:p>
                  </a:txBody>
                  <a:tcPr marL="0" marR="0" marT="18000" marB="18000" anchor="ctr">
                    <a:lnR w="12700" cap="flat" cmpd="sng" algn="ctr">
                      <a:solidFill>
                        <a:schemeClr val="tx1"/>
                      </a:solidFill>
                      <a:prstDash val="solid"/>
                      <a:round/>
                      <a:headEnd type="none" w="med" len="med"/>
                      <a:tailEnd type="none" w="med" len="med"/>
                    </a:lnR>
                  </a:tcPr>
                </a:tc>
                <a:tc>
                  <a:txBody>
                    <a:bodyPr/>
                    <a:lstStyle/>
                    <a:p>
                      <a:pPr algn="ctr" fontAlgn="ctr" latinLnBrk="0">
                        <a:buNone/>
                      </a:pPr>
                      <a:r>
                        <a:rPr lang="zh-CN" altLang="en-US" sz="1100" b="0" i="0" dirty="0">
                          <a:solidFill>
                            <a:srgbClr val="000000"/>
                          </a:solidFill>
                          <a:effectLst/>
                        </a:rPr>
                        <a:t>脱手告警（力矩）</a:t>
                      </a:r>
                    </a:p>
                  </a:txBody>
                  <a:tcPr marL="0" marR="0" marT="18000" marB="18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171450" indent="-171450" algn="l" defTabSz="914400" rtl="0" eaLnBrk="1" fontAlgn="ctr" latinLnBrk="0" hangingPunct="1">
                        <a:buFont typeface="微软雅黑" panose="020B0503020204020204" pitchFamily="34" charset="-122"/>
                        <a:buChar char="￭"/>
                      </a:pPr>
                      <a:r>
                        <a:rPr lang="zh-CN" altLang="en-US" sz="1200" b="0" i="0" kern="1200" dirty="0">
                          <a:solidFill>
                            <a:srgbClr val="000000"/>
                          </a:solidFill>
                          <a:effectLst/>
                          <a:latin typeface="+mn-lt"/>
                          <a:ea typeface="+mn-ea"/>
                          <a:cs typeface="+mn-cs"/>
                        </a:rPr>
                        <a:t>系统会实时监测驾驶员手握方向盘的力矩，通过力矩判断驾驶员不在环</a:t>
                      </a:r>
                    </a:p>
                  </a:txBody>
                  <a:tcPr marL="72000" marR="72000" marT="18000" marB="18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latinLnBrk="0">
                        <a:lnSpc>
                          <a:spcPts val="1600"/>
                        </a:lnSpc>
                        <a:buNone/>
                      </a:pPr>
                      <a:r>
                        <a:rPr lang="zh-CN" altLang="en-US" sz="1200" b="0" i="0" dirty="0">
                          <a:solidFill>
                            <a:srgbClr val="000000"/>
                          </a:solidFill>
                          <a:effectLst/>
                          <a:latin typeface="Arial" panose="020B0604020202020204" pitchFamily="34" charset="0"/>
                          <a:ea typeface="微软雅黑" panose="020B0503020204020204" pitchFamily="34" charset="-122"/>
                          <a:sym typeface="Arial" panose="020B0604020202020204" pitchFamily="34" charset="0"/>
                        </a:rPr>
                        <a:t>城区，高速</a:t>
                      </a:r>
                    </a:p>
                  </a:txBody>
                  <a:tcPr marL="0" marR="0" marT="18000" marB="18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latinLnBrk="0">
                        <a:lnSpc>
                          <a:spcPts val="1600"/>
                        </a:lnSpc>
                        <a:buNone/>
                      </a:pPr>
                      <a:r>
                        <a:rPr lang="en-US" sz="1200" b="0" i="0" dirty="0">
                          <a:solidFill>
                            <a:srgbClr val="000000"/>
                          </a:solidFill>
                          <a:effectLst/>
                          <a:latin typeface="Arial" panose="020B0604020202020204" pitchFamily="34" charset="0"/>
                          <a:ea typeface="微软雅黑" panose="020B0503020204020204" pitchFamily="34" charset="-122"/>
                          <a:sym typeface="Arial" panose="020B0604020202020204" pitchFamily="34" charset="0"/>
                        </a:rPr>
                        <a:t>NOA，</a:t>
                      </a:r>
                      <a:r>
                        <a:rPr lang="zh-CN" altLang="en-US" sz="1200" b="0" i="0" dirty="0">
                          <a:solidFill>
                            <a:srgbClr val="000000"/>
                          </a:solidFill>
                          <a:effectLst/>
                          <a:latin typeface="Arial" panose="020B0604020202020204" pitchFamily="34" charset="0"/>
                          <a:ea typeface="微软雅黑" panose="020B0503020204020204" pitchFamily="34" charset="-122"/>
                          <a:sym typeface="Arial" panose="020B0604020202020204" pitchFamily="34" charset="0"/>
                        </a:rPr>
                        <a:t>漫游</a:t>
                      </a:r>
                    </a:p>
                  </a:txBody>
                  <a:tcPr marL="0" marR="0" marT="18000" marB="18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latinLnBrk="0">
                        <a:lnSpc>
                          <a:spcPts val="1600"/>
                        </a:lnSpc>
                        <a:buNone/>
                      </a:pPr>
                      <a:r>
                        <a:rPr lang="en-US" sz="1200" b="0" i="0" dirty="0">
                          <a:solidFill>
                            <a:srgbClr val="000000"/>
                          </a:solidFill>
                          <a:effectLst/>
                          <a:latin typeface="Arial" panose="020B0604020202020204" pitchFamily="34" charset="0"/>
                          <a:ea typeface="微软雅黑" panose="020B0503020204020204" pitchFamily="34" charset="-122"/>
                          <a:sym typeface="Arial" panose="020B0604020202020204" pitchFamily="34" charset="0"/>
                        </a:rPr>
                        <a:t>SOP(530)</a:t>
                      </a:r>
                    </a:p>
                  </a:txBody>
                  <a:tcPr marL="0" marR="0" marT="18000" marB="18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50689450"/>
                  </a:ext>
                </a:extLst>
              </a:tr>
              <a:tr h="252427">
                <a:tc vMerge="1">
                  <a:txBody>
                    <a:bodyPr/>
                    <a:lstStyle/>
                    <a:p>
                      <a:endParaRPr dirty="0"/>
                    </a:p>
                  </a:txBody>
                  <a:tcPr marL="8859" marR="8859" marT="4430" marB="443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vMerge="1">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endParaRPr kumimoji="0" lang="zh-CN" altLang="en-US" sz="1200" b="0" i="0" u="none" strike="noStrike" kern="1200" cap="none" spc="0" normalizeH="0" baseline="0" noProof="0" dirty="0">
                        <a:ln>
                          <a:noFill/>
                        </a:ln>
                        <a:solidFill>
                          <a:srgbClr val="000000"/>
                        </a:solidFill>
                        <a:effectLst/>
                        <a:uLnTx/>
                        <a:uFillTx/>
                        <a:latin typeface="+mn-lt"/>
                        <a:ea typeface="+mn-ea"/>
                        <a:cs typeface="+mn-cs"/>
                      </a:endParaRPr>
                    </a:p>
                  </a:txBody>
                  <a:tcPr marL="0" marR="0" marT="36000" marB="36000" anchor="ctr">
                    <a:lnR w="12700" cap="flat" cmpd="sng" algn="ctr">
                      <a:solidFill>
                        <a:schemeClr val="tx1"/>
                      </a:solidFill>
                      <a:prstDash val="solid"/>
                      <a:round/>
                      <a:headEnd type="none" w="med" len="med"/>
                      <a:tailEnd type="none" w="med" len="med"/>
                    </a:lnR>
                  </a:tcPr>
                </a:tc>
                <a:tc>
                  <a:txBody>
                    <a:bodyPr/>
                    <a:lstStyle/>
                    <a:p>
                      <a:pPr algn="ctr" fontAlgn="ctr" latinLnBrk="0">
                        <a:buNone/>
                      </a:pPr>
                      <a:r>
                        <a:rPr lang="zh-CN" altLang="en-US" sz="1100" b="0" i="0">
                          <a:solidFill>
                            <a:srgbClr val="000000"/>
                          </a:solidFill>
                          <a:effectLst/>
                        </a:rPr>
                        <a:t>脱手告警（</a:t>
                      </a:r>
                      <a:r>
                        <a:rPr lang="en-US" altLang="zh-CN" sz="1100" b="0" i="0">
                          <a:solidFill>
                            <a:srgbClr val="000000"/>
                          </a:solidFill>
                          <a:effectLst/>
                        </a:rPr>
                        <a:t>HOD</a:t>
                      </a:r>
                      <a:r>
                        <a:rPr lang="zh-CN" altLang="en-US" sz="1100" b="0" i="0">
                          <a:solidFill>
                            <a:srgbClr val="000000"/>
                          </a:solidFill>
                          <a:effectLst/>
                        </a:rPr>
                        <a:t>）</a:t>
                      </a:r>
                    </a:p>
                  </a:txBody>
                  <a:tcPr marL="0" marR="0" marT="18000" marB="18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171450" indent="-171450" algn="l" defTabSz="914400" rtl="0" eaLnBrk="1" fontAlgn="ctr" latinLnBrk="0" hangingPunct="1">
                        <a:buFont typeface="微软雅黑" panose="020B0503020204020204" pitchFamily="34" charset="-122"/>
                        <a:buChar char="￭"/>
                      </a:pPr>
                      <a:r>
                        <a:rPr lang="zh-CN" altLang="en-US" sz="1200" b="0" i="0" kern="1200" dirty="0">
                          <a:solidFill>
                            <a:srgbClr val="000000"/>
                          </a:solidFill>
                          <a:effectLst/>
                          <a:latin typeface="+mn-lt"/>
                          <a:ea typeface="+mn-ea"/>
                          <a:cs typeface="+mn-cs"/>
                        </a:rPr>
                        <a:t>系统会实时监测</a:t>
                      </a:r>
                      <a:r>
                        <a:rPr lang="en-US" altLang="zh-CN" sz="1200" b="0" i="0" kern="1200" dirty="0">
                          <a:solidFill>
                            <a:srgbClr val="000000"/>
                          </a:solidFill>
                          <a:effectLst/>
                          <a:latin typeface="+mn-lt"/>
                          <a:ea typeface="+mn-ea"/>
                          <a:cs typeface="+mn-cs"/>
                        </a:rPr>
                        <a:t>HOD</a:t>
                      </a:r>
                      <a:r>
                        <a:rPr lang="zh-CN" altLang="en-US" sz="1200" b="0" i="0" kern="1200" dirty="0">
                          <a:solidFill>
                            <a:srgbClr val="000000"/>
                          </a:solidFill>
                          <a:effectLst/>
                          <a:latin typeface="+mn-lt"/>
                          <a:ea typeface="+mn-ea"/>
                          <a:cs typeface="+mn-cs"/>
                        </a:rPr>
                        <a:t>信号，通过</a:t>
                      </a:r>
                      <a:r>
                        <a:rPr lang="en-US" altLang="zh-CN" sz="1200" b="0" i="0" kern="1200" dirty="0">
                          <a:solidFill>
                            <a:srgbClr val="000000"/>
                          </a:solidFill>
                          <a:effectLst/>
                          <a:latin typeface="+mn-lt"/>
                          <a:ea typeface="+mn-ea"/>
                          <a:cs typeface="+mn-cs"/>
                        </a:rPr>
                        <a:t>HOD</a:t>
                      </a:r>
                      <a:r>
                        <a:rPr lang="zh-CN" altLang="en-US" sz="1200" b="0" i="0" kern="1200" dirty="0">
                          <a:solidFill>
                            <a:srgbClr val="000000"/>
                          </a:solidFill>
                          <a:effectLst/>
                          <a:latin typeface="+mn-lt"/>
                          <a:ea typeface="+mn-ea"/>
                          <a:cs typeface="+mn-cs"/>
                        </a:rPr>
                        <a:t>判断驾驶员不在环</a:t>
                      </a:r>
                    </a:p>
                  </a:txBody>
                  <a:tcPr marL="72000" marR="72000" marT="18000" marB="18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latinLnBrk="0">
                        <a:lnSpc>
                          <a:spcPts val="1600"/>
                        </a:lnSpc>
                        <a:buNone/>
                      </a:pPr>
                      <a:r>
                        <a:rPr lang="zh-CN" altLang="en-US" sz="1200" b="0" i="0" dirty="0">
                          <a:solidFill>
                            <a:srgbClr val="000000"/>
                          </a:solidFill>
                          <a:effectLst/>
                          <a:latin typeface="Arial" panose="020B0604020202020204" pitchFamily="34" charset="0"/>
                          <a:ea typeface="微软雅黑" panose="020B0503020204020204" pitchFamily="34" charset="-122"/>
                          <a:sym typeface="Arial" panose="020B0604020202020204" pitchFamily="34" charset="0"/>
                        </a:rPr>
                        <a:t>城区，高速</a:t>
                      </a:r>
                    </a:p>
                  </a:txBody>
                  <a:tcPr marL="0" marR="0" marT="18000" marB="18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latinLnBrk="0">
                        <a:lnSpc>
                          <a:spcPts val="1600"/>
                        </a:lnSpc>
                        <a:buNone/>
                      </a:pPr>
                      <a:r>
                        <a:rPr lang="en-US" sz="1200" b="0" i="0" dirty="0">
                          <a:solidFill>
                            <a:srgbClr val="000000"/>
                          </a:solidFill>
                          <a:effectLst/>
                          <a:latin typeface="Arial" panose="020B0604020202020204" pitchFamily="34" charset="0"/>
                          <a:ea typeface="微软雅黑" panose="020B0503020204020204" pitchFamily="34" charset="-122"/>
                          <a:sym typeface="Arial" panose="020B0604020202020204" pitchFamily="34" charset="0"/>
                        </a:rPr>
                        <a:t>NOA，</a:t>
                      </a:r>
                      <a:r>
                        <a:rPr lang="zh-CN" altLang="en-US" sz="1200" b="0" i="0" dirty="0">
                          <a:solidFill>
                            <a:srgbClr val="000000"/>
                          </a:solidFill>
                          <a:effectLst/>
                          <a:latin typeface="Arial" panose="020B0604020202020204" pitchFamily="34" charset="0"/>
                          <a:ea typeface="微软雅黑" panose="020B0503020204020204" pitchFamily="34" charset="-122"/>
                          <a:sym typeface="Arial" panose="020B0604020202020204" pitchFamily="34" charset="0"/>
                        </a:rPr>
                        <a:t>漫游</a:t>
                      </a:r>
                    </a:p>
                  </a:txBody>
                  <a:tcPr marL="0" marR="0" marT="18000" marB="18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latinLnBrk="0">
                        <a:lnSpc>
                          <a:spcPts val="1600"/>
                        </a:lnSpc>
                        <a:buNone/>
                      </a:pPr>
                      <a:r>
                        <a:rPr lang="en-US" sz="1200" b="0" i="0" dirty="0">
                          <a:solidFill>
                            <a:srgbClr val="000000"/>
                          </a:solidFill>
                          <a:effectLst/>
                          <a:latin typeface="Arial" panose="020B0604020202020204" pitchFamily="34" charset="0"/>
                          <a:ea typeface="微软雅黑" panose="020B0503020204020204" pitchFamily="34" charset="-122"/>
                          <a:sym typeface="Arial" panose="020B0604020202020204" pitchFamily="34" charset="0"/>
                        </a:rPr>
                        <a:t>SOP(530)</a:t>
                      </a:r>
                    </a:p>
                  </a:txBody>
                  <a:tcPr marL="0" marR="0" marT="18000" marB="18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967567616"/>
                  </a:ext>
                </a:extLst>
              </a:tr>
              <a:tr h="252427">
                <a:tc vMerge="1">
                  <a:txBody>
                    <a:bodyPr/>
                    <a:lstStyle/>
                    <a:p>
                      <a:endParaRPr dirty="0"/>
                    </a:p>
                  </a:txBody>
                  <a:tcPr marL="8859" marR="8859" marT="4430" marB="4430" anchor="ctr">
                    <a:lnT w="12700" cap="flat" cmpd="sng" algn="ctr">
                      <a:solidFill>
                        <a:schemeClr val="tx1"/>
                      </a:solidFill>
                      <a:prstDash val="solid"/>
                      <a:round/>
                      <a:headEnd type="none" w="med" len="med"/>
                      <a:tailEnd type="none" w="med" len="med"/>
                    </a:lnT>
                  </a:tcPr>
                </a:tc>
                <a:tc vMerge="1">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endParaRPr kumimoji="0" lang="zh-CN" altLang="en-US" sz="1200" b="0" i="0" u="none" strike="noStrike" kern="1200" cap="none" spc="0" normalizeH="0" baseline="0" noProof="0" dirty="0">
                        <a:ln>
                          <a:noFill/>
                        </a:ln>
                        <a:solidFill>
                          <a:srgbClr val="000000"/>
                        </a:solidFill>
                        <a:effectLst/>
                        <a:uLnTx/>
                        <a:uFillTx/>
                        <a:latin typeface="+mn-lt"/>
                        <a:ea typeface="+mn-ea"/>
                        <a:cs typeface="+mn-cs"/>
                      </a:endParaRPr>
                    </a:p>
                  </a:txBody>
                  <a:tcPr marL="0" marR="0" marT="36000" marB="36000" anchor="ctr">
                    <a:lnR w="12700" cap="flat" cmpd="sng" algn="ctr">
                      <a:solidFill>
                        <a:schemeClr val="tx1"/>
                      </a:solidFill>
                      <a:prstDash val="solid"/>
                      <a:round/>
                      <a:headEnd type="none" w="med" len="med"/>
                      <a:tailEnd type="none" w="med" len="med"/>
                    </a:lnR>
                  </a:tcPr>
                </a:tc>
                <a:tc>
                  <a:txBody>
                    <a:bodyPr/>
                    <a:lstStyle/>
                    <a:p>
                      <a:pPr algn="ctr" fontAlgn="ctr" latinLnBrk="0">
                        <a:buNone/>
                      </a:pPr>
                      <a:r>
                        <a:rPr lang="zh-CN" altLang="en-US" sz="1100" b="0" i="0" dirty="0">
                          <a:solidFill>
                            <a:srgbClr val="000000"/>
                          </a:solidFill>
                          <a:effectLst/>
                        </a:rPr>
                        <a:t>脱眼告警（</a:t>
                      </a:r>
                      <a:r>
                        <a:rPr lang="en-US" altLang="zh-CN" sz="1100" b="0" i="0" dirty="0">
                          <a:solidFill>
                            <a:srgbClr val="000000"/>
                          </a:solidFill>
                          <a:effectLst/>
                        </a:rPr>
                        <a:t>DMS</a:t>
                      </a:r>
                      <a:r>
                        <a:rPr lang="zh-CN" altLang="en-US" sz="1100" b="0" i="0" dirty="0">
                          <a:solidFill>
                            <a:srgbClr val="000000"/>
                          </a:solidFill>
                          <a:effectLst/>
                        </a:rPr>
                        <a:t>）</a:t>
                      </a:r>
                    </a:p>
                  </a:txBody>
                  <a:tcPr marL="0" marR="0" marT="18000" marB="18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171450" indent="-171450" algn="l" defTabSz="914400" rtl="0" eaLnBrk="1" fontAlgn="ctr" latinLnBrk="0" hangingPunct="1">
                        <a:buFont typeface="微软雅黑" panose="020B0503020204020204" pitchFamily="34" charset="-122"/>
                        <a:buChar char="￭"/>
                      </a:pPr>
                      <a:r>
                        <a:rPr lang="zh-CN" altLang="en-US" sz="1200" b="0" i="0" kern="1200" dirty="0">
                          <a:solidFill>
                            <a:srgbClr val="000000"/>
                          </a:solidFill>
                          <a:effectLst/>
                          <a:latin typeface="+mn-lt"/>
                          <a:ea typeface="+mn-ea"/>
                          <a:cs typeface="+mn-cs"/>
                        </a:rPr>
                        <a:t>系统会实时监测</a:t>
                      </a:r>
                      <a:r>
                        <a:rPr lang="en-US" altLang="zh-CN" sz="1200" b="0" i="0" kern="1200" dirty="0">
                          <a:solidFill>
                            <a:srgbClr val="000000"/>
                          </a:solidFill>
                          <a:effectLst/>
                          <a:latin typeface="+mn-lt"/>
                          <a:ea typeface="+mn-ea"/>
                          <a:cs typeface="+mn-cs"/>
                        </a:rPr>
                        <a:t>DMS</a:t>
                      </a:r>
                      <a:r>
                        <a:rPr lang="zh-CN" altLang="en-US" sz="1200" b="0" i="0" kern="1200" dirty="0">
                          <a:solidFill>
                            <a:srgbClr val="000000"/>
                          </a:solidFill>
                          <a:effectLst/>
                          <a:latin typeface="+mn-lt"/>
                          <a:ea typeface="+mn-ea"/>
                          <a:cs typeface="+mn-cs"/>
                        </a:rPr>
                        <a:t>信号，通过</a:t>
                      </a:r>
                      <a:r>
                        <a:rPr lang="en-US" altLang="zh-CN" sz="1200" b="0" i="0" kern="1200" dirty="0">
                          <a:solidFill>
                            <a:srgbClr val="000000"/>
                          </a:solidFill>
                          <a:effectLst/>
                          <a:latin typeface="+mn-lt"/>
                          <a:ea typeface="+mn-ea"/>
                          <a:cs typeface="+mn-cs"/>
                        </a:rPr>
                        <a:t>DMS</a:t>
                      </a:r>
                      <a:r>
                        <a:rPr lang="zh-CN" altLang="en-US" sz="1200" b="0" i="0" kern="1200" dirty="0">
                          <a:solidFill>
                            <a:srgbClr val="000000"/>
                          </a:solidFill>
                          <a:effectLst/>
                          <a:latin typeface="+mn-lt"/>
                          <a:ea typeface="+mn-ea"/>
                          <a:cs typeface="+mn-cs"/>
                        </a:rPr>
                        <a:t>判断驾驶员不在环</a:t>
                      </a:r>
                    </a:p>
                  </a:txBody>
                  <a:tcPr marL="72000" marR="72000" marT="18000" marB="18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latinLnBrk="0">
                        <a:lnSpc>
                          <a:spcPts val="1600"/>
                        </a:lnSpc>
                        <a:buNone/>
                      </a:pPr>
                      <a:r>
                        <a:rPr lang="zh-CN" altLang="en-US" sz="1200" b="0" i="0" dirty="0">
                          <a:solidFill>
                            <a:srgbClr val="000000"/>
                          </a:solidFill>
                          <a:effectLst/>
                          <a:latin typeface="Arial" panose="020B0604020202020204" pitchFamily="34" charset="0"/>
                          <a:ea typeface="微软雅黑" panose="020B0503020204020204" pitchFamily="34" charset="-122"/>
                          <a:sym typeface="Arial" panose="020B0604020202020204" pitchFamily="34" charset="0"/>
                        </a:rPr>
                        <a:t>城区，高速</a:t>
                      </a:r>
                    </a:p>
                  </a:txBody>
                  <a:tcPr marL="0" marR="0" marT="18000" marB="18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latinLnBrk="0">
                        <a:lnSpc>
                          <a:spcPts val="1600"/>
                        </a:lnSpc>
                        <a:buNone/>
                      </a:pPr>
                      <a:r>
                        <a:rPr lang="en-US" sz="1200" b="0" i="0" dirty="0">
                          <a:solidFill>
                            <a:srgbClr val="000000"/>
                          </a:solidFill>
                          <a:effectLst/>
                          <a:latin typeface="Arial" panose="020B0604020202020204" pitchFamily="34" charset="0"/>
                          <a:ea typeface="微软雅黑" panose="020B0503020204020204" pitchFamily="34" charset="-122"/>
                          <a:sym typeface="Arial" panose="020B0604020202020204" pitchFamily="34" charset="0"/>
                        </a:rPr>
                        <a:t>NOA，</a:t>
                      </a:r>
                      <a:r>
                        <a:rPr lang="zh-CN" altLang="en-US" sz="1200" b="0" i="0" dirty="0">
                          <a:solidFill>
                            <a:srgbClr val="000000"/>
                          </a:solidFill>
                          <a:effectLst/>
                          <a:latin typeface="Arial" panose="020B0604020202020204" pitchFamily="34" charset="0"/>
                          <a:ea typeface="微软雅黑" panose="020B0503020204020204" pitchFamily="34" charset="-122"/>
                          <a:sym typeface="Arial" panose="020B0604020202020204" pitchFamily="34" charset="0"/>
                        </a:rPr>
                        <a:t>漫游</a:t>
                      </a:r>
                    </a:p>
                  </a:txBody>
                  <a:tcPr marL="0" marR="0" marT="18000" marB="18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latinLnBrk="0">
                        <a:lnSpc>
                          <a:spcPts val="1600"/>
                        </a:lnSpc>
                        <a:buNone/>
                      </a:pPr>
                      <a:r>
                        <a:rPr lang="en-US" sz="1200" b="0" i="0" dirty="0">
                          <a:solidFill>
                            <a:srgbClr val="000000"/>
                          </a:solidFill>
                          <a:effectLst/>
                          <a:latin typeface="Arial" panose="020B0604020202020204" pitchFamily="34" charset="0"/>
                          <a:ea typeface="微软雅黑" panose="020B0503020204020204" pitchFamily="34" charset="-122"/>
                          <a:sym typeface="Arial" panose="020B0604020202020204" pitchFamily="34" charset="0"/>
                        </a:rPr>
                        <a:t>SOP(530)</a:t>
                      </a:r>
                    </a:p>
                  </a:txBody>
                  <a:tcPr marL="0" marR="0" marT="18000" marB="18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459104332"/>
                  </a:ext>
                </a:extLst>
              </a:tr>
              <a:tr h="252427">
                <a:tc vMerge="1">
                  <a:txBody>
                    <a:bodyPr/>
                    <a:lstStyle/>
                    <a:p>
                      <a:endParaRPr dirty="0"/>
                    </a:p>
                  </a:txBody>
                  <a:tcPr marL="0" marR="0" marT="36000" marB="3600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rowSpan="2">
                  <a:txBody>
                    <a:bodyPr/>
                    <a:lstStyle/>
                    <a:p>
                      <a:pPr algn="ctr" fontAlgn="ctr" latinLnBrk="0">
                        <a:buNone/>
                      </a:pPr>
                      <a:r>
                        <a:rPr lang="en-US" sz="1100" b="0" i="0" dirty="0">
                          <a:solidFill>
                            <a:srgbClr val="000000"/>
                          </a:solidFill>
                          <a:effectLst/>
                        </a:rPr>
                        <a:t>MRM</a:t>
                      </a:r>
                    </a:p>
                  </a:txBody>
                  <a:tcPr marL="0" marR="0" marT="18000" marB="18000" anchor="ctr">
                    <a:lnR w="12700" cap="flat" cmpd="sng" algn="ctr">
                      <a:solidFill>
                        <a:schemeClr val="tx1"/>
                      </a:solidFill>
                      <a:prstDash val="solid"/>
                      <a:round/>
                      <a:headEnd type="none" w="med" len="med"/>
                      <a:tailEnd type="none" w="med" len="med"/>
                    </a:lnR>
                  </a:tcPr>
                </a:tc>
                <a:tc>
                  <a:txBody>
                    <a:bodyPr/>
                    <a:lstStyle/>
                    <a:p>
                      <a:pPr algn="ctr" fontAlgn="ctr" latinLnBrk="0">
                        <a:buNone/>
                      </a:pPr>
                      <a:r>
                        <a:rPr lang="zh-CN" altLang="en-US" sz="1100" b="0" i="0">
                          <a:solidFill>
                            <a:srgbClr val="000000"/>
                          </a:solidFill>
                          <a:effectLst/>
                        </a:rPr>
                        <a:t>本车道停车</a:t>
                      </a:r>
                    </a:p>
                  </a:txBody>
                  <a:tcPr marL="0" marR="0" marT="18000" marB="18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171450" indent="-171450" algn="l" defTabSz="914400" rtl="0" eaLnBrk="1" fontAlgn="ctr" latinLnBrk="0" hangingPunct="1">
                        <a:buFont typeface="微软雅黑" panose="020B0503020204020204" pitchFamily="34" charset="-122"/>
                        <a:buChar char="￭"/>
                      </a:pPr>
                      <a:r>
                        <a:rPr lang="zh-CN" altLang="en-US" sz="1200" b="0" i="0" kern="1200" dirty="0">
                          <a:solidFill>
                            <a:srgbClr val="000000"/>
                          </a:solidFill>
                          <a:effectLst/>
                          <a:latin typeface="+mn-lt"/>
                          <a:ea typeface="+mn-ea"/>
                          <a:cs typeface="+mn-cs"/>
                        </a:rPr>
                        <a:t>满足约定的条件，触发本车道内停车</a:t>
                      </a:r>
                    </a:p>
                  </a:txBody>
                  <a:tcPr marL="72000" marR="72000" marT="18000" marB="18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latinLnBrk="0">
                        <a:lnSpc>
                          <a:spcPts val="1600"/>
                        </a:lnSpc>
                        <a:buNone/>
                      </a:pPr>
                      <a:r>
                        <a:rPr lang="zh-CN" altLang="en-US" sz="1200" b="0" i="0" dirty="0">
                          <a:solidFill>
                            <a:srgbClr val="000000"/>
                          </a:solidFill>
                          <a:effectLst/>
                          <a:latin typeface="Arial" panose="020B0604020202020204" pitchFamily="34" charset="0"/>
                          <a:ea typeface="微软雅黑" panose="020B0503020204020204" pitchFamily="34" charset="-122"/>
                          <a:sym typeface="Arial" panose="020B0604020202020204" pitchFamily="34" charset="0"/>
                        </a:rPr>
                        <a:t>城区，高速</a:t>
                      </a:r>
                    </a:p>
                  </a:txBody>
                  <a:tcPr marL="0" marR="0" marT="18000" marB="18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latinLnBrk="0">
                        <a:lnSpc>
                          <a:spcPts val="1600"/>
                        </a:lnSpc>
                        <a:buNone/>
                      </a:pPr>
                      <a:r>
                        <a:rPr lang="en-US" sz="1200" b="0" i="0" dirty="0">
                          <a:solidFill>
                            <a:srgbClr val="000000"/>
                          </a:solidFill>
                          <a:effectLst/>
                          <a:latin typeface="Arial" panose="020B0604020202020204" pitchFamily="34" charset="0"/>
                          <a:ea typeface="微软雅黑" panose="020B0503020204020204" pitchFamily="34" charset="-122"/>
                          <a:sym typeface="Arial" panose="020B0604020202020204" pitchFamily="34" charset="0"/>
                        </a:rPr>
                        <a:t>NOA，</a:t>
                      </a:r>
                      <a:r>
                        <a:rPr lang="zh-CN" altLang="en-US" sz="1200" b="0" i="0" dirty="0">
                          <a:solidFill>
                            <a:srgbClr val="000000"/>
                          </a:solidFill>
                          <a:effectLst/>
                          <a:latin typeface="Arial" panose="020B0604020202020204" pitchFamily="34" charset="0"/>
                          <a:ea typeface="微软雅黑" panose="020B0503020204020204" pitchFamily="34" charset="-122"/>
                          <a:sym typeface="Arial" panose="020B0604020202020204" pitchFamily="34" charset="0"/>
                        </a:rPr>
                        <a:t>漫游</a:t>
                      </a:r>
                    </a:p>
                  </a:txBody>
                  <a:tcPr marL="0" marR="0" marT="18000" marB="18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latinLnBrk="0">
                        <a:lnSpc>
                          <a:spcPts val="1600"/>
                        </a:lnSpc>
                        <a:buNone/>
                      </a:pPr>
                      <a:r>
                        <a:rPr lang="en-US" sz="1200" b="0" i="0" dirty="0">
                          <a:solidFill>
                            <a:srgbClr val="000000"/>
                          </a:solidFill>
                          <a:effectLst/>
                          <a:latin typeface="Arial" panose="020B0604020202020204" pitchFamily="34" charset="0"/>
                          <a:ea typeface="微软雅黑" panose="020B0503020204020204" pitchFamily="34" charset="-122"/>
                          <a:sym typeface="Arial" panose="020B0604020202020204" pitchFamily="34" charset="0"/>
                        </a:rPr>
                        <a:t>SOP(530)</a:t>
                      </a:r>
                    </a:p>
                  </a:txBody>
                  <a:tcPr marL="0" marR="0" marT="18000" marB="18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983695112"/>
                  </a:ext>
                </a:extLst>
              </a:tr>
              <a:tr h="252427">
                <a:tc vMerge="1">
                  <a:txBody>
                    <a:bodyPr/>
                    <a:lstStyle/>
                    <a:p>
                      <a:endParaRPr dirty="0"/>
                    </a:p>
                  </a:txBody>
                  <a:tcPr marL="0" marR="0" marT="36000" marB="3600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vMerge="1">
                  <a:txBody>
                    <a:bodyPr/>
                    <a:lstStyle/>
                    <a:p>
                      <a:endParaRPr lang="zh-CN" altLang="en-US"/>
                    </a:p>
                  </a:txBody>
                  <a:tcPr>
                    <a:lnR w="12700" cap="flat" cmpd="sng" algn="ctr">
                      <a:solidFill>
                        <a:schemeClr val="tx1"/>
                      </a:solidFill>
                      <a:prstDash val="solid"/>
                      <a:round/>
                      <a:headEnd type="none" w="med" len="med"/>
                      <a:tailEnd type="none" w="med" len="med"/>
                    </a:lnR>
                  </a:tcPr>
                </a:tc>
                <a:tc>
                  <a:txBody>
                    <a:bodyPr/>
                    <a:lstStyle/>
                    <a:p>
                      <a:pPr algn="ctr" fontAlgn="ctr" latinLnBrk="0">
                        <a:buNone/>
                      </a:pPr>
                      <a:r>
                        <a:rPr lang="zh-CN" altLang="en-US" sz="1100" b="0" i="0">
                          <a:solidFill>
                            <a:srgbClr val="000000"/>
                          </a:solidFill>
                          <a:effectLst/>
                        </a:rPr>
                        <a:t>靠边停车</a:t>
                      </a:r>
                    </a:p>
                  </a:txBody>
                  <a:tcPr marL="0" marR="0" marT="18000" marB="18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171450" indent="-171450" algn="l" defTabSz="914400" rtl="0" eaLnBrk="1" fontAlgn="ctr" latinLnBrk="0" hangingPunct="1">
                        <a:buFont typeface="微软雅黑" panose="020B0503020204020204" pitchFamily="34" charset="-122"/>
                        <a:buChar char="￭"/>
                      </a:pPr>
                      <a:r>
                        <a:rPr lang="zh-CN" altLang="en-US" sz="1200" b="0" i="0" kern="1200" dirty="0">
                          <a:solidFill>
                            <a:srgbClr val="000000"/>
                          </a:solidFill>
                          <a:effectLst/>
                          <a:latin typeface="+mn-lt"/>
                          <a:ea typeface="+mn-ea"/>
                          <a:cs typeface="+mn-cs"/>
                        </a:rPr>
                        <a:t>满足约定的条件，触发靠边停车</a:t>
                      </a:r>
                    </a:p>
                  </a:txBody>
                  <a:tcPr marL="72000" marR="72000" marT="18000" marB="18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latinLnBrk="0">
                        <a:buNone/>
                      </a:pPr>
                      <a:r>
                        <a:rPr lang="zh-CN" altLang="en-US" sz="1200" b="0" i="0" dirty="0">
                          <a:solidFill>
                            <a:srgbClr val="000000"/>
                          </a:solidFill>
                          <a:effectLst/>
                        </a:rPr>
                        <a:t>高速</a:t>
                      </a:r>
                    </a:p>
                  </a:txBody>
                  <a:tcPr marL="0" marR="0" marT="18000" marB="18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altLang="zh-CN" sz="1200" b="0" i="0" dirty="0">
                          <a:solidFill>
                            <a:srgbClr val="000000"/>
                          </a:solidFill>
                          <a:effectLst/>
                          <a:latin typeface="Arial" panose="020B0604020202020204" pitchFamily="34" charset="0"/>
                          <a:ea typeface="微软雅黑" panose="020B0503020204020204" pitchFamily="34" charset="-122"/>
                          <a:sym typeface="Arial" panose="020B0604020202020204" pitchFamily="34" charset="0"/>
                        </a:rPr>
                        <a:t>NOA，</a:t>
                      </a:r>
                      <a:r>
                        <a:rPr lang="zh-CN" altLang="en-US" sz="1200" b="0" i="0" dirty="0">
                          <a:solidFill>
                            <a:srgbClr val="000000"/>
                          </a:solidFill>
                          <a:effectLst/>
                          <a:latin typeface="Arial" panose="020B0604020202020204" pitchFamily="34" charset="0"/>
                          <a:ea typeface="微软雅黑" panose="020B0503020204020204" pitchFamily="34" charset="-122"/>
                          <a:sym typeface="Arial" panose="020B0604020202020204" pitchFamily="34" charset="0"/>
                        </a:rPr>
                        <a:t>漫游</a:t>
                      </a:r>
                    </a:p>
                  </a:txBody>
                  <a:tcPr marL="0" marR="0" marT="18000" marB="18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ctr" latinLnBrk="0" hangingPunct="1">
                        <a:lnSpc>
                          <a:spcPts val="1600"/>
                        </a:lnSpc>
                        <a:spcBef>
                          <a:spcPts val="0"/>
                        </a:spcBef>
                        <a:spcAft>
                          <a:spcPts val="0"/>
                        </a:spcAft>
                        <a:buClrTx/>
                        <a:buSzTx/>
                        <a:buFontTx/>
                        <a:buNone/>
                        <a:tabLst/>
                        <a:defRPr/>
                      </a:pPr>
                      <a:r>
                        <a:rPr kumimoji="0" lang="en-US" altLang="zh-CN" sz="1200" b="0"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pitchFamily="34" charset="-122"/>
                          <a:cs typeface="+mn-cs"/>
                          <a:sym typeface="Arial" panose="020B0604020202020204" pitchFamily="34" charset="0"/>
                        </a:rPr>
                        <a:t>SOP(1130)</a:t>
                      </a:r>
                    </a:p>
                  </a:txBody>
                  <a:tcPr marL="0" marR="0" marT="18000" marB="18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855673725"/>
                  </a:ext>
                </a:extLst>
              </a:tr>
              <a:tr h="592642">
                <a:tc vMerge="1">
                  <a:txBody>
                    <a:bodyPr/>
                    <a:lstStyle/>
                    <a:p>
                      <a:endParaRPr dirty="0"/>
                    </a:p>
                  </a:txBody>
                  <a:tcPr marL="0" marR="0" marT="36000" marB="3600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latinLnBrk="0">
                        <a:buNone/>
                      </a:pPr>
                      <a:r>
                        <a:rPr lang="zh-CN" altLang="en-US" sz="1100" b="0" i="0">
                          <a:effectLst/>
                        </a:rPr>
                        <a:t>恶劣天气识别</a:t>
                      </a:r>
                    </a:p>
                  </a:txBody>
                  <a:tcPr marL="0" marR="0" marT="18000" marB="18000" anchor="ctr">
                    <a:lnR w="12700" cap="flat" cmpd="sng" algn="ctr">
                      <a:solidFill>
                        <a:schemeClr val="tx1"/>
                      </a:solidFill>
                      <a:prstDash val="solid"/>
                      <a:round/>
                      <a:headEnd type="none" w="med" len="med"/>
                      <a:tailEnd type="none" w="med" len="med"/>
                    </a:lnR>
                  </a:tcPr>
                </a:tc>
                <a:tc>
                  <a:txBody>
                    <a:bodyPr/>
                    <a:lstStyle/>
                    <a:p>
                      <a:pPr algn="ctr" fontAlgn="ctr" latinLnBrk="0">
                        <a:buNone/>
                      </a:pPr>
                      <a:r>
                        <a:rPr lang="zh-CN" altLang="en-US" sz="1100" b="0" i="0">
                          <a:effectLst/>
                        </a:rPr>
                        <a:t>雨</a:t>
                      </a:r>
                      <a:r>
                        <a:rPr lang="en-US" altLang="zh-CN" sz="1100" b="0" i="0">
                          <a:effectLst/>
                        </a:rPr>
                        <a:t>/</a:t>
                      </a:r>
                      <a:r>
                        <a:rPr lang="zh-CN" altLang="en-US" sz="1100" b="0" i="0">
                          <a:effectLst/>
                        </a:rPr>
                        <a:t>雾</a:t>
                      </a:r>
                      <a:r>
                        <a:rPr lang="en-US" altLang="zh-CN" sz="1100" b="0" i="0">
                          <a:effectLst/>
                        </a:rPr>
                        <a:t>/</a:t>
                      </a:r>
                      <a:r>
                        <a:rPr lang="zh-CN" altLang="en-US" sz="1100" b="0" i="0">
                          <a:effectLst/>
                        </a:rPr>
                        <a:t>雪</a:t>
                      </a:r>
                    </a:p>
                  </a:txBody>
                  <a:tcPr marL="0" marR="0" marT="18000" marB="18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171450" indent="-171450" algn="l" defTabSz="914400" rtl="0" eaLnBrk="1" fontAlgn="ctr" latinLnBrk="0" hangingPunct="1">
                        <a:buFont typeface="微软雅黑" panose="020B0503020204020204" pitchFamily="34" charset="-122"/>
                        <a:buChar char="￭"/>
                      </a:pPr>
                      <a:r>
                        <a:rPr lang="zh-CN" altLang="en-US" sz="1200" b="0" i="0" kern="1200" dirty="0">
                          <a:solidFill>
                            <a:srgbClr val="000000"/>
                          </a:solidFill>
                          <a:effectLst/>
                          <a:latin typeface="+mn-lt"/>
                          <a:ea typeface="+mn-ea"/>
                          <a:cs typeface="+mn-cs"/>
                        </a:rPr>
                        <a:t>功能申报：（</a:t>
                      </a:r>
                      <a:r>
                        <a:rPr lang="en-US" altLang="zh-CN" sz="1200" b="0" i="0" kern="1200" dirty="0">
                          <a:solidFill>
                            <a:srgbClr val="000000"/>
                          </a:solidFill>
                          <a:effectLst/>
                          <a:latin typeface="+mn-lt"/>
                          <a:ea typeface="+mn-ea"/>
                          <a:cs typeface="+mn-cs"/>
                        </a:rPr>
                        <a:t>1</a:t>
                      </a:r>
                      <a:r>
                        <a:rPr lang="zh-CN" altLang="en-US" sz="1200" b="0" i="0" kern="1200" dirty="0">
                          <a:solidFill>
                            <a:srgbClr val="000000"/>
                          </a:solidFill>
                          <a:effectLst/>
                          <a:latin typeface="+mn-lt"/>
                          <a:ea typeface="+mn-ea"/>
                          <a:cs typeface="+mn-cs"/>
                        </a:rPr>
                        <a:t>）雨天</a:t>
                      </a:r>
                      <a:r>
                        <a:rPr lang="en-US" altLang="zh-CN" sz="1200" b="0" i="0" kern="1200" dirty="0">
                          <a:solidFill>
                            <a:srgbClr val="000000"/>
                          </a:solidFill>
                          <a:effectLst/>
                          <a:latin typeface="+mn-lt"/>
                          <a:ea typeface="+mn-ea"/>
                          <a:cs typeface="+mn-cs"/>
                        </a:rPr>
                        <a:t>2</a:t>
                      </a:r>
                      <a:r>
                        <a:rPr lang="zh-CN" altLang="en-US" sz="1200" b="0" i="0" kern="1200" dirty="0">
                          <a:solidFill>
                            <a:srgbClr val="000000"/>
                          </a:solidFill>
                          <a:effectLst/>
                          <a:latin typeface="+mn-lt"/>
                          <a:ea typeface="+mn-ea"/>
                          <a:cs typeface="+mn-cs"/>
                        </a:rPr>
                        <a:t>级 </a:t>
                      </a:r>
                      <a:r>
                        <a:rPr lang="en-US" altLang="zh-CN" sz="1200" b="0" i="0" kern="1200" dirty="0">
                          <a:solidFill>
                            <a:srgbClr val="000000"/>
                          </a:solidFill>
                          <a:effectLst/>
                          <a:latin typeface="+mn-lt"/>
                          <a:ea typeface="+mn-ea"/>
                          <a:cs typeface="+mn-cs"/>
                        </a:rPr>
                        <a:t>(1h </a:t>
                      </a:r>
                      <a:r>
                        <a:rPr lang="zh-CN" altLang="en-US" sz="1200" b="0" i="0" kern="1200" dirty="0">
                          <a:solidFill>
                            <a:srgbClr val="000000"/>
                          </a:solidFill>
                          <a:effectLst/>
                          <a:latin typeface="+mn-lt"/>
                          <a:ea typeface="+mn-ea"/>
                          <a:cs typeface="+mn-cs"/>
                        </a:rPr>
                        <a:t>降雨量 </a:t>
                      </a:r>
                      <a:r>
                        <a:rPr lang="en-US" altLang="zh-CN" sz="1200" b="0" i="0" kern="1200" dirty="0">
                          <a:solidFill>
                            <a:srgbClr val="000000"/>
                          </a:solidFill>
                          <a:effectLst/>
                          <a:latin typeface="+mn-lt"/>
                          <a:ea typeface="+mn-ea"/>
                          <a:cs typeface="+mn-cs"/>
                        </a:rPr>
                        <a:t>15 mm/h</a:t>
                      </a:r>
                      <a:r>
                        <a:rPr lang="zh-CN" altLang="en-US" sz="1200" b="0" i="0" kern="1200" dirty="0">
                          <a:solidFill>
                            <a:srgbClr val="000000"/>
                          </a:solidFill>
                          <a:effectLst/>
                          <a:latin typeface="+mn-lt"/>
                          <a:ea typeface="+mn-ea"/>
                          <a:cs typeface="+mn-cs"/>
                        </a:rPr>
                        <a:t>～</a:t>
                      </a:r>
                      <a:r>
                        <a:rPr lang="en-US" altLang="zh-CN" sz="1200" b="0" i="0" kern="1200" dirty="0">
                          <a:solidFill>
                            <a:srgbClr val="000000"/>
                          </a:solidFill>
                          <a:effectLst/>
                          <a:latin typeface="+mn-lt"/>
                          <a:ea typeface="+mn-ea"/>
                          <a:cs typeface="+mn-cs"/>
                        </a:rPr>
                        <a:t>29.9mm/h)</a:t>
                      </a:r>
                      <a:r>
                        <a:rPr lang="zh-CN" altLang="en-US" sz="1200" b="0" i="0" kern="1200" dirty="0">
                          <a:solidFill>
                            <a:srgbClr val="000000"/>
                          </a:solidFill>
                          <a:effectLst/>
                          <a:latin typeface="+mn-lt"/>
                          <a:ea typeface="+mn-ea"/>
                          <a:cs typeface="+mn-cs"/>
                        </a:rPr>
                        <a:t>；</a:t>
                      </a:r>
                      <a:endParaRPr lang="en-US" altLang="zh-CN" sz="1200" b="0" i="0" kern="1200" dirty="0">
                        <a:solidFill>
                          <a:srgbClr val="000000"/>
                        </a:solidFill>
                        <a:effectLst/>
                        <a:latin typeface="+mn-lt"/>
                        <a:ea typeface="+mn-ea"/>
                        <a:cs typeface="+mn-cs"/>
                      </a:endParaRPr>
                    </a:p>
                    <a:p>
                      <a:pPr marL="0" indent="0" algn="l" defTabSz="914400" rtl="0" eaLnBrk="1" fontAlgn="ctr" latinLnBrk="0" hangingPunct="1">
                        <a:buFont typeface="微软雅黑" panose="020B0503020204020204" pitchFamily="34" charset="-122"/>
                        <a:buNone/>
                      </a:pPr>
                      <a:r>
                        <a:rPr lang="zh-CN" altLang="en-US" sz="1200" b="0" i="0" kern="1200" dirty="0">
                          <a:solidFill>
                            <a:srgbClr val="000000"/>
                          </a:solidFill>
                          <a:effectLst/>
                          <a:latin typeface="+mn-lt"/>
                          <a:ea typeface="+mn-ea"/>
                          <a:cs typeface="+mn-cs"/>
                        </a:rPr>
                        <a:t>（</a:t>
                      </a:r>
                      <a:r>
                        <a:rPr lang="en-US" altLang="zh-CN" sz="1200" b="0" i="0" kern="1200" dirty="0">
                          <a:solidFill>
                            <a:srgbClr val="000000"/>
                          </a:solidFill>
                          <a:effectLst/>
                          <a:latin typeface="+mn-lt"/>
                          <a:ea typeface="+mn-ea"/>
                          <a:cs typeface="+mn-cs"/>
                        </a:rPr>
                        <a:t>2</a:t>
                      </a:r>
                      <a:r>
                        <a:rPr lang="zh-CN" altLang="en-US" sz="1200" b="0" i="0" kern="1200" dirty="0">
                          <a:solidFill>
                            <a:srgbClr val="000000"/>
                          </a:solidFill>
                          <a:effectLst/>
                          <a:latin typeface="+mn-lt"/>
                          <a:ea typeface="+mn-ea"/>
                          <a:cs typeface="+mn-cs"/>
                        </a:rPr>
                        <a:t>）雾天</a:t>
                      </a:r>
                      <a:r>
                        <a:rPr lang="en-US" altLang="zh-CN" sz="1200" b="0" i="0" kern="1200" dirty="0">
                          <a:solidFill>
                            <a:srgbClr val="000000"/>
                          </a:solidFill>
                          <a:effectLst/>
                          <a:latin typeface="+mn-lt"/>
                          <a:ea typeface="+mn-ea"/>
                          <a:cs typeface="+mn-cs"/>
                        </a:rPr>
                        <a:t>1</a:t>
                      </a:r>
                      <a:r>
                        <a:rPr lang="zh-CN" altLang="en-US" sz="1200" b="0" i="0" kern="1200" dirty="0">
                          <a:solidFill>
                            <a:srgbClr val="000000"/>
                          </a:solidFill>
                          <a:effectLst/>
                          <a:latin typeface="+mn-lt"/>
                          <a:ea typeface="+mn-ea"/>
                          <a:cs typeface="+mn-cs"/>
                        </a:rPr>
                        <a:t>级（</a:t>
                      </a:r>
                      <a:r>
                        <a:rPr lang="en-US" altLang="zh-CN" sz="1200" b="0" i="0" kern="1200" dirty="0">
                          <a:solidFill>
                            <a:srgbClr val="000000"/>
                          </a:solidFill>
                          <a:effectLst/>
                          <a:latin typeface="+mn-lt"/>
                          <a:ea typeface="+mn-ea"/>
                          <a:cs typeface="+mn-cs"/>
                        </a:rPr>
                        <a:t>200 m</a:t>
                      </a:r>
                      <a:r>
                        <a:rPr lang="zh-CN" altLang="en-US" sz="1200" b="0" i="0" kern="1200" dirty="0">
                          <a:solidFill>
                            <a:srgbClr val="000000"/>
                          </a:solidFill>
                          <a:effectLst/>
                          <a:latin typeface="+mn-lt"/>
                          <a:ea typeface="+mn-ea"/>
                          <a:cs typeface="+mn-cs"/>
                        </a:rPr>
                        <a:t>＜能见度≤</a:t>
                      </a:r>
                      <a:r>
                        <a:rPr lang="en-US" altLang="zh-CN" sz="1200" b="0" i="0" kern="1200" dirty="0">
                          <a:solidFill>
                            <a:srgbClr val="000000"/>
                          </a:solidFill>
                          <a:effectLst/>
                          <a:latin typeface="+mn-lt"/>
                          <a:ea typeface="+mn-ea"/>
                          <a:cs typeface="+mn-cs"/>
                        </a:rPr>
                        <a:t>500 m</a:t>
                      </a:r>
                      <a:r>
                        <a:rPr lang="zh-CN" altLang="en-US" sz="1200" b="0" i="0" kern="1200" dirty="0">
                          <a:solidFill>
                            <a:srgbClr val="000000"/>
                          </a:solidFill>
                          <a:effectLst/>
                          <a:latin typeface="+mn-lt"/>
                          <a:ea typeface="+mn-ea"/>
                          <a:cs typeface="+mn-cs"/>
                        </a:rPr>
                        <a:t>）</a:t>
                      </a:r>
                      <a:endParaRPr lang="en-US" altLang="zh-CN" sz="1200" b="0" i="0" kern="1200" dirty="0">
                        <a:solidFill>
                          <a:srgbClr val="000000"/>
                        </a:solidFill>
                        <a:effectLst/>
                        <a:latin typeface="+mn-lt"/>
                        <a:ea typeface="+mn-ea"/>
                        <a:cs typeface="+mn-cs"/>
                      </a:endParaRPr>
                    </a:p>
                    <a:p>
                      <a:pPr marL="171450" indent="-171450" algn="l" defTabSz="914400" rtl="0" eaLnBrk="1" fontAlgn="ctr" latinLnBrk="0" hangingPunct="1">
                        <a:buFont typeface="微软雅黑" panose="020B0503020204020204" pitchFamily="34" charset="-122"/>
                        <a:buChar char="￭"/>
                      </a:pPr>
                      <a:r>
                        <a:rPr lang="zh-CN" altLang="en-US" sz="1200" b="0" i="0" kern="1200" dirty="0">
                          <a:solidFill>
                            <a:srgbClr val="000000"/>
                          </a:solidFill>
                          <a:effectLst/>
                          <a:latin typeface="+mn-lt"/>
                          <a:ea typeface="+mn-ea"/>
                          <a:cs typeface="+mn-cs"/>
                        </a:rPr>
                        <a:t>识别天气类型和严重程度，如大雨，大雾，大雪等</a:t>
                      </a:r>
                    </a:p>
                  </a:txBody>
                  <a:tcPr marL="72000" marR="72000" marT="18000" marB="18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latinLnBrk="0">
                        <a:lnSpc>
                          <a:spcPts val="1600"/>
                        </a:lnSpc>
                        <a:buNone/>
                      </a:pPr>
                      <a:r>
                        <a:rPr lang="zh-CN" altLang="en-US" sz="1200" b="0" i="0" dirty="0">
                          <a:solidFill>
                            <a:srgbClr val="000000"/>
                          </a:solidFill>
                          <a:effectLst/>
                          <a:latin typeface="Arial" panose="020B0604020202020204" pitchFamily="34" charset="0"/>
                          <a:ea typeface="微软雅黑" panose="020B0503020204020204" pitchFamily="34" charset="-122"/>
                          <a:sym typeface="Arial" panose="020B0604020202020204" pitchFamily="34" charset="0"/>
                        </a:rPr>
                        <a:t>城区，高速</a:t>
                      </a:r>
                    </a:p>
                  </a:txBody>
                  <a:tcPr marL="0" marR="0" marT="18000" marB="18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latinLnBrk="0">
                        <a:lnSpc>
                          <a:spcPts val="1600"/>
                        </a:lnSpc>
                        <a:buNone/>
                      </a:pPr>
                      <a:r>
                        <a:rPr lang="en-US" sz="1200" b="0" i="0" dirty="0">
                          <a:solidFill>
                            <a:srgbClr val="000000"/>
                          </a:solidFill>
                          <a:effectLst/>
                          <a:latin typeface="Arial" panose="020B0604020202020204" pitchFamily="34" charset="0"/>
                          <a:ea typeface="微软雅黑" panose="020B0503020204020204" pitchFamily="34" charset="-122"/>
                          <a:sym typeface="Arial" panose="020B0604020202020204" pitchFamily="34" charset="0"/>
                        </a:rPr>
                        <a:t>NOA，</a:t>
                      </a:r>
                      <a:r>
                        <a:rPr lang="zh-CN" altLang="en-US" sz="1200" b="0" i="0" dirty="0">
                          <a:solidFill>
                            <a:srgbClr val="000000"/>
                          </a:solidFill>
                          <a:effectLst/>
                          <a:latin typeface="Arial" panose="020B0604020202020204" pitchFamily="34" charset="0"/>
                          <a:ea typeface="微软雅黑" panose="020B0503020204020204" pitchFamily="34" charset="-122"/>
                          <a:sym typeface="Arial" panose="020B0604020202020204" pitchFamily="34" charset="0"/>
                        </a:rPr>
                        <a:t>漫游</a:t>
                      </a:r>
                    </a:p>
                  </a:txBody>
                  <a:tcPr marL="0" marR="0" marT="18000" marB="18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ctr" latinLnBrk="0" hangingPunct="1">
                        <a:lnSpc>
                          <a:spcPts val="1600"/>
                        </a:lnSpc>
                        <a:spcBef>
                          <a:spcPts val="0"/>
                        </a:spcBef>
                        <a:spcAft>
                          <a:spcPts val="0"/>
                        </a:spcAft>
                        <a:buClrTx/>
                        <a:buSzTx/>
                        <a:buFontTx/>
                        <a:buNone/>
                        <a:tabLst/>
                        <a:defRPr/>
                      </a:pPr>
                      <a:r>
                        <a:rPr kumimoji="0" lang="en-US" altLang="zh-CN" sz="1200" b="0"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pitchFamily="34" charset="-122"/>
                          <a:cs typeface="+mn-cs"/>
                          <a:sym typeface="Arial" panose="020B0604020202020204" pitchFamily="34" charset="0"/>
                        </a:rPr>
                        <a:t>SOP(1130)</a:t>
                      </a:r>
                    </a:p>
                  </a:txBody>
                  <a:tcPr marL="0" marR="0" marT="18000" marB="18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622012787"/>
                  </a:ext>
                </a:extLst>
              </a:tr>
              <a:tr h="407259">
                <a:tc vMerge="1">
                  <a:txBody>
                    <a:bodyPr/>
                    <a:lstStyle/>
                    <a:p>
                      <a:endParaRPr dirty="0"/>
                    </a:p>
                  </a:txBody>
                  <a:tcPr marL="0" marR="0" marT="36000" marB="36000" anchor="ctr">
                    <a:lnT w="12700" cap="flat" cmpd="sng" algn="ctr">
                      <a:solidFill>
                        <a:schemeClr val="tx1"/>
                      </a:solidFill>
                      <a:prstDash val="solid"/>
                      <a:round/>
                      <a:headEnd type="none" w="med" len="med"/>
                      <a:tailEnd type="none" w="med" len="med"/>
                    </a:lnT>
                  </a:tcPr>
                </a:tc>
                <a:tc>
                  <a:txBody>
                    <a:bodyPr/>
                    <a:lstStyle/>
                    <a:p>
                      <a:pPr algn="ctr" fontAlgn="ctr" latinLnBrk="0">
                        <a:buNone/>
                      </a:pPr>
                      <a:r>
                        <a:rPr lang="zh-CN" altLang="en-US" sz="1100" b="0" i="0">
                          <a:solidFill>
                            <a:srgbClr val="000000"/>
                          </a:solidFill>
                          <a:effectLst/>
                        </a:rPr>
                        <a:t>异常处理</a:t>
                      </a:r>
                    </a:p>
                  </a:txBody>
                  <a:tcPr marL="0" marR="0" marT="18000" marB="18000" anchor="ctr">
                    <a:lnR w="12700" cap="flat" cmpd="sng" algn="ctr">
                      <a:solidFill>
                        <a:schemeClr val="tx1"/>
                      </a:solidFill>
                      <a:prstDash val="solid"/>
                      <a:round/>
                      <a:headEnd type="none" w="med" len="med"/>
                      <a:tailEnd type="none" w="med" len="med"/>
                    </a:lnR>
                  </a:tcPr>
                </a:tc>
                <a:tc>
                  <a:txBody>
                    <a:bodyPr/>
                    <a:lstStyle/>
                    <a:p>
                      <a:pPr algn="ctr" fontAlgn="ctr" latinLnBrk="0">
                        <a:buNone/>
                      </a:pPr>
                      <a:r>
                        <a:rPr lang="zh-CN" altLang="en-US" sz="1100" b="0" i="0">
                          <a:solidFill>
                            <a:srgbClr val="000000"/>
                          </a:solidFill>
                          <a:effectLst/>
                        </a:rPr>
                        <a:t>异常处理</a:t>
                      </a:r>
                    </a:p>
                  </a:txBody>
                  <a:tcPr marL="0" marR="0" marT="18000" marB="18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171450" indent="-171450" algn="l" defTabSz="914400" rtl="0" eaLnBrk="1" fontAlgn="ctr" latinLnBrk="0" hangingPunct="1">
                        <a:buFont typeface="微软雅黑" panose="020B0503020204020204" pitchFamily="34" charset="-122"/>
                        <a:buChar char="￭"/>
                      </a:pPr>
                      <a:r>
                        <a:rPr lang="zh-CN" altLang="en-US" sz="1200" b="0" i="0" kern="1200" dirty="0">
                          <a:solidFill>
                            <a:srgbClr val="000000"/>
                          </a:solidFill>
                          <a:effectLst/>
                          <a:latin typeface="+mn-lt"/>
                          <a:ea typeface="+mn-ea"/>
                          <a:cs typeface="+mn-cs"/>
                        </a:rPr>
                        <a:t>系统检测上下游接口和模块内部的异常</a:t>
                      </a:r>
                      <a:r>
                        <a:rPr lang="en-US" altLang="zh-CN" sz="1200" b="0" i="0" kern="1200" dirty="0">
                          <a:solidFill>
                            <a:srgbClr val="000000"/>
                          </a:solidFill>
                          <a:effectLst/>
                          <a:latin typeface="+mn-lt"/>
                          <a:ea typeface="+mn-ea"/>
                          <a:cs typeface="+mn-cs"/>
                        </a:rPr>
                        <a:t>/</a:t>
                      </a:r>
                      <a:r>
                        <a:rPr lang="zh-CN" altLang="en-US" sz="1200" b="0" i="0" kern="1200" dirty="0">
                          <a:solidFill>
                            <a:srgbClr val="000000"/>
                          </a:solidFill>
                          <a:effectLst/>
                          <a:latin typeface="+mn-lt"/>
                          <a:ea typeface="+mn-ea"/>
                          <a:cs typeface="+mn-cs"/>
                        </a:rPr>
                        <a:t>故障情况，发生异常时，系统立即提醒驾驶员接管且功能直接退出</a:t>
                      </a:r>
                    </a:p>
                  </a:txBody>
                  <a:tcPr marL="72000" marR="72000" marT="18000" marB="18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latinLnBrk="0">
                        <a:lnSpc>
                          <a:spcPts val="1600"/>
                        </a:lnSpc>
                        <a:buNone/>
                      </a:pPr>
                      <a:r>
                        <a:rPr lang="zh-CN" altLang="en-US" sz="1200" b="0" i="0" dirty="0">
                          <a:solidFill>
                            <a:srgbClr val="000000"/>
                          </a:solidFill>
                          <a:effectLst/>
                          <a:latin typeface="Arial" panose="020B0604020202020204" pitchFamily="34" charset="0"/>
                          <a:ea typeface="微软雅黑" panose="020B0503020204020204" pitchFamily="34" charset="-122"/>
                          <a:sym typeface="Arial" panose="020B0604020202020204" pitchFamily="34" charset="0"/>
                        </a:rPr>
                        <a:t>城区，高速</a:t>
                      </a:r>
                    </a:p>
                  </a:txBody>
                  <a:tcPr marL="0" marR="0" marT="18000" marB="18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latinLnBrk="0">
                        <a:lnSpc>
                          <a:spcPts val="1600"/>
                        </a:lnSpc>
                        <a:buNone/>
                      </a:pPr>
                      <a:r>
                        <a:rPr lang="en-US" sz="1200" b="0" i="0" dirty="0">
                          <a:solidFill>
                            <a:srgbClr val="000000"/>
                          </a:solidFill>
                          <a:effectLst/>
                          <a:latin typeface="Arial" panose="020B0604020202020204" pitchFamily="34" charset="0"/>
                          <a:ea typeface="微软雅黑" panose="020B0503020204020204" pitchFamily="34" charset="-122"/>
                          <a:sym typeface="Arial" panose="020B0604020202020204" pitchFamily="34" charset="0"/>
                        </a:rPr>
                        <a:t>NOA，</a:t>
                      </a:r>
                      <a:r>
                        <a:rPr lang="zh-CN" altLang="en-US" sz="1200" b="0" i="0" dirty="0">
                          <a:solidFill>
                            <a:srgbClr val="000000"/>
                          </a:solidFill>
                          <a:effectLst/>
                          <a:latin typeface="Arial" panose="020B0604020202020204" pitchFamily="34" charset="0"/>
                          <a:ea typeface="微软雅黑" panose="020B0503020204020204" pitchFamily="34" charset="-122"/>
                          <a:sym typeface="Arial" panose="020B0604020202020204" pitchFamily="34" charset="0"/>
                        </a:rPr>
                        <a:t>漫游</a:t>
                      </a:r>
                    </a:p>
                  </a:txBody>
                  <a:tcPr marL="0" marR="0" marT="18000" marB="18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latinLnBrk="0">
                        <a:lnSpc>
                          <a:spcPts val="1600"/>
                        </a:lnSpc>
                        <a:buNone/>
                      </a:pPr>
                      <a:r>
                        <a:rPr lang="en-US" sz="1200" b="0" i="0" dirty="0">
                          <a:solidFill>
                            <a:srgbClr val="000000"/>
                          </a:solidFill>
                          <a:effectLst/>
                          <a:latin typeface="Arial" panose="020B0604020202020204" pitchFamily="34" charset="0"/>
                          <a:ea typeface="微软雅黑" panose="020B0503020204020204" pitchFamily="34" charset="-122"/>
                          <a:sym typeface="Arial" panose="020B0604020202020204" pitchFamily="34" charset="0"/>
                        </a:rPr>
                        <a:t>SOP(530)</a:t>
                      </a:r>
                    </a:p>
                  </a:txBody>
                  <a:tcPr marL="0" marR="0" marT="18000" marB="18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412332329"/>
                  </a:ext>
                </a:extLst>
              </a:tr>
            </a:tbl>
          </a:graphicData>
        </a:graphic>
      </p:graphicFrame>
    </p:spTree>
    <p:extLst>
      <p:ext uri="{BB962C8B-B14F-4D97-AF65-F5344CB8AC3E}">
        <p14:creationId xmlns:p14="http://schemas.microsoft.com/office/powerpoint/2010/main" val="164161018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FE7321-475F-5E86-6E9D-3BF331CBAAC4}"/>
            </a:ext>
          </a:extLst>
        </p:cNvPr>
        <p:cNvGrpSpPr/>
        <p:nvPr/>
      </p:nvGrpSpPr>
      <p:grpSpPr>
        <a:xfrm>
          <a:off x="0" y="0"/>
          <a:ext cx="0" cy="0"/>
          <a:chOff x="0" y="0"/>
          <a:chExt cx="0" cy="0"/>
        </a:xfrm>
      </p:grpSpPr>
      <p:sp>
        <p:nvSpPr>
          <p:cNvPr id="2" name="日期占位符 1">
            <a:extLst>
              <a:ext uri="{FF2B5EF4-FFF2-40B4-BE49-F238E27FC236}">
                <a16:creationId xmlns:a16="http://schemas.microsoft.com/office/drawing/2014/main" id="{D4DEB89F-32B8-E0BE-98EF-762B8B68FB96}"/>
              </a:ext>
            </a:extLst>
          </p:cNvPr>
          <p:cNvSpPr>
            <a:spLocks noGrp="1"/>
          </p:cNvSpPr>
          <p:nvPr>
            <p:ph type="dt" sz="half" idx="10"/>
          </p:nvPr>
        </p:nvSpPr>
        <p:spPr/>
        <p:txBody>
          <a:bodyPr/>
          <a:lstStyle/>
          <a:p>
            <a:fld id="{0B4571A7-0608-4CA0-91C4-DD76FEAC2393}" type="datetime1">
              <a:rPr lang="zh-CN" altLang="en-US" smtClean="0">
                <a:latin typeface="Arial" panose="020B0604020202020204" pitchFamily="34" charset="0"/>
                <a:ea typeface="微软雅黑" panose="020B0503020204020204" pitchFamily="34" charset="-122"/>
                <a:sym typeface="Arial" panose="020B0604020202020204" pitchFamily="34" charset="0"/>
              </a:rPr>
              <a:t>2026/2/10</a:t>
            </a:fld>
            <a:endParaRPr lang="en-US" altLang="en-US" dirty="0">
              <a:latin typeface="Arial" panose="020B0604020202020204" pitchFamily="34" charset="0"/>
              <a:ea typeface="微软雅黑" panose="020B0503020204020204" pitchFamily="34" charset="-122"/>
              <a:sym typeface="Arial" panose="020B0604020202020204" pitchFamily="34" charset="0"/>
            </a:endParaRPr>
          </a:p>
        </p:txBody>
      </p:sp>
      <p:sp>
        <p:nvSpPr>
          <p:cNvPr id="3" name="页脚占位符 2">
            <a:extLst>
              <a:ext uri="{FF2B5EF4-FFF2-40B4-BE49-F238E27FC236}">
                <a16:creationId xmlns:a16="http://schemas.microsoft.com/office/drawing/2014/main" id="{1F2543F0-83A7-2033-0807-CD0F2B1755F5}"/>
              </a:ext>
            </a:extLst>
          </p:cNvPr>
          <p:cNvSpPr>
            <a:spLocks noGrp="1"/>
          </p:cNvSpPr>
          <p:nvPr>
            <p:ph type="ftr" sz="quarter" idx="11"/>
          </p:nvPr>
        </p:nvSpPr>
        <p:spPr/>
        <p:txBody>
          <a:bodyPr/>
          <a:lstStyle/>
          <a:p>
            <a:r>
              <a:rPr lang="en-US" altLang="en-US" dirty="0">
                <a:latin typeface="Arial" panose="020B0604020202020204" pitchFamily="34" charset="0"/>
                <a:ea typeface="微软雅黑" panose="020B0503020204020204" pitchFamily="34" charset="-122"/>
                <a:sym typeface="Arial" panose="020B0604020202020204" pitchFamily="34" charset="0"/>
              </a:rPr>
              <a:t>Horizon Continental Technology Shanghai Co.， Ltd -  Confidential Information Under NDA</a:t>
            </a:r>
          </a:p>
        </p:txBody>
      </p:sp>
      <p:sp>
        <p:nvSpPr>
          <p:cNvPr id="4" name="灯片编号占位符 3">
            <a:extLst>
              <a:ext uri="{FF2B5EF4-FFF2-40B4-BE49-F238E27FC236}">
                <a16:creationId xmlns:a16="http://schemas.microsoft.com/office/drawing/2014/main" id="{215A0FB0-EB09-194C-0C7D-A1B5CCCC048B}"/>
              </a:ext>
            </a:extLst>
          </p:cNvPr>
          <p:cNvSpPr>
            <a:spLocks noGrp="1"/>
          </p:cNvSpPr>
          <p:nvPr>
            <p:ph type="sldNum" sz="quarter" idx="12"/>
          </p:nvPr>
        </p:nvSpPr>
        <p:spPr/>
        <p:txBody>
          <a:bodyPr/>
          <a:lstStyle/>
          <a:p>
            <a:fld id="{9CC13275-6251-4C40-AFE1-85D85DA07171}" type="slidenum">
              <a:rPr lang="en-US" altLang="en-US" smtClean="0">
                <a:latin typeface="Arial" panose="020B0604020202020204" pitchFamily="34" charset="0"/>
                <a:ea typeface="微软雅黑" panose="020B0503020204020204" pitchFamily="34" charset="-122"/>
                <a:sym typeface="Arial" panose="020B0604020202020204" pitchFamily="34" charset="0"/>
              </a:rPr>
              <a:t>4</a:t>
            </a:fld>
            <a:endParaRPr lang="en-US" altLang="en-US" dirty="0">
              <a:latin typeface="Arial" panose="020B0604020202020204" pitchFamily="34" charset="0"/>
              <a:ea typeface="微软雅黑" panose="020B0503020204020204" pitchFamily="34" charset="-122"/>
              <a:sym typeface="Arial" panose="020B0604020202020204" pitchFamily="34" charset="0"/>
            </a:endParaRPr>
          </a:p>
        </p:txBody>
      </p:sp>
      <p:sp>
        <p:nvSpPr>
          <p:cNvPr id="5" name="文本框 4">
            <a:extLst>
              <a:ext uri="{FF2B5EF4-FFF2-40B4-BE49-F238E27FC236}">
                <a16:creationId xmlns:a16="http://schemas.microsoft.com/office/drawing/2014/main" id="{612059C3-DAC3-E31D-7DD4-EF7A0AF0E765}"/>
              </a:ext>
            </a:extLst>
          </p:cNvPr>
          <p:cNvSpPr txBox="1"/>
          <p:nvPr/>
        </p:nvSpPr>
        <p:spPr>
          <a:xfrm>
            <a:off x="777240" y="488315"/>
            <a:ext cx="10637520" cy="491490"/>
          </a:xfrm>
          <a:prstGeom prst="rect">
            <a:avLst/>
          </a:prstGeom>
          <a:noFill/>
        </p:spPr>
        <p:txBody>
          <a:bodyPr wrap="square">
            <a:spAutoFit/>
          </a:bodyPr>
          <a:lstStyle>
            <a:defPPr>
              <a:defRPr lang="en-US"/>
            </a:defPPr>
            <a:lvl1pPr algn="ctr">
              <a:defRPr sz="2600" b="0" spc="300">
                <a:solidFill>
                  <a:srgbClr val="001432"/>
                </a:solidFill>
                <a:latin typeface="+mj-ea"/>
                <a:ea typeface="+mj-ea"/>
              </a:defRPr>
            </a:lvl1pPr>
          </a:lstStyle>
          <a:p>
            <a:pPr lvl="0" defTabSz="914400">
              <a:defRPr/>
            </a:pPr>
            <a:r>
              <a:rPr lang="en-US" altLang="zh-CN" dirty="0">
                <a:solidFill>
                  <a:srgbClr val="131319"/>
                </a:solidFill>
                <a:latin typeface="Arial" panose="020B0604020202020204" pitchFamily="34" charset="0"/>
                <a:ea typeface="微软雅黑" panose="020B0503020204020204" pitchFamily="34" charset="-122"/>
                <a:sym typeface="Arial" panose="020B0604020202020204" pitchFamily="34" charset="0"/>
              </a:rPr>
              <a:t>Astra</a:t>
            </a:r>
            <a:r>
              <a:rPr lang="zh-CN" altLang="en-US" dirty="0">
                <a:solidFill>
                  <a:srgbClr val="131319"/>
                </a:solidFill>
                <a:latin typeface="Arial" panose="020B0604020202020204" pitchFamily="34" charset="0"/>
                <a:ea typeface="微软雅黑" panose="020B0503020204020204" pitchFamily="34" charset="-122"/>
                <a:sym typeface="Arial" panose="020B0604020202020204" pitchFamily="34" charset="0"/>
              </a:rPr>
              <a:t>行车功能列表</a:t>
            </a:r>
            <a:endParaRPr lang="zh-CN" altLang="en-US" sz="4000" dirty="0">
              <a:solidFill>
                <a:srgbClr val="131319"/>
              </a:solidFill>
              <a:latin typeface="Arial" panose="020B0604020202020204" pitchFamily="34" charset="0"/>
              <a:ea typeface="微软雅黑" panose="020B0503020204020204" pitchFamily="34" charset="-122"/>
              <a:sym typeface="Arial" panose="020B0604020202020204" pitchFamily="34" charset="0"/>
            </a:endParaRPr>
          </a:p>
        </p:txBody>
      </p:sp>
      <p:graphicFrame>
        <p:nvGraphicFramePr>
          <p:cNvPr id="7" name="表格 6">
            <a:extLst>
              <a:ext uri="{FF2B5EF4-FFF2-40B4-BE49-F238E27FC236}">
                <a16:creationId xmlns:a16="http://schemas.microsoft.com/office/drawing/2014/main" id="{D43F4A96-91CD-AC91-9C5B-1A774FDCF27F}"/>
              </a:ext>
            </a:extLst>
          </p:cNvPr>
          <p:cNvGraphicFramePr>
            <a:graphicFrameLocks noGrp="1"/>
          </p:cNvGraphicFramePr>
          <p:nvPr>
            <p:extLst>
              <p:ext uri="{D42A27DB-BD31-4B8C-83A1-F6EECF244321}">
                <p14:modId xmlns:p14="http://schemas.microsoft.com/office/powerpoint/2010/main" val="1924231386"/>
              </p:ext>
            </p:extLst>
          </p:nvPr>
        </p:nvGraphicFramePr>
        <p:xfrm>
          <a:off x="217200" y="1071243"/>
          <a:ext cx="11757600" cy="5212325"/>
        </p:xfrm>
        <a:graphic>
          <a:graphicData uri="http://schemas.openxmlformats.org/drawingml/2006/table">
            <a:tbl>
              <a:tblPr/>
              <a:tblGrid>
                <a:gridCol w="1001084">
                  <a:extLst>
                    <a:ext uri="{9D8B030D-6E8A-4147-A177-3AD203B41FA5}">
                      <a16:colId xmlns:a16="http://schemas.microsoft.com/office/drawing/2014/main" val="753555554"/>
                    </a:ext>
                  </a:extLst>
                </a:gridCol>
                <a:gridCol w="1555433">
                  <a:extLst>
                    <a:ext uri="{9D8B030D-6E8A-4147-A177-3AD203B41FA5}">
                      <a16:colId xmlns:a16="http://schemas.microsoft.com/office/drawing/2014/main" val="3663784263"/>
                    </a:ext>
                  </a:extLst>
                </a:gridCol>
                <a:gridCol w="6110276">
                  <a:extLst>
                    <a:ext uri="{9D8B030D-6E8A-4147-A177-3AD203B41FA5}">
                      <a16:colId xmlns:a16="http://schemas.microsoft.com/office/drawing/2014/main" val="2991448286"/>
                    </a:ext>
                  </a:extLst>
                </a:gridCol>
                <a:gridCol w="1030269">
                  <a:extLst>
                    <a:ext uri="{9D8B030D-6E8A-4147-A177-3AD203B41FA5}">
                      <a16:colId xmlns:a16="http://schemas.microsoft.com/office/drawing/2014/main" val="577342126"/>
                    </a:ext>
                  </a:extLst>
                </a:gridCol>
                <a:gridCol w="1030269">
                  <a:extLst>
                    <a:ext uri="{9D8B030D-6E8A-4147-A177-3AD203B41FA5}">
                      <a16:colId xmlns:a16="http://schemas.microsoft.com/office/drawing/2014/main" val="1391232952"/>
                    </a:ext>
                  </a:extLst>
                </a:gridCol>
                <a:gridCol w="1030269">
                  <a:extLst>
                    <a:ext uri="{9D8B030D-6E8A-4147-A177-3AD203B41FA5}">
                      <a16:colId xmlns:a16="http://schemas.microsoft.com/office/drawing/2014/main" val="2161060958"/>
                    </a:ext>
                  </a:extLst>
                </a:gridCol>
              </a:tblGrid>
              <a:tr h="314900">
                <a:tc>
                  <a:txBody>
                    <a:bodyPr/>
                    <a:lstStyle/>
                    <a:p>
                      <a:pPr algn="ctr" fontAlgn="ctr" latinLnBrk="0">
                        <a:lnSpc>
                          <a:spcPts val="1600"/>
                        </a:lnSpc>
                        <a:buNone/>
                      </a:pPr>
                      <a:r>
                        <a:rPr lang="zh-CN" altLang="en-US" sz="1200" b="1" i="0" dirty="0">
                          <a:solidFill>
                            <a:schemeClr val="bg1"/>
                          </a:solidFill>
                          <a:effectLst/>
                          <a:latin typeface="Arial" panose="020B0604020202020204" pitchFamily="34" charset="0"/>
                          <a:ea typeface="微软雅黑" panose="020B0503020204020204" pitchFamily="34" charset="-122"/>
                          <a:sym typeface="Arial" panose="020B0604020202020204" pitchFamily="34" charset="0"/>
                        </a:rPr>
                        <a:t>一级功能</a:t>
                      </a:r>
                    </a:p>
                  </a:txBody>
                  <a:tcPr marL="108000" marR="10800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fontAlgn="ctr" latinLnBrk="0">
                        <a:lnSpc>
                          <a:spcPts val="1600"/>
                        </a:lnSpc>
                        <a:buNone/>
                      </a:pPr>
                      <a:r>
                        <a:rPr lang="zh-CN" altLang="en-US" sz="1200" b="1" i="0">
                          <a:solidFill>
                            <a:schemeClr val="bg1"/>
                          </a:solidFill>
                          <a:effectLst/>
                          <a:latin typeface="Arial" panose="020B0604020202020204" pitchFamily="34" charset="0"/>
                          <a:ea typeface="微软雅黑" panose="020B0503020204020204" pitchFamily="34" charset="-122"/>
                          <a:sym typeface="Arial" panose="020B0604020202020204" pitchFamily="34" charset="0"/>
                        </a:rPr>
                        <a:t>二级功能</a:t>
                      </a:r>
                    </a:p>
                  </a:txBody>
                  <a:tcPr marL="108000" marR="10800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fontAlgn="ctr" latinLnBrk="0">
                        <a:lnSpc>
                          <a:spcPts val="1600"/>
                        </a:lnSpc>
                        <a:buNone/>
                      </a:pPr>
                      <a:r>
                        <a:rPr lang="zh-CN" altLang="en-US" sz="1200" b="1" i="0" dirty="0">
                          <a:solidFill>
                            <a:schemeClr val="bg1"/>
                          </a:solidFill>
                          <a:effectLst/>
                          <a:latin typeface="Arial" panose="020B0604020202020204" pitchFamily="34" charset="0"/>
                          <a:ea typeface="微软雅黑" panose="020B0503020204020204" pitchFamily="34" charset="-122"/>
                          <a:sym typeface="Arial" panose="020B0604020202020204" pitchFamily="34" charset="0"/>
                        </a:rPr>
                        <a:t>描述</a:t>
                      </a:r>
                    </a:p>
                  </a:txBody>
                  <a:tcPr marL="108000" marR="10800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fontAlgn="ctr" latinLnBrk="0">
                        <a:lnSpc>
                          <a:spcPts val="1600"/>
                        </a:lnSpc>
                        <a:buNone/>
                      </a:pPr>
                      <a:r>
                        <a:rPr lang="zh-CN" altLang="en-US" sz="1200" b="1" i="0" dirty="0">
                          <a:solidFill>
                            <a:schemeClr val="bg1"/>
                          </a:solidFill>
                          <a:effectLst/>
                          <a:latin typeface="Arial" panose="020B0604020202020204" pitchFamily="34" charset="0"/>
                          <a:ea typeface="微软雅黑" panose="020B0503020204020204" pitchFamily="34" charset="-122"/>
                          <a:sym typeface="Arial" panose="020B0604020202020204" pitchFamily="34" charset="0"/>
                        </a:rPr>
                        <a:t>场景</a:t>
                      </a:r>
                    </a:p>
                  </a:txBody>
                  <a:tcPr marL="108000" marR="10800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fontAlgn="ctr" latinLnBrk="0">
                        <a:lnSpc>
                          <a:spcPts val="1600"/>
                        </a:lnSpc>
                        <a:buNone/>
                      </a:pPr>
                      <a:r>
                        <a:rPr lang="zh-CN" altLang="en-US" sz="1200" b="1" i="0" dirty="0">
                          <a:solidFill>
                            <a:schemeClr val="bg1"/>
                          </a:solidFill>
                          <a:effectLst/>
                          <a:latin typeface="Arial" panose="020B0604020202020204" pitchFamily="34" charset="0"/>
                          <a:ea typeface="微软雅黑" panose="020B0503020204020204" pitchFamily="34" charset="-122"/>
                          <a:sym typeface="Arial" panose="020B0604020202020204" pitchFamily="34" charset="0"/>
                        </a:rPr>
                        <a:t>功能</a:t>
                      </a:r>
                    </a:p>
                  </a:txBody>
                  <a:tcPr marL="108000" marR="10800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fontAlgn="ctr" latinLnBrk="0">
                        <a:lnSpc>
                          <a:spcPts val="1600"/>
                        </a:lnSpc>
                        <a:buNone/>
                      </a:pPr>
                      <a:r>
                        <a:rPr lang="zh-CN" altLang="en-US" sz="1200" b="1" i="0" dirty="0">
                          <a:solidFill>
                            <a:schemeClr val="bg1"/>
                          </a:solidFill>
                          <a:effectLst/>
                          <a:latin typeface="Arial" panose="020B0604020202020204" pitchFamily="34" charset="0"/>
                          <a:ea typeface="微软雅黑" panose="020B0503020204020204" pitchFamily="34" charset="-122"/>
                          <a:sym typeface="Arial" panose="020B0604020202020204" pitchFamily="34" charset="0"/>
                        </a:rPr>
                        <a:t>上线计划</a:t>
                      </a:r>
                    </a:p>
                  </a:txBody>
                  <a:tcPr marL="108000" marR="10800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extLst>
                  <a:ext uri="{0D108BD9-81ED-4DB2-BD59-A6C34878D82A}">
                    <a16:rowId xmlns:a16="http://schemas.microsoft.com/office/drawing/2014/main" val="1774747084"/>
                  </a:ext>
                </a:extLst>
              </a:tr>
              <a:tr h="2407519">
                <a:tc rowSpan="3">
                  <a:txBody>
                    <a:bodyPr/>
                    <a:lstStyle/>
                    <a:p>
                      <a:pPr algn="ctr" fontAlgn="ctr" latinLnBrk="0">
                        <a:lnSpc>
                          <a:spcPts val="1600"/>
                        </a:lnSpc>
                        <a:buNone/>
                      </a:pPr>
                      <a:r>
                        <a:rPr lang="zh-CN" altLang="en-US" sz="1200" b="0" i="0" dirty="0">
                          <a:solidFill>
                            <a:srgbClr val="000000"/>
                          </a:solidFill>
                          <a:effectLst/>
                          <a:latin typeface="Arial" panose="020B0604020202020204" pitchFamily="34" charset="0"/>
                          <a:ea typeface="微软雅黑" panose="020B0503020204020204" pitchFamily="34" charset="-122"/>
                          <a:sym typeface="Arial" panose="020B0604020202020204" pitchFamily="34" charset="0"/>
                        </a:rPr>
                        <a:t>漫游功能</a:t>
                      </a:r>
                    </a:p>
                  </a:txBody>
                  <a:tcPr marL="108000" marR="10800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latinLnBrk="0">
                        <a:lnSpc>
                          <a:spcPts val="1600"/>
                        </a:lnSpc>
                        <a:buNone/>
                      </a:pPr>
                      <a:r>
                        <a:rPr lang="zh-CN" altLang="en-US" sz="1200" b="0" i="0" dirty="0">
                          <a:solidFill>
                            <a:srgbClr val="000000"/>
                          </a:solidFill>
                          <a:effectLst/>
                          <a:latin typeface="Arial" panose="020B0604020202020204" pitchFamily="34" charset="0"/>
                          <a:ea typeface="微软雅黑" panose="020B0503020204020204" pitchFamily="34" charset="-122"/>
                          <a:sym typeface="Arial" panose="020B0604020202020204" pitchFamily="34" charset="0"/>
                        </a:rPr>
                        <a:t>漫游辅助驾驶</a:t>
                      </a:r>
                      <a:endParaRPr lang="en-US" altLang="zh-CN" sz="1200" b="0" i="0" dirty="0">
                        <a:solidFill>
                          <a:srgbClr val="000000"/>
                        </a:solidFill>
                        <a:effectLst/>
                        <a:latin typeface="Arial" panose="020B0604020202020204" pitchFamily="34" charset="0"/>
                        <a:ea typeface="微软雅黑" panose="020B0503020204020204" pitchFamily="34" charset="-122"/>
                        <a:sym typeface="Arial" panose="020B0604020202020204" pitchFamily="34" charset="0"/>
                      </a:endParaRPr>
                    </a:p>
                    <a:p>
                      <a:pPr algn="ctr" fontAlgn="ctr" latinLnBrk="0">
                        <a:lnSpc>
                          <a:spcPts val="1600"/>
                        </a:lnSpc>
                        <a:buNone/>
                      </a:pPr>
                      <a:r>
                        <a:rPr lang="zh-CN" altLang="en-US" sz="1200" b="0" i="0" dirty="0">
                          <a:solidFill>
                            <a:srgbClr val="000000"/>
                          </a:solidFill>
                          <a:effectLst/>
                          <a:latin typeface="Arial" panose="020B0604020202020204" pitchFamily="34" charset="0"/>
                          <a:ea typeface="微软雅黑" panose="020B0503020204020204" pitchFamily="34" charset="-122"/>
                          <a:sym typeface="Arial" panose="020B0604020202020204" pitchFamily="34" charset="0"/>
                        </a:rPr>
                        <a:t>（基于</a:t>
                      </a:r>
                      <a:r>
                        <a:rPr lang="en-US" altLang="zh-CN" sz="1200" b="0" i="0" dirty="0">
                          <a:solidFill>
                            <a:srgbClr val="000000"/>
                          </a:solidFill>
                          <a:effectLst/>
                          <a:latin typeface="Arial" panose="020B0604020202020204" pitchFamily="34" charset="0"/>
                          <a:ea typeface="微软雅黑" panose="020B0503020204020204" pitchFamily="34" charset="-122"/>
                          <a:sym typeface="Arial" panose="020B0604020202020204" pitchFamily="34" charset="0"/>
                        </a:rPr>
                        <a:t>MPP</a:t>
                      </a:r>
                      <a:r>
                        <a:rPr lang="zh-CN" altLang="en-US" sz="1200" b="0" i="0" dirty="0">
                          <a:solidFill>
                            <a:srgbClr val="000000"/>
                          </a:solidFill>
                          <a:effectLst/>
                          <a:latin typeface="Arial" panose="020B0604020202020204" pitchFamily="34" charset="0"/>
                          <a:ea typeface="微软雅黑" panose="020B0503020204020204" pitchFamily="34" charset="-122"/>
                          <a:sym typeface="Arial" panose="020B0604020202020204" pitchFamily="34" charset="0"/>
                        </a:rPr>
                        <a:t>）</a:t>
                      </a:r>
                      <a:endParaRPr lang="en-US" altLang="zh-CN" sz="1200" b="0" i="0" dirty="0">
                        <a:solidFill>
                          <a:srgbClr val="000000"/>
                        </a:solidFill>
                        <a:effectLst/>
                        <a:latin typeface="Arial" panose="020B0604020202020204" pitchFamily="34" charset="0"/>
                        <a:ea typeface="微软雅黑" panose="020B0503020204020204" pitchFamily="34" charset="-122"/>
                        <a:sym typeface="Arial" panose="020B0604020202020204" pitchFamily="34" charset="0"/>
                      </a:endParaRPr>
                    </a:p>
                  </a:txBody>
                  <a:tcPr marL="108000" marR="10800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indent="0" algn="l" defTabSz="914400" rtl="0" eaLnBrk="1" fontAlgn="ctr" latinLnBrk="0" hangingPunct="1">
                        <a:lnSpc>
                          <a:spcPts val="1600"/>
                        </a:lnSpc>
                        <a:buFont typeface="微软雅黑" panose="020B0503020204020204" pitchFamily="34" charset="-122"/>
                        <a:buNone/>
                      </a:pPr>
                      <a:r>
                        <a:rPr lang="zh-CN" altLang="en-US" sz="1200" b="0" i="0" kern="1200" dirty="0">
                          <a:solidFill>
                            <a:srgbClr val="000000"/>
                          </a:solidFill>
                          <a:effectLst/>
                          <a:latin typeface="Arial" panose="020B0604020202020204" pitchFamily="34" charset="0"/>
                          <a:ea typeface="微软雅黑" panose="020B0503020204020204" pitchFamily="34" charset="-122"/>
                          <a:cs typeface="+mn-cs"/>
                        </a:rPr>
                        <a:t>在未设置导航目的地的情况下，按“系统默认策略”进行巡航轨迹规划</a:t>
                      </a:r>
                      <a:endParaRPr lang="en-US" altLang="zh-CN" sz="1200" b="0" i="0" kern="1200" dirty="0">
                        <a:solidFill>
                          <a:srgbClr val="000000"/>
                        </a:solidFill>
                        <a:effectLst/>
                        <a:latin typeface="Arial" panose="020B0604020202020204" pitchFamily="34" charset="0"/>
                        <a:ea typeface="微软雅黑" panose="020B0503020204020204" pitchFamily="34" charset="-122"/>
                        <a:cs typeface="+mn-cs"/>
                      </a:endParaRPr>
                    </a:p>
                    <a:p>
                      <a:pPr marL="0" indent="0" algn="l" defTabSz="914400" rtl="0" eaLnBrk="1" fontAlgn="ctr" latinLnBrk="0" hangingPunct="1">
                        <a:lnSpc>
                          <a:spcPts val="1600"/>
                        </a:lnSpc>
                        <a:buFont typeface="微软雅黑" panose="020B0503020204020204" pitchFamily="34" charset="-122"/>
                        <a:buNone/>
                      </a:pPr>
                      <a:r>
                        <a:rPr lang="zh-CN" altLang="en-US" sz="1200" b="0" i="0" kern="1200" dirty="0">
                          <a:solidFill>
                            <a:srgbClr val="000000"/>
                          </a:solidFill>
                          <a:effectLst/>
                          <a:latin typeface="Arial" panose="020B0604020202020204" pitchFamily="34" charset="0"/>
                          <a:ea typeface="微软雅黑" panose="020B0503020204020204" pitchFamily="34" charset="-122"/>
                          <a:cs typeface="+mn-cs"/>
                        </a:rPr>
                        <a:t>所覆盖的场景（三级功能）：同领航功能</a:t>
                      </a:r>
                      <a:endParaRPr lang="en-US" altLang="zh-CN" sz="1200" b="0" i="0" kern="1200" dirty="0">
                        <a:solidFill>
                          <a:srgbClr val="000000"/>
                        </a:solidFill>
                        <a:effectLst/>
                        <a:latin typeface="Arial" panose="020B0604020202020204" pitchFamily="34" charset="0"/>
                        <a:ea typeface="微软雅黑" panose="020B0503020204020204" pitchFamily="34" charset="-122"/>
                        <a:cs typeface="+mn-cs"/>
                      </a:endParaRPr>
                    </a:p>
                    <a:p>
                      <a:pPr marL="0" indent="0" algn="l" defTabSz="914400" rtl="0" eaLnBrk="1" fontAlgn="ctr" latinLnBrk="0" hangingPunct="1">
                        <a:lnSpc>
                          <a:spcPts val="1600"/>
                        </a:lnSpc>
                        <a:buFont typeface="微软雅黑" panose="020B0503020204020204" pitchFamily="34" charset="-122"/>
                        <a:buNone/>
                      </a:pPr>
                      <a:r>
                        <a:rPr lang="zh-CN" altLang="en-US" sz="1200" b="0" i="0" kern="1200" dirty="0">
                          <a:solidFill>
                            <a:srgbClr val="000000"/>
                          </a:solidFill>
                          <a:effectLst/>
                          <a:latin typeface="Arial" panose="020B0604020202020204" pitchFamily="34" charset="0"/>
                          <a:ea typeface="微软雅黑" panose="020B0503020204020204" pitchFamily="34" charset="-122"/>
                          <a:cs typeface="+mn-cs"/>
                        </a:rPr>
                        <a:t>与领航辅助驾驶的差异：</a:t>
                      </a:r>
                      <a:endParaRPr lang="en-US" altLang="zh-CN" sz="1200" b="0" i="0" kern="1200" dirty="0">
                        <a:solidFill>
                          <a:srgbClr val="000000"/>
                        </a:solidFill>
                        <a:effectLst/>
                        <a:latin typeface="Arial" panose="020B0604020202020204" pitchFamily="34" charset="0"/>
                        <a:ea typeface="微软雅黑" panose="020B0503020204020204" pitchFamily="34" charset="-122"/>
                        <a:cs typeface="+mn-cs"/>
                      </a:endParaRPr>
                    </a:p>
                    <a:p>
                      <a:pPr marL="171450" lvl="0" indent="-171450" algn="l" defTabSz="914400" rtl="0" eaLnBrk="1" fontAlgn="ctr" latinLnBrk="0" hangingPunct="1">
                        <a:lnSpc>
                          <a:spcPts val="1600"/>
                        </a:lnSpc>
                        <a:buFont typeface="微软雅黑" panose="020B0503020204020204" pitchFamily="34" charset="-122"/>
                        <a:buChar char="￭"/>
                      </a:pPr>
                      <a:r>
                        <a:rPr lang="zh-CN" altLang="en-US" sz="1200" b="0" i="0" kern="1200" dirty="0">
                          <a:solidFill>
                            <a:srgbClr val="000000"/>
                          </a:solidFill>
                          <a:effectLst/>
                          <a:latin typeface="+mn-lt"/>
                          <a:ea typeface="+mn-ea"/>
                          <a:cs typeface="+mn-cs"/>
                        </a:rPr>
                        <a:t>领航功能使用导航信息，漫游功能使用</a:t>
                      </a:r>
                      <a:r>
                        <a:rPr lang="en-US" altLang="zh-CN" sz="1200" b="0" i="0" kern="1200" dirty="0">
                          <a:solidFill>
                            <a:srgbClr val="000000"/>
                          </a:solidFill>
                          <a:effectLst/>
                          <a:latin typeface="+mn-lt"/>
                          <a:ea typeface="+mn-ea"/>
                          <a:cs typeface="+mn-cs"/>
                        </a:rPr>
                        <a:t>MPP</a:t>
                      </a:r>
                      <a:r>
                        <a:rPr lang="zh-CN" altLang="en-US" sz="1200" b="0" i="0" kern="1200" dirty="0">
                          <a:solidFill>
                            <a:srgbClr val="000000"/>
                          </a:solidFill>
                          <a:effectLst/>
                          <a:latin typeface="+mn-lt"/>
                          <a:ea typeface="+mn-ea"/>
                          <a:cs typeface="+mn-cs"/>
                        </a:rPr>
                        <a:t>探路信息</a:t>
                      </a:r>
                      <a:endParaRPr lang="en-US" altLang="zh-CN" sz="1200" b="0" i="0" kern="1200" dirty="0">
                        <a:solidFill>
                          <a:srgbClr val="000000"/>
                        </a:solidFill>
                        <a:effectLst/>
                        <a:latin typeface="+mn-lt"/>
                        <a:ea typeface="+mn-ea"/>
                        <a:cs typeface="+mn-cs"/>
                      </a:endParaRPr>
                    </a:p>
                    <a:p>
                      <a:pPr marL="171450" lvl="0" indent="-171450" algn="l" defTabSz="914400" rtl="0" eaLnBrk="1" fontAlgn="ctr" latinLnBrk="0" hangingPunct="1">
                        <a:lnSpc>
                          <a:spcPts val="1600"/>
                        </a:lnSpc>
                        <a:buFont typeface="微软雅黑" panose="020B0503020204020204" pitchFamily="34" charset="-122"/>
                        <a:buChar char="￭"/>
                      </a:pPr>
                      <a:r>
                        <a:rPr lang="zh-CN" altLang="en-US" sz="1200" b="0" i="0" kern="1200" dirty="0">
                          <a:solidFill>
                            <a:srgbClr val="000000"/>
                          </a:solidFill>
                          <a:effectLst/>
                          <a:latin typeface="+mn-lt"/>
                          <a:ea typeface="+mn-ea"/>
                          <a:cs typeface="+mn-cs"/>
                        </a:rPr>
                        <a:t>在路口通行时：</a:t>
                      </a:r>
                      <a:endParaRPr lang="en-US" altLang="zh-CN" sz="1200" b="0" i="0" kern="1200" dirty="0">
                        <a:solidFill>
                          <a:srgbClr val="000000"/>
                        </a:solidFill>
                        <a:effectLst/>
                        <a:latin typeface="+mn-lt"/>
                        <a:ea typeface="+mn-ea"/>
                        <a:cs typeface="+mn-cs"/>
                      </a:endParaRPr>
                    </a:p>
                    <a:p>
                      <a:pPr marL="685800" lvl="1" indent="-228600" algn="l" defTabSz="914400" rtl="0" eaLnBrk="1" fontAlgn="ctr" latinLnBrk="0" hangingPunct="1">
                        <a:lnSpc>
                          <a:spcPts val="1600"/>
                        </a:lnSpc>
                        <a:buFont typeface="+mj-lt"/>
                        <a:buAutoNum type="arabicPeriod"/>
                      </a:pPr>
                      <a:r>
                        <a:rPr lang="zh-CN" altLang="en-US" sz="1200" b="0" i="0" dirty="0">
                          <a:solidFill>
                            <a:srgbClr val="000000"/>
                          </a:solidFill>
                          <a:effectLst/>
                        </a:rPr>
                        <a:t>驾驶员可以通过</a:t>
                      </a:r>
                      <a:r>
                        <a:rPr lang="en-US" altLang="zh-CN" sz="1200" b="0" i="0" dirty="0">
                          <a:solidFill>
                            <a:srgbClr val="000000"/>
                          </a:solidFill>
                          <a:effectLst/>
                        </a:rPr>
                        <a:t>“</a:t>
                      </a:r>
                      <a:r>
                        <a:rPr lang="zh-CN" altLang="en-US" sz="1200" b="0" i="0" dirty="0">
                          <a:solidFill>
                            <a:srgbClr val="000000"/>
                          </a:solidFill>
                          <a:effectLst/>
                        </a:rPr>
                        <a:t>拨杆变道</a:t>
                      </a:r>
                      <a:r>
                        <a:rPr lang="en-US" altLang="zh-CN" sz="1200" b="0" i="0" dirty="0">
                          <a:solidFill>
                            <a:srgbClr val="000000"/>
                          </a:solidFill>
                          <a:effectLst/>
                        </a:rPr>
                        <a:t>”</a:t>
                      </a:r>
                      <a:r>
                        <a:rPr lang="zh-CN" altLang="en-US" sz="1200" b="0" i="0" dirty="0">
                          <a:solidFill>
                            <a:srgbClr val="000000"/>
                          </a:solidFill>
                          <a:effectLst/>
                        </a:rPr>
                        <a:t>的方式，在路口前驶入对应的直行</a:t>
                      </a:r>
                      <a:r>
                        <a:rPr lang="en-US" altLang="zh-CN" sz="1200" b="0" i="0" dirty="0">
                          <a:solidFill>
                            <a:srgbClr val="000000"/>
                          </a:solidFill>
                          <a:effectLst/>
                        </a:rPr>
                        <a:t>/</a:t>
                      </a:r>
                      <a:r>
                        <a:rPr lang="zh-CN" altLang="en-US" sz="1200" b="0" i="0" dirty="0">
                          <a:solidFill>
                            <a:srgbClr val="000000"/>
                          </a:solidFill>
                          <a:effectLst/>
                        </a:rPr>
                        <a:t>左转</a:t>
                      </a:r>
                      <a:r>
                        <a:rPr lang="en-US" altLang="zh-CN" sz="1200" b="0" i="0" dirty="0">
                          <a:solidFill>
                            <a:srgbClr val="000000"/>
                          </a:solidFill>
                          <a:effectLst/>
                        </a:rPr>
                        <a:t>/</a:t>
                      </a:r>
                      <a:r>
                        <a:rPr lang="zh-CN" altLang="en-US" sz="1200" b="0" i="0" dirty="0">
                          <a:solidFill>
                            <a:srgbClr val="000000"/>
                          </a:solidFill>
                          <a:effectLst/>
                        </a:rPr>
                        <a:t>右转</a:t>
                      </a:r>
                      <a:r>
                        <a:rPr lang="en-US" altLang="zh-CN" sz="1200" b="0" i="0" dirty="0">
                          <a:solidFill>
                            <a:srgbClr val="000000"/>
                          </a:solidFill>
                          <a:effectLst/>
                        </a:rPr>
                        <a:t>/</a:t>
                      </a:r>
                      <a:r>
                        <a:rPr lang="zh-CN" altLang="en-US" sz="1200" b="0" i="0" dirty="0">
                          <a:solidFill>
                            <a:srgbClr val="000000"/>
                          </a:solidFill>
                          <a:effectLst/>
                        </a:rPr>
                        <a:t>调头车道</a:t>
                      </a:r>
                      <a:endParaRPr lang="en-US" altLang="zh-CN" sz="1200" b="0" i="0" dirty="0">
                        <a:solidFill>
                          <a:srgbClr val="000000"/>
                        </a:solidFill>
                        <a:effectLst/>
                      </a:endParaRPr>
                    </a:p>
                    <a:p>
                      <a:pPr marL="685800" lvl="1" indent="-228600" algn="l" defTabSz="914400" rtl="0" eaLnBrk="1" fontAlgn="ctr" latinLnBrk="0" hangingPunct="1">
                        <a:lnSpc>
                          <a:spcPts val="1600"/>
                        </a:lnSpc>
                        <a:buFont typeface="+mj-lt"/>
                        <a:buAutoNum type="arabicPeriod"/>
                      </a:pPr>
                      <a:r>
                        <a:rPr lang="zh-CN" altLang="en-US" sz="1200" b="0" i="0" dirty="0">
                          <a:solidFill>
                            <a:srgbClr val="000000"/>
                          </a:solidFill>
                          <a:effectLst/>
                        </a:rPr>
                        <a:t>若路口前自车驶入的车道仅有一个通行方向，自车将按车道通行方向进行路口直行</a:t>
                      </a:r>
                      <a:r>
                        <a:rPr lang="en-US" altLang="zh-CN" sz="1200" b="0" i="0" dirty="0">
                          <a:solidFill>
                            <a:srgbClr val="000000"/>
                          </a:solidFill>
                          <a:effectLst/>
                        </a:rPr>
                        <a:t>/</a:t>
                      </a:r>
                      <a:r>
                        <a:rPr lang="zh-CN" altLang="en-US" sz="1200" b="0" i="0" dirty="0">
                          <a:solidFill>
                            <a:srgbClr val="000000"/>
                          </a:solidFill>
                          <a:effectLst/>
                        </a:rPr>
                        <a:t>左转</a:t>
                      </a:r>
                      <a:r>
                        <a:rPr lang="en-US" altLang="zh-CN" sz="1200" b="0" i="0" dirty="0">
                          <a:solidFill>
                            <a:srgbClr val="000000"/>
                          </a:solidFill>
                          <a:effectLst/>
                        </a:rPr>
                        <a:t>/</a:t>
                      </a:r>
                      <a:r>
                        <a:rPr lang="zh-CN" altLang="en-US" sz="1200" b="0" i="0" dirty="0">
                          <a:solidFill>
                            <a:srgbClr val="000000"/>
                          </a:solidFill>
                          <a:effectLst/>
                        </a:rPr>
                        <a:t>右转</a:t>
                      </a:r>
                      <a:r>
                        <a:rPr lang="en-US" altLang="zh-CN" sz="1200" b="0" i="0" dirty="0">
                          <a:solidFill>
                            <a:srgbClr val="000000"/>
                          </a:solidFill>
                          <a:effectLst/>
                        </a:rPr>
                        <a:t>/</a:t>
                      </a:r>
                      <a:r>
                        <a:rPr lang="zh-CN" altLang="en-US" sz="1200" b="0" i="0" dirty="0">
                          <a:solidFill>
                            <a:srgbClr val="000000"/>
                          </a:solidFill>
                          <a:effectLst/>
                        </a:rPr>
                        <a:t>调头</a:t>
                      </a:r>
                      <a:endParaRPr lang="en-US" altLang="zh-CN" sz="1200" b="0" i="0" dirty="0">
                        <a:solidFill>
                          <a:srgbClr val="000000"/>
                        </a:solidFill>
                        <a:effectLst/>
                      </a:endParaRPr>
                    </a:p>
                    <a:p>
                      <a:pPr marL="685800" lvl="1" indent="-228600" algn="l" defTabSz="914400" rtl="0" eaLnBrk="1" fontAlgn="ctr" latinLnBrk="0" hangingPunct="1">
                        <a:lnSpc>
                          <a:spcPts val="1600"/>
                        </a:lnSpc>
                        <a:buFont typeface="+mj-lt"/>
                        <a:buAutoNum type="arabicPeriod"/>
                      </a:pPr>
                      <a:r>
                        <a:rPr lang="zh-CN" altLang="en-US" sz="1200" b="0" i="0" dirty="0">
                          <a:solidFill>
                            <a:srgbClr val="000000"/>
                          </a:solidFill>
                          <a:effectLst/>
                        </a:rPr>
                        <a:t>若车道是复合通行方向，优先级：直行＞右转＞左转＞掉头</a:t>
                      </a:r>
                      <a:endParaRPr lang="en-US" altLang="zh-CN" sz="1200" b="0" i="0" dirty="0">
                        <a:solidFill>
                          <a:srgbClr val="000000"/>
                        </a:solidFill>
                        <a:effectLst/>
                      </a:endParaRPr>
                    </a:p>
                    <a:p>
                      <a:pPr marL="685800" lvl="1" indent="-228600" algn="l" defTabSz="914400" rtl="0" eaLnBrk="1" fontAlgn="ctr" latinLnBrk="0" hangingPunct="1">
                        <a:lnSpc>
                          <a:spcPts val="1600"/>
                        </a:lnSpc>
                        <a:buFont typeface="+mj-lt"/>
                        <a:buAutoNum type="arabicPeriod"/>
                      </a:pPr>
                      <a:r>
                        <a:rPr lang="zh-CN" altLang="en-US" sz="1200" b="0" i="0" dirty="0">
                          <a:solidFill>
                            <a:srgbClr val="000000"/>
                          </a:solidFill>
                          <a:effectLst/>
                        </a:rPr>
                        <a:t>无法直行时优先选择驶入与当前轨迹重合度高的车道</a:t>
                      </a:r>
                      <a:endParaRPr lang="en-US" altLang="zh-CN" sz="1200" b="0" i="0" dirty="0">
                        <a:solidFill>
                          <a:srgbClr val="000000"/>
                        </a:solidFill>
                        <a:effectLst/>
                      </a:endParaRPr>
                    </a:p>
                  </a:txBody>
                  <a:tcPr marL="72000" marR="7200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latinLnBrk="0">
                        <a:lnSpc>
                          <a:spcPts val="1600"/>
                        </a:lnSpc>
                        <a:buNone/>
                      </a:pPr>
                      <a:r>
                        <a:rPr lang="zh-CN" altLang="en-US" sz="1200" b="0" i="0" dirty="0">
                          <a:solidFill>
                            <a:srgbClr val="000000"/>
                          </a:solidFill>
                          <a:effectLst/>
                          <a:latin typeface="Arial" panose="020B0604020202020204" pitchFamily="34" charset="0"/>
                          <a:ea typeface="微软雅黑" panose="020B0503020204020204" pitchFamily="34" charset="-122"/>
                          <a:sym typeface="Arial" panose="020B0604020202020204" pitchFamily="34" charset="0"/>
                        </a:rPr>
                        <a:t>城区，高速</a:t>
                      </a:r>
                    </a:p>
                  </a:txBody>
                  <a:tcPr marL="108000" marR="10800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latinLnBrk="0">
                        <a:lnSpc>
                          <a:spcPts val="1600"/>
                        </a:lnSpc>
                        <a:buNone/>
                      </a:pPr>
                      <a:r>
                        <a:rPr lang="zh-CN" altLang="en-US" sz="1200" b="0" i="0" dirty="0">
                          <a:solidFill>
                            <a:srgbClr val="000000"/>
                          </a:solidFill>
                          <a:effectLst/>
                          <a:latin typeface="Arial" panose="020B0604020202020204" pitchFamily="34" charset="0"/>
                          <a:ea typeface="微软雅黑" panose="020B0503020204020204" pitchFamily="34" charset="-122"/>
                          <a:sym typeface="Arial" panose="020B0604020202020204" pitchFamily="34" charset="0"/>
                        </a:rPr>
                        <a:t>漫游</a:t>
                      </a:r>
                    </a:p>
                  </a:txBody>
                  <a:tcPr marL="108000" marR="10800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latinLnBrk="0">
                        <a:lnSpc>
                          <a:spcPts val="1600"/>
                        </a:lnSpc>
                        <a:buNone/>
                      </a:pPr>
                      <a:r>
                        <a:rPr lang="en-US" sz="1200" b="0" i="0" dirty="0">
                          <a:effectLst/>
                          <a:latin typeface="Arial" panose="020B0604020202020204" pitchFamily="34" charset="0"/>
                          <a:ea typeface="微软雅黑" panose="020B0503020204020204" pitchFamily="34" charset="-122"/>
                          <a:sym typeface="Arial" panose="020B0604020202020204" pitchFamily="34" charset="0"/>
                        </a:rPr>
                        <a:t>SOP(530)</a:t>
                      </a:r>
                    </a:p>
                  </a:txBody>
                  <a:tcPr marL="108000" marR="10800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461452316"/>
                  </a:ext>
                </a:extLst>
              </a:tr>
              <a:tr h="2175006">
                <a:tc vMerge="1">
                  <a:txBody>
                    <a:bodyPr/>
                    <a:lstStyle/>
                    <a:p>
                      <a:endParaRPr lang="zh-CN" altLang="en-US"/>
                    </a:p>
                  </a:txBody>
                  <a:tcPr/>
                </a:tc>
                <a:tc>
                  <a:txBody>
                    <a:bodyPr/>
                    <a:lstStyle/>
                    <a:p>
                      <a:pPr algn="ctr" fontAlgn="ctr" latinLnBrk="0">
                        <a:lnSpc>
                          <a:spcPts val="1600"/>
                        </a:lnSpc>
                        <a:buNone/>
                      </a:pPr>
                      <a:r>
                        <a:rPr lang="zh-CN" altLang="en-US" sz="1200" b="0" i="0" dirty="0">
                          <a:solidFill>
                            <a:srgbClr val="000000"/>
                          </a:solidFill>
                          <a:effectLst/>
                          <a:latin typeface="Arial" panose="020B0604020202020204" pitchFamily="34" charset="0"/>
                          <a:ea typeface="微软雅黑" panose="020B0503020204020204" pitchFamily="34" charset="-122"/>
                          <a:sym typeface="Arial" panose="020B0604020202020204" pitchFamily="34" charset="0"/>
                        </a:rPr>
                        <a:t>基于用户指令通行</a:t>
                      </a:r>
                    </a:p>
                  </a:txBody>
                  <a:tcPr marL="108000" marR="10800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indent="0" algn="l" defTabSz="914400" rtl="0" eaLnBrk="1" fontAlgn="ctr" latinLnBrk="0" hangingPunct="1">
                        <a:lnSpc>
                          <a:spcPts val="1600"/>
                        </a:lnSpc>
                        <a:buFont typeface="微软雅黑" panose="020B0503020204020204" pitchFamily="34" charset="-122"/>
                        <a:buNone/>
                      </a:pPr>
                      <a:r>
                        <a:rPr lang="zh-CN" altLang="en-US" sz="1200" b="0" i="0" kern="1200" dirty="0">
                          <a:solidFill>
                            <a:srgbClr val="000000"/>
                          </a:solidFill>
                          <a:effectLst/>
                          <a:latin typeface="Arial" panose="020B0604020202020204" pitchFamily="34" charset="0"/>
                          <a:ea typeface="微软雅黑" panose="020B0503020204020204" pitchFamily="34" charset="-122"/>
                          <a:cs typeface="+mn-cs"/>
                        </a:rPr>
                        <a:t>系统支持驾驶员输入</a:t>
                      </a:r>
                      <a:r>
                        <a:rPr lang="en-US" altLang="zh-CN" sz="1200" b="0" i="0" kern="1200" dirty="0">
                          <a:solidFill>
                            <a:srgbClr val="000000"/>
                          </a:solidFill>
                          <a:effectLst/>
                          <a:latin typeface="Arial" panose="020B0604020202020204" pitchFamily="34" charset="0"/>
                          <a:ea typeface="微软雅黑" panose="020B0503020204020204" pitchFamily="34" charset="-122"/>
                          <a:cs typeface="+mn-cs"/>
                        </a:rPr>
                        <a:t>“</a:t>
                      </a:r>
                      <a:r>
                        <a:rPr lang="zh-CN" altLang="en-US" sz="1200" b="0" i="0" kern="1200" dirty="0">
                          <a:solidFill>
                            <a:srgbClr val="000000"/>
                          </a:solidFill>
                          <a:effectLst/>
                          <a:latin typeface="Arial" panose="020B0604020202020204" pitchFamily="34" charset="0"/>
                          <a:ea typeface="微软雅黑" panose="020B0503020204020204" pitchFamily="34" charset="-122"/>
                          <a:cs typeface="+mn-cs"/>
                        </a:rPr>
                        <a:t>路口通行</a:t>
                      </a:r>
                      <a:r>
                        <a:rPr lang="en-US" altLang="zh-CN" sz="1200" b="0" i="0" kern="1200" dirty="0">
                          <a:solidFill>
                            <a:srgbClr val="000000"/>
                          </a:solidFill>
                          <a:effectLst/>
                          <a:latin typeface="Arial" panose="020B0604020202020204" pitchFamily="34" charset="0"/>
                          <a:ea typeface="微软雅黑" panose="020B0503020204020204" pitchFamily="34" charset="-122"/>
                          <a:cs typeface="+mn-cs"/>
                        </a:rPr>
                        <a:t>”</a:t>
                      </a:r>
                      <a:r>
                        <a:rPr lang="zh-CN" altLang="en-US" sz="1200" b="0" i="0" kern="1200" dirty="0">
                          <a:solidFill>
                            <a:srgbClr val="000000"/>
                          </a:solidFill>
                          <a:effectLst/>
                          <a:latin typeface="Arial" panose="020B0604020202020204" pitchFamily="34" charset="0"/>
                          <a:ea typeface="微软雅黑" panose="020B0503020204020204" pitchFamily="34" charset="-122"/>
                          <a:cs typeface="+mn-cs"/>
                        </a:rPr>
                        <a:t>指令，自车将在前方路口按指令进行路口直行</a:t>
                      </a:r>
                      <a:r>
                        <a:rPr lang="en-US" altLang="zh-CN" sz="1200" b="0" i="0" kern="1200" dirty="0">
                          <a:solidFill>
                            <a:srgbClr val="000000"/>
                          </a:solidFill>
                          <a:effectLst/>
                          <a:latin typeface="Arial" panose="020B0604020202020204" pitchFamily="34" charset="0"/>
                          <a:ea typeface="微软雅黑" panose="020B0503020204020204" pitchFamily="34" charset="-122"/>
                          <a:cs typeface="+mn-cs"/>
                        </a:rPr>
                        <a:t>/</a:t>
                      </a:r>
                      <a:r>
                        <a:rPr lang="zh-CN" altLang="en-US" sz="1200" b="0" i="0" kern="1200" dirty="0">
                          <a:solidFill>
                            <a:srgbClr val="000000"/>
                          </a:solidFill>
                          <a:effectLst/>
                          <a:latin typeface="Arial" panose="020B0604020202020204" pitchFamily="34" charset="0"/>
                          <a:ea typeface="微软雅黑" panose="020B0503020204020204" pitchFamily="34" charset="-122"/>
                          <a:cs typeface="+mn-cs"/>
                        </a:rPr>
                        <a:t>左转</a:t>
                      </a:r>
                      <a:r>
                        <a:rPr lang="en-US" altLang="zh-CN" sz="1200" b="0" i="0" kern="1200" dirty="0">
                          <a:solidFill>
                            <a:srgbClr val="000000"/>
                          </a:solidFill>
                          <a:effectLst/>
                          <a:latin typeface="Arial" panose="020B0604020202020204" pitchFamily="34" charset="0"/>
                          <a:ea typeface="微软雅黑" panose="020B0503020204020204" pitchFamily="34" charset="-122"/>
                          <a:cs typeface="+mn-cs"/>
                        </a:rPr>
                        <a:t>/</a:t>
                      </a:r>
                      <a:r>
                        <a:rPr lang="zh-CN" altLang="en-US" sz="1200" b="0" i="0" kern="1200" dirty="0">
                          <a:solidFill>
                            <a:srgbClr val="000000"/>
                          </a:solidFill>
                          <a:effectLst/>
                          <a:latin typeface="Arial" panose="020B0604020202020204" pitchFamily="34" charset="0"/>
                          <a:ea typeface="微软雅黑" panose="020B0503020204020204" pitchFamily="34" charset="-122"/>
                          <a:cs typeface="+mn-cs"/>
                        </a:rPr>
                        <a:t>右转</a:t>
                      </a:r>
                      <a:r>
                        <a:rPr lang="en-US" altLang="zh-CN" sz="1200" b="0" i="0" kern="1200" dirty="0">
                          <a:solidFill>
                            <a:srgbClr val="000000"/>
                          </a:solidFill>
                          <a:effectLst/>
                          <a:latin typeface="Arial" panose="020B0604020202020204" pitchFamily="34" charset="0"/>
                          <a:ea typeface="微软雅黑" panose="020B0503020204020204" pitchFamily="34" charset="-122"/>
                          <a:cs typeface="+mn-cs"/>
                        </a:rPr>
                        <a:t>/</a:t>
                      </a:r>
                      <a:r>
                        <a:rPr lang="zh-CN" altLang="en-US" sz="1200" b="0" i="0" kern="1200" dirty="0">
                          <a:solidFill>
                            <a:srgbClr val="000000"/>
                          </a:solidFill>
                          <a:effectLst/>
                          <a:latin typeface="Arial" panose="020B0604020202020204" pitchFamily="34" charset="0"/>
                          <a:ea typeface="微软雅黑" panose="020B0503020204020204" pitchFamily="34" charset="-122"/>
                          <a:cs typeface="+mn-cs"/>
                        </a:rPr>
                        <a:t>调头等行为：</a:t>
                      </a:r>
                      <a:endParaRPr lang="en-US" altLang="zh-CN" sz="1200" b="0" i="0" kern="1200" dirty="0">
                        <a:solidFill>
                          <a:srgbClr val="000000"/>
                        </a:solidFill>
                        <a:effectLst/>
                        <a:latin typeface="Arial" panose="020B0604020202020204" pitchFamily="34" charset="0"/>
                        <a:ea typeface="微软雅黑" panose="020B0503020204020204" pitchFamily="34" charset="-122"/>
                        <a:cs typeface="+mn-cs"/>
                      </a:endParaRPr>
                    </a:p>
                    <a:p>
                      <a:pPr marL="171450" indent="-171450" algn="l" defTabSz="914400" rtl="0" eaLnBrk="1" fontAlgn="ctr" latinLnBrk="0" hangingPunct="1">
                        <a:lnSpc>
                          <a:spcPts val="1600"/>
                        </a:lnSpc>
                        <a:buFont typeface="微软雅黑" panose="020B0503020204020204" pitchFamily="34" charset="-122"/>
                        <a:buChar char="￭"/>
                      </a:pPr>
                      <a:r>
                        <a:rPr lang="zh-CN" altLang="en-US" sz="1200" b="0" i="0" kern="1200" dirty="0">
                          <a:solidFill>
                            <a:srgbClr val="000000"/>
                          </a:solidFill>
                          <a:effectLst/>
                          <a:latin typeface="+mn-lt"/>
                          <a:ea typeface="+mn-ea"/>
                          <a:cs typeface="+mn-cs"/>
                        </a:rPr>
                        <a:t>若车道有多个通行方向</a:t>
                      </a:r>
                      <a:r>
                        <a:rPr lang="en-US" altLang="zh-CN" sz="1200" b="0" i="0" kern="1200" dirty="0">
                          <a:solidFill>
                            <a:srgbClr val="000000"/>
                          </a:solidFill>
                          <a:effectLst/>
                          <a:latin typeface="+mn-lt"/>
                          <a:ea typeface="+mn-ea"/>
                          <a:cs typeface="+mn-cs"/>
                        </a:rPr>
                        <a:t>,</a:t>
                      </a:r>
                      <a:r>
                        <a:rPr lang="zh-CN" altLang="en-US" sz="1200" b="0" i="0" kern="1200" dirty="0">
                          <a:solidFill>
                            <a:srgbClr val="000000"/>
                          </a:solidFill>
                          <a:effectLst/>
                          <a:latin typeface="+mn-lt"/>
                          <a:ea typeface="+mn-ea"/>
                          <a:cs typeface="+mn-cs"/>
                        </a:rPr>
                        <a:t>车辆越过停止线前，驾驶员可通过</a:t>
                      </a:r>
                      <a:r>
                        <a:rPr lang="en-US" altLang="zh-CN" sz="1200" b="0" i="0" kern="1200" dirty="0">
                          <a:solidFill>
                            <a:srgbClr val="000000"/>
                          </a:solidFill>
                          <a:effectLst/>
                          <a:latin typeface="+mn-lt"/>
                          <a:ea typeface="+mn-ea"/>
                          <a:cs typeface="+mn-cs"/>
                        </a:rPr>
                        <a:t>“</a:t>
                      </a:r>
                      <a:r>
                        <a:rPr lang="zh-CN" altLang="en-US" sz="1200" b="0" i="0" kern="1200" dirty="0">
                          <a:solidFill>
                            <a:srgbClr val="000000"/>
                          </a:solidFill>
                          <a:effectLst/>
                          <a:latin typeface="+mn-lt"/>
                          <a:ea typeface="+mn-ea"/>
                          <a:cs typeface="+mn-cs"/>
                        </a:rPr>
                        <a:t>拨杆</a:t>
                      </a:r>
                      <a:r>
                        <a:rPr lang="en-US" altLang="zh-CN" sz="1200" b="0" i="0" kern="1200" dirty="0">
                          <a:solidFill>
                            <a:srgbClr val="000000"/>
                          </a:solidFill>
                          <a:effectLst/>
                          <a:latin typeface="+mn-lt"/>
                          <a:ea typeface="+mn-ea"/>
                          <a:cs typeface="+mn-cs"/>
                        </a:rPr>
                        <a:t>”</a:t>
                      </a:r>
                      <a:r>
                        <a:rPr lang="zh-CN" altLang="en-US" sz="1200" b="0" i="0" kern="1200" dirty="0">
                          <a:solidFill>
                            <a:srgbClr val="000000"/>
                          </a:solidFill>
                          <a:effectLst/>
                          <a:latin typeface="+mn-lt"/>
                          <a:ea typeface="+mn-ea"/>
                          <a:cs typeface="+mn-cs"/>
                        </a:rPr>
                        <a:t>，选择路口左转</a:t>
                      </a:r>
                      <a:r>
                        <a:rPr lang="en-US" altLang="zh-CN" sz="1200" b="0" i="0" kern="1200" dirty="0">
                          <a:solidFill>
                            <a:srgbClr val="000000"/>
                          </a:solidFill>
                          <a:effectLst/>
                          <a:latin typeface="+mn-lt"/>
                          <a:ea typeface="+mn-ea"/>
                          <a:cs typeface="+mn-cs"/>
                        </a:rPr>
                        <a:t>/</a:t>
                      </a:r>
                      <a:r>
                        <a:rPr lang="zh-CN" altLang="en-US" sz="1200" b="0" i="0" kern="1200" dirty="0">
                          <a:solidFill>
                            <a:srgbClr val="000000"/>
                          </a:solidFill>
                          <a:effectLst/>
                          <a:latin typeface="+mn-lt"/>
                          <a:ea typeface="+mn-ea"/>
                          <a:cs typeface="+mn-cs"/>
                        </a:rPr>
                        <a:t>右转。</a:t>
                      </a:r>
                      <a:r>
                        <a:rPr lang="en-US" altLang="zh-CN" sz="1200" b="0" i="0" kern="1200" dirty="0">
                          <a:solidFill>
                            <a:srgbClr val="000000"/>
                          </a:solidFill>
                          <a:effectLst/>
                          <a:latin typeface="+mn-lt"/>
                          <a:ea typeface="+mn-ea"/>
                          <a:cs typeface="+mn-cs"/>
                        </a:rPr>
                        <a:t>(</a:t>
                      </a:r>
                      <a:r>
                        <a:rPr lang="zh-CN" altLang="en-US" sz="1200" b="0" i="0" kern="1200" dirty="0">
                          <a:solidFill>
                            <a:srgbClr val="000000"/>
                          </a:solidFill>
                          <a:effectLst/>
                          <a:latin typeface="+mn-lt"/>
                          <a:ea typeface="+mn-ea"/>
                          <a:cs typeface="+mn-cs"/>
                        </a:rPr>
                        <a:t>例如：直行兼右转车道，系统默认直行，如果驾驶员右拨杆，自车将右转</a:t>
                      </a:r>
                      <a:r>
                        <a:rPr lang="en-US" altLang="zh-CN" sz="1200" b="0" i="0" kern="1200" dirty="0">
                          <a:solidFill>
                            <a:srgbClr val="000000"/>
                          </a:solidFill>
                          <a:effectLst/>
                          <a:latin typeface="+mn-lt"/>
                          <a:ea typeface="+mn-ea"/>
                          <a:cs typeface="+mn-cs"/>
                        </a:rPr>
                        <a:t>)</a:t>
                      </a:r>
                    </a:p>
                    <a:p>
                      <a:pPr marL="171450" indent="-171450" algn="l" defTabSz="914400" rtl="0" eaLnBrk="1" fontAlgn="ctr" latinLnBrk="0" hangingPunct="1">
                        <a:lnSpc>
                          <a:spcPts val="1600"/>
                        </a:lnSpc>
                        <a:buFont typeface="微软雅黑" panose="020B0503020204020204" pitchFamily="34" charset="-122"/>
                        <a:buChar char="￭"/>
                      </a:pPr>
                      <a:r>
                        <a:rPr lang="zh-CN" altLang="en-US" sz="1200" b="0" i="0" kern="1200" dirty="0">
                          <a:solidFill>
                            <a:srgbClr val="000000"/>
                          </a:solidFill>
                          <a:effectLst/>
                          <a:latin typeface="+mn-lt"/>
                          <a:ea typeface="+mn-ea"/>
                          <a:cs typeface="+mn-cs"/>
                        </a:rPr>
                        <a:t>车辆越过停止线前</a:t>
                      </a:r>
                      <a:r>
                        <a:rPr lang="en-US" altLang="zh-CN" sz="1200" b="0" i="0" kern="1200" dirty="0">
                          <a:solidFill>
                            <a:srgbClr val="000000"/>
                          </a:solidFill>
                          <a:effectLst/>
                          <a:latin typeface="+mn-lt"/>
                          <a:ea typeface="+mn-ea"/>
                          <a:cs typeface="+mn-cs"/>
                        </a:rPr>
                        <a:t>,</a:t>
                      </a:r>
                      <a:r>
                        <a:rPr lang="zh-CN" altLang="en-US" sz="1200" b="0" i="0" kern="1200" dirty="0">
                          <a:solidFill>
                            <a:srgbClr val="000000"/>
                          </a:solidFill>
                          <a:effectLst/>
                          <a:latin typeface="+mn-lt"/>
                          <a:ea typeface="+mn-ea"/>
                          <a:cs typeface="+mn-cs"/>
                        </a:rPr>
                        <a:t>支持驾驶员通过</a:t>
                      </a:r>
                      <a:r>
                        <a:rPr lang="en-US" altLang="zh-CN" sz="1200" b="0" i="0" kern="1200" dirty="0">
                          <a:solidFill>
                            <a:srgbClr val="000000"/>
                          </a:solidFill>
                          <a:effectLst/>
                          <a:latin typeface="+mn-lt"/>
                          <a:ea typeface="+mn-ea"/>
                          <a:cs typeface="+mn-cs"/>
                        </a:rPr>
                        <a:t>"</a:t>
                      </a:r>
                      <a:r>
                        <a:rPr lang="zh-CN" altLang="en-US" sz="1200" b="0" i="0" kern="1200" dirty="0">
                          <a:solidFill>
                            <a:srgbClr val="000000"/>
                          </a:solidFill>
                          <a:effectLst/>
                          <a:latin typeface="+mn-lt"/>
                          <a:ea typeface="+mn-ea"/>
                          <a:cs typeface="+mn-cs"/>
                        </a:rPr>
                        <a:t>取消转向灯</a:t>
                      </a:r>
                      <a:r>
                        <a:rPr lang="en-US" altLang="zh-CN" sz="1200" b="0" i="0" kern="1200" dirty="0">
                          <a:solidFill>
                            <a:srgbClr val="000000"/>
                          </a:solidFill>
                          <a:effectLst/>
                          <a:latin typeface="+mn-lt"/>
                          <a:ea typeface="+mn-ea"/>
                          <a:cs typeface="+mn-cs"/>
                        </a:rPr>
                        <a:t>"</a:t>
                      </a:r>
                      <a:r>
                        <a:rPr lang="zh-CN" altLang="en-US" sz="1200" b="0" i="0" kern="1200" dirty="0">
                          <a:solidFill>
                            <a:srgbClr val="000000"/>
                          </a:solidFill>
                          <a:effectLst/>
                          <a:latin typeface="+mn-lt"/>
                          <a:ea typeface="+mn-ea"/>
                          <a:cs typeface="+mn-cs"/>
                        </a:rPr>
                        <a:t>或</a:t>
                      </a:r>
                      <a:r>
                        <a:rPr lang="en-US" altLang="zh-CN" sz="1200" b="0" i="0" kern="1200" dirty="0">
                          <a:solidFill>
                            <a:srgbClr val="000000"/>
                          </a:solidFill>
                          <a:effectLst/>
                          <a:latin typeface="+mn-lt"/>
                          <a:ea typeface="+mn-ea"/>
                          <a:cs typeface="+mn-cs"/>
                        </a:rPr>
                        <a:t>"</a:t>
                      </a:r>
                      <a:r>
                        <a:rPr lang="zh-CN" altLang="en-US" sz="1200" b="0" i="0" kern="1200" dirty="0">
                          <a:solidFill>
                            <a:srgbClr val="000000"/>
                          </a:solidFill>
                          <a:effectLst/>
                          <a:latin typeface="+mn-lt"/>
                          <a:ea typeface="+mn-ea"/>
                          <a:cs typeface="+mn-cs"/>
                        </a:rPr>
                        <a:t>反向拨杆</a:t>
                      </a:r>
                      <a:r>
                        <a:rPr lang="en-US" altLang="zh-CN" sz="1200" b="0" i="0" kern="1200" dirty="0">
                          <a:solidFill>
                            <a:srgbClr val="000000"/>
                          </a:solidFill>
                          <a:effectLst/>
                          <a:latin typeface="+mn-lt"/>
                          <a:ea typeface="+mn-ea"/>
                          <a:cs typeface="+mn-cs"/>
                        </a:rPr>
                        <a:t>"</a:t>
                      </a:r>
                      <a:r>
                        <a:rPr lang="zh-CN" altLang="en-US" sz="1200" b="0" i="0" kern="1200" dirty="0">
                          <a:solidFill>
                            <a:srgbClr val="000000"/>
                          </a:solidFill>
                          <a:effectLst/>
                          <a:latin typeface="+mn-lt"/>
                          <a:ea typeface="+mn-ea"/>
                          <a:cs typeface="+mn-cs"/>
                        </a:rPr>
                        <a:t>取消或修改路口目标车道选择</a:t>
                      </a:r>
                      <a:endParaRPr lang="en-US" altLang="zh-CN" sz="1200" b="0" i="0" kern="1200" dirty="0">
                        <a:solidFill>
                          <a:srgbClr val="000000"/>
                        </a:solidFill>
                        <a:effectLst/>
                        <a:latin typeface="+mn-lt"/>
                        <a:ea typeface="+mn-ea"/>
                        <a:cs typeface="+mn-cs"/>
                      </a:endParaRPr>
                    </a:p>
                    <a:p>
                      <a:pPr marL="171450" indent="-171450" algn="l" defTabSz="914400" rtl="0" eaLnBrk="1" fontAlgn="ctr" latinLnBrk="0" hangingPunct="1">
                        <a:lnSpc>
                          <a:spcPts val="1600"/>
                        </a:lnSpc>
                        <a:buFont typeface="微软雅黑" panose="020B0503020204020204" pitchFamily="34" charset="-122"/>
                        <a:buChar char="￭"/>
                      </a:pPr>
                      <a:r>
                        <a:rPr lang="zh-CN" altLang="en-US" sz="1200" b="0" i="0" kern="1200" dirty="0">
                          <a:solidFill>
                            <a:srgbClr val="000000"/>
                          </a:solidFill>
                          <a:effectLst/>
                          <a:latin typeface="+mn-lt"/>
                          <a:ea typeface="+mn-ea"/>
                          <a:cs typeface="+mn-cs"/>
                        </a:rPr>
                        <a:t>如果驾驶员指令与车道通行方向冲突</a:t>
                      </a:r>
                      <a:r>
                        <a:rPr lang="en-US" altLang="zh-CN" sz="1200" b="0" i="0" kern="1200" dirty="0">
                          <a:solidFill>
                            <a:srgbClr val="000000"/>
                          </a:solidFill>
                          <a:effectLst/>
                          <a:latin typeface="+mn-lt"/>
                          <a:ea typeface="+mn-ea"/>
                          <a:cs typeface="+mn-cs"/>
                        </a:rPr>
                        <a:t>,</a:t>
                      </a:r>
                      <a:r>
                        <a:rPr lang="zh-CN" altLang="en-US" sz="1200" b="0" i="0" kern="1200" dirty="0">
                          <a:solidFill>
                            <a:srgbClr val="000000"/>
                          </a:solidFill>
                          <a:effectLst/>
                          <a:latin typeface="+mn-lt"/>
                          <a:ea typeface="+mn-ea"/>
                          <a:cs typeface="+mn-cs"/>
                        </a:rPr>
                        <a:t>则</a:t>
                      </a:r>
                      <a:r>
                        <a:rPr lang="en-US" altLang="zh-CN" sz="1200" b="0" i="0" kern="1200" dirty="0">
                          <a:solidFill>
                            <a:srgbClr val="000000"/>
                          </a:solidFill>
                          <a:effectLst/>
                          <a:latin typeface="+mn-lt"/>
                          <a:ea typeface="+mn-ea"/>
                          <a:cs typeface="+mn-cs"/>
                        </a:rPr>
                        <a:t>HMI</a:t>
                      </a:r>
                      <a:r>
                        <a:rPr lang="zh-CN" altLang="en-US" sz="1200" b="0" i="0" kern="1200" dirty="0">
                          <a:solidFill>
                            <a:srgbClr val="000000"/>
                          </a:solidFill>
                          <a:effectLst/>
                          <a:latin typeface="+mn-lt"/>
                          <a:ea typeface="+mn-ea"/>
                          <a:cs typeface="+mn-cs"/>
                        </a:rPr>
                        <a:t>提示</a:t>
                      </a:r>
                      <a:r>
                        <a:rPr lang="en-US" altLang="zh-CN" sz="1200" b="0" i="0" kern="1200" dirty="0">
                          <a:solidFill>
                            <a:srgbClr val="000000"/>
                          </a:solidFill>
                          <a:effectLst/>
                          <a:latin typeface="+mn-lt"/>
                          <a:ea typeface="+mn-ea"/>
                          <a:cs typeface="+mn-cs"/>
                        </a:rPr>
                        <a:t>“XXXX</a:t>
                      </a:r>
                      <a:r>
                        <a:rPr lang="zh-CN" altLang="en-US" sz="1200" b="0" i="0" kern="1200" dirty="0">
                          <a:solidFill>
                            <a:srgbClr val="000000"/>
                          </a:solidFill>
                          <a:effectLst/>
                          <a:latin typeface="+mn-lt"/>
                          <a:ea typeface="+mn-ea"/>
                          <a:cs typeface="+mn-cs"/>
                        </a:rPr>
                        <a:t>失败</a:t>
                      </a:r>
                      <a:r>
                        <a:rPr lang="en-US" altLang="zh-CN" sz="1200" b="0" i="0" kern="1200" dirty="0">
                          <a:solidFill>
                            <a:srgbClr val="000000"/>
                          </a:solidFill>
                          <a:effectLst/>
                          <a:latin typeface="+mn-lt"/>
                          <a:ea typeface="+mn-ea"/>
                          <a:cs typeface="+mn-cs"/>
                        </a:rPr>
                        <a:t>”</a:t>
                      </a:r>
                      <a:r>
                        <a:rPr lang="zh-CN" altLang="en-US" sz="1200" b="0" i="0" kern="1200" dirty="0">
                          <a:solidFill>
                            <a:srgbClr val="000000"/>
                          </a:solidFill>
                          <a:effectLst/>
                          <a:latin typeface="+mn-lt"/>
                          <a:ea typeface="+mn-ea"/>
                          <a:cs typeface="+mn-cs"/>
                        </a:rPr>
                        <a:t>，系统按车道通行方向行驶</a:t>
                      </a:r>
                      <a:endParaRPr lang="en-US" altLang="zh-CN" sz="1200" b="0" i="0" kern="1200" dirty="0">
                        <a:solidFill>
                          <a:srgbClr val="000000"/>
                        </a:solidFill>
                        <a:effectLst/>
                        <a:latin typeface="+mn-lt"/>
                        <a:ea typeface="+mn-ea"/>
                        <a:cs typeface="+mn-cs"/>
                      </a:endParaRPr>
                    </a:p>
                    <a:p>
                      <a:pPr marL="171450" indent="-171450" algn="l" defTabSz="914400" rtl="0" eaLnBrk="1" fontAlgn="ctr" latinLnBrk="0" hangingPunct="1">
                        <a:lnSpc>
                          <a:spcPts val="1600"/>
                        </a:lnSpc>
                        <a:buFont typeface="微软雅黑" panose="020B0503020204020204" pitchFamily="34" charset="-122"/>
                        <a:buChar char="￭"/>
                      </a:pPr>
                      <a:r>
                        <a:rPr lang="zh-CN" altLang="en-US" sz="1200" b="0" i="0" kern="1200" dirty="0">
                          <a:solidFill>
                            <a:srgbClr val="000000"/>
                          </a:solidFill>
                          <a:effectLst/>
                          <a:latin typeface="+mn-lt"/>
                          <a:ea typeface="+mn-ea"/>
                          <a:cs typeface="+mn-cs"/>
                        </a:rPr>
                        <a:t>如已驶入某方向车道</a:t>
                      </a:r>
                      <a:r>
                        <a:rPr lang="en-US" altLang="zh-CN" sz="1200" b="0" i="0" kern="1200" dirty="0">
                          <a:solidFill>
                            <a:srgbClr val="000000"/>
                          </a:solidFill>
                          <a:effectLst/>
                          <a:latin typeface="+mn-lt"/>
                          <a:ea typeface="+mn-ea"/>
                          <a:cs typeface="+mn-cs"/>
                        </a:rPr>
                        <a:t>(</a:t>
                      </a:r>
                      <a:r>
                        <a:rPr lang="zh-CN" altLang="en-US" sz="1200" b="0" i="0" kern="1200" dirty="0">
                          <a:solidFill>
                            <a:srgbClr val="000000"/>
                          </a:solidFill>
                          <a:effectLst/>
                          <a:latin typeface="+mn-lt"/>
                          <a:ea typeface="+mn-ea"/>
                          <a:cs typeface="+mn-cs"/>
                        </a:rPr>
                        <a:t>例如因变道避让驶入右转车道</a:t>
                      </a:r>
                      <a:r>
                        <a:rPr lang="en-US" altLang="zh-CN" sz="1200" b="0" i="0" kern="1200" dirty="0">
                          <a:solidFill>
                            <a:srgbClr val="000000"/>
                          </a:solidFill>
                          <a:effectLst/>
                          <a:latin typeface="+mn-lt"/>
                          <a:ea typeface="+mn-ea"/>
                          <a:cs typeface="+mn-cs"/>
                        </a:rPr>
                        <a:t>)</a:t>
                      </a:r>
                      <a:r>
                        <a:rPr lang="zh-CN" altLang="en-US" sz="1200" b="0" i="0" kern="1200" dirty="0">
                          <a:solidFill>
                            <a:srgbClr val="000000"/>
                          </a:solidFill>
                          <a:effectLst/>
                          <a:latin typeface="+mn-lt"/>
                          <a:ea typeface="+mn-ea"/>
                          <a:cs typeface="+mn-cs"/>
                        </a:rPr>
                        <a:t>，需按所在车道通行方向行驶</a:t>
                      </a:r>
                      <a:endParaRPr lang="en-US" altLang="zh-CN" sz="1200" b="0" i="0" kern="1200" dirty="0">
                        <a:solidFill>
                          <a:srgbClr val="000000"/>
                        </a:solidFill>
                        <a:effectLst/>
                        <a:latin typeface="+mn-lt"/>
                        <a:ea typeface="+mn-ea"/>
                        <a:cs typeface="+mn-cs"/>
                      </a:endParaRPr>
                    </a:p>
                  </a:txBody>
                  <a:tcPr marL="72000" marR="7200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latinLnBrk="0">
                        <a:lnSpc>
                          <a:spcPts val="1600"/>
                        </a:lnSpc>
                        <a:buNone/>
                      </a:pPr>
                      <a:r>
                        <a:rPr lang="zh-CN" altLang="en-US" sz="1200" b="0" i="0" dirty="0">
                          <a:solidFill>
                            <a:srgbClr val="000000"/>
                          </a:solidFill>
                          <a:effectLst/>
                          <a:latin typeface="Arial" panose="020B0604020202020204" pitchFamily="34" charset="0"/>
                          <a:ea typeface="微软雅黑" panose="020B0503020204020204" pitchFamily="34" charset="-122"/>
                          <a:sym typeface="Arial" panose="020B0604020202020204" pitchFamily="34" charset="0"/>
                        </a:rPr>
                        <a:t>城区</a:t>
                      </a:r>
                    </a:p>
                  </a:txBody>
                  <a:tcPr marL="108000" marR="10800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latinLnBrk="0">
                        <a:lnSpc>
                          <a:spcPts val="1600"/>
                        </a:lnSpc>
                        <a:buNone/>
                      </a:pPr>
                      <a:r>
                        <a:rPr lang="zh-CN" altLang="en-US" sz="1200" b="0" i="0" dirty="0">
                          <a:solidFill>
                            <a:srgbClr val="000000"/>
                          </a:solidFill>
                          <a:effectLst/>
                          <a:latin typeface="Arial" panose="020B0604020202020204" pitchFamily="34" charset="0"/>
                          <a:ea typeface="微软雅黑" panose="020B0503020204020204" pitchFamily="34" charset="-122"/>
                          <a:sym typeface="Arial" panose="020B0604020202020204" pitchFamily="34" charset="0"/>
                        </a:rPr>
                        <a:t>漫游</a:t>
                      </a:r>
                    </a:p>
                  </a:txBody>
                  <a:tcPr marL="108000" marR="10800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latinLnBrk="0">
                        <a:lnSpc>
                          <a:spcPts val="1600"/>
                        </a:lnSpc>
                        <a:buNone/>
                      </a:pPr>
                      <a:r>
                        <a:rPr lang="en-US" sz="1200" b="0" i="0" dirty="0">
                          <a:effectLst/>
                          <a:latin typeface="Arial" panose="020B0604020202020204" pitchFamily="34" charset="0"/>
                          <a:ea typeface="微软雅黑" panose="020B0503020204020204" pitchFamily="34" charset="-122"/>
                          <a:sym typeface="Arial" panose="020B0604020202020204" pitchFamily="34" charset="0"/>
                        </a:rPr>
                        <a:t>OTA(1130)</a:t>
                      </a:r>
                    </a:p>
                  </a:txBody>
                  <a:tcPr marL="108000" marR="10800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121330500"/>
                  </a:ext>
                </a:extLst>
              </a:tr>
              <a:tr h="314900">
                <a:tc vMerge="1">
                  <a:txBody>
                    <a:bodyPr/>
                    <a:lstStyle/>
                    <a:p>
                      <a:endParaRPr lang="zh-CN" altLang="en-US"/>
                    </a:p>
                  </a:txBody>
                  <a:tcPr/>
                </a:tc>
                <a:tc>
                  <a:txBody>
                    <a:bodyPr/>
                    <a:lstStyle/>
                    <a:p>
                      <a:pPr algn="ctr" fontAlgn="ctr" latinLnBrk="0">
                        <a:lnSpc>
                          <a:spcPts val="1600"/>
                        </a:lnSpc>
                        <a:buNone/>
                      </a:pPr>
                      <a:r>
                        <a:rPr lang="zh-CN" altLang="en-US" sz="1200" b="0" i="0" dirty="0">
                          <a:solidFill>
                            <a:srgbClr val="000000"/>
                          </a:solidFill>
                          <a:effectLst/>
                          <a:latin typeface="Arial" panose="020B0604020202020204" pitchFamily="34" charset="0"/>
                          <a:ea typeface="微软雅黑" panose="020B0503020204020204" pitchFamily="34" charset="-122"/>
                          <a:sym typeface="Arial" panose="020B0604020202020204" pitchFamily="34" charset="0"/>
                        </a:rPr>
                        <a:t>园区漫游</a:t>
                      </a:r>
                    </a:p>
                  </a:txBody>
                  <a:tcPr marL="108000" marR="10800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171450" indent="-171450" fontAlgn="ctr" latinLnBrk="0">
                        <a:lnSpc>
                          <a:spcPts val="1600"/>
                        </a:lnSpc>
                        <a:buFont typeface="微软雅黑" panose="020B0503020204020204" pitchFamily="34" charset="-122"/>
                        <a:buChar char="￭"/>
                      </a:pPr>
                      <a:r>
                        <a:rPr lang="zh-CN" altLang="en-US" sz="1200" b="0" i="0" dirty="0">
                          <a:solidFill>
                            <a:srgbClr val="000000"/>
                          </a:solidFill>
                          <a:effectLst/>
                          <a:latin typeface="Arial" panose="020B0604020202020204" pitchFamily="34" charset="0"/>
                          <a:ea typeface="微软雅黑" panose="020B0503020204020204" pitchFamily="34" charset="-122"/>
                          <a:sym typeface="Arial" panose="020B0604020202020204" pitchFamily="34" charset="0"/>
                        </a:rPr>
                        <a:t>园区内漫游</a:t>
                      </a:r>
                    </a:p>
                  </a:txBody>
                  <a:tcPr marL="108000" marR="10800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latinLnBrk="0">
                        <a:lnSpc>
                          <a:spcPts val="1600"/>
                        </a:lnSpc>
                        <a:buNone/>
                      </a:pPr>
                      <a:r>
                        <a:rPr lang="zh-CN" altLang="en-US" sz="1200" b="0" i="0">
                          <a:solidFill>
                            <a:srgbClr val="000000"/>
                          </a:solidFill>
                          <a:effectLst/>
                          <a:latin typeface="Arial" panose="020B0604020202020204" pitchFamily="34" charset="0"/>
                          <a:ea typeface="微软雅黑" panose="020B0503020204020204" pitchFamily="34" charset="-122"/>
                          <a:sym typeface="Arial" panose="020B0604020202020204" pitchFamily="34" charset="0"/>
                        </a:rPr>
                        <a:t>城区</a:t>
                      </a:r>
                    </a:p>
                  </a:txBody>
                  <a:tcPr marL="108000" marR="10800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latinLnBrk="0">
                        <a:lnSpc>
                          <a:spcPts val="1600"/>
                        </a:lnSpc>
                        <a:buNone/>
                      </a:pPr>
                      <a:r>
                        <a:rPr lang="zh-CN" altLang="en-US" sz="1200" b="0" i="0" dirty="0">
                          <a:solidFill>
                            <a:srgbClr val="000000"/>
                          </a:solidFill>
                          <a:effectLst/>
                          <a:latin typeface="Arial" panose="020B0604020202020204" pitchFamily="34" charset="0"/>
                          <a:ea typeface="微软雅黑" panose="020B0503020204020204" pitchFamily="34" charset="-122"/>
                          <a:sym typeface="Arial" panose="020B0604020202020204" pitchFamily="34" charset="0"/>
                        </a:rPr>
                        <a:t>漫游</a:t>
                      </a:r>
                    </a:p>
                  </a:txBody>
                  <a:tcPr marL="108000" marR="10800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latinLnBrk="0">
                        <a:lnSpc>
                          <a:spcPts val="1600"/>
                        </a:lnSpc>
                        <a:buNone/>
                      </a:pPr>
                      <a:r>
                        <a:rPr lang="en-US" sz="1200" b="0" i="0" dirty="0">
                          <a:effectLst/>
                          <a:latin typeface="Arial" panose="020B0604020202020204" pitchFamily="34" charset="0"/>
                          <a:ea typeface="微软雅黑" panose="020B0503020204020204" pitchFamily="34" charset="-122"/>
                          <a:sym typeface="Arial" panose="020B0604020202020204" pitchFamily="34" charset="0"/>
                        </a:rPr>
                        <a:t>SOP(530)</a:t>
                      </a:r>
                    </a:p>
                  </a:txBody>
                  <a:tcPr marL="108000" marR="10800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686904412"/>
                  </a:ext>
                </a:extLst>
              </a:tr>
            </a:tbl>
          </a:graphicData>
        </a:graphic>
      </p:graphicFrame>
    </p:spTree>
    <p:extLst>
      <p:ext uri="{BB962C8B-B14F-4D97-AF65-F5344CB8AC3E}">
        <p14:creationId xmlns:p14="http://schemas.microsoft.com/office/powerpoint/2010/main" val="233566638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7D6397-0826-C2A6-7462-19124B2B3FF3}"/>
            </a:ext>
          </a:extLst>
        </p:cNvPr>
        <p:cNvGrpSpPr/>
        <p:nvPr/>
      </p:nvGrpSpPr>
      <p:grpSpPr>
        <a:xfrm>
          <a:off x="0" y="0"/>
          <a:ext cx="0" cy="0"/>
          <a:chOff x="0" y="0"/>
          <a:chExt cx="0" cy="0"/>
        </a:xfrm>
      </p:grpSpPr>
      <p:sp>
        <p:nvSpPr>
          <p:cNvPr id="2" name="日期占位符 1">
            <a:extLst>
              <a:ext uri="{FF2B5EF4-FFF2-40B4-BE49-F238E27FC236}">
                <a16:creationId xmlns:a16="http://schemas.microsoft.com/office/drawing/2014/main" id="{0B27E90F-A33E-184B-D3A5-410093D5DDCC}"/>
              </a:ext>
            </a:extLst>
          </p:cNvPr>
          <p:cNvSpPr>
            <a:spLocks noGrp="1"/>
          </p:cNvSpPr>
          <p:nvPr>
            <p:ph type="dt" sz="half" idx="10"/>
          </p:nvPr>
        </p:nvSpPr>
        <p:spPr/>
        <p:txBody>
          <a:bodyPr/>
          <a:lstStyle/>
          <a:p>
            <a:fld id="{0B4571A7-0608-4CA0-91C4-DD76FEAC2393}" type="datetime1">
              <a:rPr lang="zh-CN" altLang="en-US" smtClean="0">
                <a:latin typeface="Arial" panose="020B0604020202020204" pitchFamily="34" charset="0"/>
                <a:ea typeface="微软雅黑" panose="020B0503020204020204" pitchFamily="34" charset="-122"/>
                <a:sym typeface="Arial" panose="020B0604020202020204" pitchFamily="34" charset="0"/>
              </a:rPr>
              <a:t>2026/2/10</a:t>
            </a:fld>
            <a:endParaRPr lang="en-US" altLang="en-US" dirty="0">
              <a:latin typeface="Arial" panose="020B0604020202020204" pitchFamily="34" charset="0"/>
              <a:ea typeface="微软雅黑" panose="020B0503020204020204" pitchFamily="34" charset="-122"/>
              <a:sym typeface="Arial" panose="020B0604020202020204" pitchFamily="34" charset="0"/>
            </a:endParaRPr>
          </a:p>
        </p:txBody>
      </p:sp>
      <p:sp>
        <p:nvSpPr>
          <p:cNvPr id="3" name="页脚占位符 2">
            <a:extLst>
              <a:ext uri="{FF2B5EF4-FFF2-40B4-BE49-F238E27FC236}">
                <a16:creationId xmlns:a16="http://schemas.microsoft.com/office/drawing/2014/main" id="{74DAFE82-1ACF-46A0-EE9A-D49F37829794}"/>
              </a:ext>
            </a:extLst>
          </p:cNvPr>
          <p:cNvSpPr>
            <a:spLocks noGrp="1"/>
          </p:cNvSpPr>
          <p:nvPr>
            <p:ph type="ftr" sz="quarter" idx="11"/>
          </p:nvPr>
        </p:nvSpPr>
        <p:spPr/>
        <p:txBody>
          <a:bodyPr/>
          <a:lstStyle/>
          <a:p>
            <a:r>
              <a:rPr lang="en-US" altLang="en-US" dirty="0">
                <a:latin typeface="Arial" panose="020B0604020202020204" pitchFamily="34" charset="0"/>
                <a:ea typeface="微软雅黑" panose="020B0503020204020204" pitchFamily="34" charset="-122"/>
                <a:sym typeface="Arial" panose="020B0604020202020204" pitchFamily="34" charset="0"/>
              </a:rPr>
              <a:t>Horizon Continental Technology Shanghai Co.， Ltd -  Confidential Information Under NDA</a:t>
            </a:r>
          </a:p>
        </p:txBody>
      </p:sp>
      <p:sp>
        <p:nvSpPr>
          <p:cNvPr id="4" name="灯片编号占位符 3">
            <a:extLst>
              <a:ext uri="{FF2B5EF4-FFF2-40B4-BE49-F238E27FC236}">
                <a16:creationId xmlns:a16="http://schemas.microsoft.com/office/drawing/2014/main" id="{BF439272-1409-89E0-B934-D7A395930F33}"/>
              </a:ext>
            </a:extLst>
          </p:cNvPr>
          <p:cNvSpPr>
            <a:spLocks noGrp="1"/>
          </p:cNvSpPr>
          <p:nvPr>
            <p:ph type="sldNum" sz="quarter" idx="12"/>
          </p:nvPr>
        </p:nvSpPr>
        <p:spPr/>
        <p:txBody>
          <a:bodyPr/>
          <a:lstStyle/>
          <a:p>
            <a:fld id="{9CC13275-6251-4C40-AFE1-85D85DA07171}" type="slidenum">
              <a:rPr lang="en-US" altLang="en-US" smtClean="0">
                <a:latin typeface="Arial" panose="020B0604020202020204" pitchFamily="34" charset="0"/>
                <a:ea typeface="微软雅黑" panose="020B0503020204020204" pitchFamily="34" charset="-122"/>
                <a:sym typeface="Arial" panose="020B0604020202020204" pitchFamily="34" charset="0"/>
              </a:rPr>
              <a:t>5</a:t>
            </a:fld>
            <a:endParaRPr lang="en-US" altLang="en-US" dirty="0">
              <a:latin typeface="Arial" panose="020B0604020202020204" pitchFamily="34" charset="0"/>
              <a:ea typeface="微软雅黑" panose="020B0503020204020204" pitchFamily="34" charset="-122"/>
              <a:sym typeface="Arial" panose="020B0604020202020204" pitchFamily="34" charset="0"/>
            </a:endParaRPr>
          </a:p>
        </p:txBody>
      </p:sp>
      <p:sp>
        <p:nvSpPr>
          <p:cNvPr id="5" name="文本框 4">
            <a:extLst>
              <a:ext uri="{FF2B5EF4-FFF2-40B4-BE49-F238E27FC236}">
                <a16:creationId xmlns:a16="http://schemas.microsoft.com/office/drawing/2014/main" id="{4249643C-FA70-C8AA-5217-FCAC583E2323}"/>
              </a:ext>
            </a:extLst>
          </p:cNvPr>
          <p:cNvSpPr txBox="1"/>
          <p:nvPr/>
        </p:nvSpPr>
        <p:spPr>
          <a:xfrm>
            <a:off x="777240" y="488315"/>
            <a:ext cx="10637520" cy="491490"/>
          </a:xfrm>
          <a:prstGeom prst="rect">
            <a:avLst/>
          </a:prstGeom>
          <a:noFill/>
        </p:spPr>
        <p:txBody>
          <a:bodyPr wrap="square">
            <a:spAutoFit/>
          </a:bodyPr>
          <a:lstStyle>
            <a:defPPr>
              <a:defRPr lang="en-US"/>
            </a:defPPr>
            <a:lvl1pPr algn="ctr">
              <a:defRPr sz="2600" b="0" spc="300">
                <a:solidFill>
                  <a:srgbClr val="001432"/>
                </a:solidFill>
                <a:latin typeface="+mj-ea"/>
                <a:ea typeface="+mj-ea"/>
              </a:defRPr>
            </a:lvl1pPr>
          </a:lstStyle>
          <a:p>
            <a:pPr lvl="0" defTabSz="914400">
              <a:defRPr/>
            </a:pPr>
            <a:r>
              <a:rPr lang="en-US" altLang="zh-CN" dirty="0">
                <a:solidFill>
                  <a:srgbClr val="131319"/>
                </a:solidFill>
                <a:latin typeface="Arial" panose="020B0604020202020204" pitchFamily="34" charset="0"/>
                <a:ea typeface="微软雅黑" panose="020B0503020204020204" pitchFamily="34" charset="-122"/>
                <a:sym typeface="Arial" panose="020B0604020202020204" pitchFamily="34" charset="0"/>
              </a:rPr>
              <a:t>Astra</a:t>
            </a:r>
            <a:r>
              <a:rPr lang="zh-CN" altLang="en-US" dirty="0">
                <a:solidFill>
                  <a:srgbClr val="131319"/>
                </a:solidFill>
                <a:latin typeface="Arial" panose="020B0604020202020204" pitchFamily="34" charset="0"/>
                <a:ea typeface="微软雅黑" panose="020B0503020204020204" pitchFamily="34" charset="-122"/>
                <a:sym typeface="Arial" panose="020B0604020202020204" pitchFamily="34" charset="0"/>
              </a:rPr>
              <a:t>行车功能列表</a:t>
            </a:r>
            <a:endParaRPr lang="zh-CN" altLang="en-US" sz="4000" dirty="0">
              <a:solidFill>
                <a:srgbClr val="131319"/>
              </a:solidFill>
              <a:latin typeface="Arial" panose="020B0604020202020204" pitchFamily="34" charset="0"/>
              <a:ea typeface="微软雅黑" panose="020B0503020204020204" pitchFamily="34" charset="-122"/>
              <a:sym typeface="Arial" panose="020B0604020202020204" pitchFamily="34" charset="0"/>
            </a:endParaRPr>
          </a:p>
        </p:txBody>
      </p:sp>
      <p:graphicFrame>
        <p:nvGraphicFramePr>
          <p:cNvPr id="7" name="表格 6">
            <a:extLst>
              <a:ext uri="{FF2B5EF4-FFF2-40B4-BE49-F238E27FC236}">
                <a16:creationId xmlns:a16="http://schemas.microsoft.com/office/drawing/2014/main" id="{6D7F6B8F-F5D5-1BF3-5A99-E707250FCF60}"/>
              </a:ext>
            </a:extLst>
          </p:cNvPr>
          <p:cNvGraphicFramePr>
            <a:graphicFrameLocks noGrp="1"/>
          </p:cNvGraphicFramePr>
          <p:nvPr>
            <p:extLst>
              <p:ext uri="{D42A27DB-BD31-4B8C-83A1-F6EECF244321}">
                <p14:modId xmlns:p14="http://schemas.microsoft.com/office/powerpoint/2010/main" val="3092252141"/>
              </p:ext>
            </p:extLst>
          </p:nvPr>
        </p:nvGraphicFramePr>
        <p:xfrm>
          <a:off x="217200" y="1020445"/>
          <a:ext cx="11757599" cy="5349242"/>
        </p:xfrm>
        <a:graphic>
          <a:graphicData uri="http://schemas.openxmlformats.org/drawingml/2006/table">
            <a:tbl>
              <a:tblPr/>
              <a:tblGrid>
                <a:gridCol w="1294497">
                  <a:extLst>
                    <a:ext uri="{9D8B030D-6E8A-4147-A177-3AD203B41FA5}">
                      <a16:colId xmlns:a16="http://schemas.microsoft.com/office/drawing/2014/main" val="753555554"/>
                    </a:ext>
                  </a:extLst>
                </a:gridCol>
                <a:gridCol w="1492847">
                  <a:extLst>
                    <a:ext uri="{9D8B030D-6E8A-4147-A177-3AD203B41FA5}">
                      <a16:colId xmlns:a16="http://schemas.microsoft.com/office/drawing/2014/main" val="3663784263"/>
                    </a:ext>
                  </a:extLst>
                </a:gridCol>
                <a:gridCol w="5602131">
                  <a:extLst>
                    <a:ext uri="{9D8B030D-6E8A-4147-A177-3AD203B41FA5}">
                      <a16:colId xmlns:a16="http://schemas.microsoft.com/office/drawing/2014/main" val="2991448286"/>
                    </a:ext>
                  </a:extLst>
                </a:gridCol>
                <a:gridCol w="1122708">
                  <a:extLst>
                    <a:ext uri="{9D8B030D-6E8A-4147-A177-3AD203B41FA5}">
                      <a16:colId xmlns:a16="http://schemas.microsoft.com/office/drawing/2014/main" val="577342126"/>
                    </a:ext>
                  </a:extLst>
                </a:gridCol>
                <a:gridCol w="1122708">
                  <a:extLst>
                    <a:ext uri="{9D8B030D-6E8A-4147-A177-3AD203B41FA5}">
                      <a16:colId xmlns:a16="http://schemas.microsoft.com/office/drawing/2014/main" val="1391232952"/>
                    </a:ext>
                  </a:extLst>
                </a:gridCol>
                <a:gridCol w="1122708">
                  <a:extLst>
                    <a:ext uri="{9D8B030D-6E8A-4147-A177-3AD203B41FA5}">
                      <a16:colId xmlns:a16="http://schemas.microsoft.com/office/drawing/2014/main" val="2161060958"/>
                    </a:ext>
                  </a:extLst>
                </a:gridCol>
              </a:tblGrid>
              <a:tr h="246537">
                <a:tc>
                  <a:txBody>
                    <a:bodyPr/>
                    <a:lstStyle/>
                    <a:p>
                      <a:pPr algn="ctr" fontAlgn="ctr" latinLnBrk="0">
                        <a:lnSpc>
                          <a:spcPts val="1600"/>
                        </a:lnSpc>
                        <a:buNone/>
                      </a:pPr>
                      <a:r>
                        <a:rPr lang="zh-CN" altLang="en-US" sz="1200" b="1" i="0" dirty="0">
                          <a:solidFill>
                            <a:schemeClr val="bg1"/>
                          </a:solidFill>
                          <a:effectLst/>
                          <a:latin typeface="Arial" panose="020B0604020202020204" pitchFamily="34" charset="0"/>
                          <a:ea typeface="微软雅黑" panose="020B0503020204020204" pitchFamily="34" charset="-122"/>
                          <a:sym typeface="Arial" panose="020B0604020202020204" pitchFamily="34" charset="0"/>
                        </a:rPr>
                        <a:t>一级功能</a:t>
                      </a:r>
                    </a:p>
                  </a:txBody>
                  <a:tcPr marL="8859" marR="8859" marT="4430" marB="443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fontAlgn="ctr" latinLnBrk="0">
                        <a:lnSpc>
                          <a:spcPts val="1600"/>
                        </a:lnSpc>
                        <a:buNone/>
                      </a:pPr>
                      <a:r>
                        <a:rPr lang="zh-CN" altLang="en-US" sz="1200" b="1" i="0">
                          <a:solidFill>
                            <a:schemeClr val="bg1"/>
                          </a:solidFill>
                          <a:effectLst/>
                          <a:latin typeface="Arial" panose="020B0604020202020204" pitchFamily="34" charset="0"/>
                          <a:ea typeface="微软雅黑" panose="020B0503020204020204" pitchFamily="34" charset="-122"/>
                          <a:sym typeface="Arial" panose="020B0604020202020204" pitchFamily="34" charset="0"/>
                        </a:rPr>
                        <a:t>二级功能</a:t>
                      </a:r>
                    </a:p>
                  </a:txBody>
                  <a:tcPr marL="8859" marR="8859" marT="4430" marB="443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fontAlgn="ctr" latinLnBrk="0">
                        <a:lnSpc>
                          <a:spcPts val="1600"/>
                        </a:lnSpc>
                        <a:buNone/>
                      </a:pPr>
                      <a:r>
                        <a:rPr lang="zh-CN" altLang="en-US" sz="1200" b="1" i="0" dirty="0">
                          <a:solidFill>
                            <a:schemeClr val="bg1"/>
                          </a:solidFill>
                          <a:effectLst/>
                          <a:latin typeface="Arial" panose="020B0604020202020204" pitchFamily="34" charset="0"/>
                          <a:ea typeface="微软雅黑" panose="020B0503020204020204" pitchFamily="34" charset="-122"/>
                          <a:sym typeface="Arial" panose="020B0604020202020204" pitchFamily="34" charset="0"/>
                        </a:rPr>
                        <a:t>描述</a:t>
                      </a:r>
                    </a:p>
                  </a:txBody>
                  <a:tcPr marL="8859" marR="8859" marT="4430" marB="443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fontAlgn="ctr" latinLnBrk="0">
                        <a:lnSpc>
                          <a:spcPts val="1600"/>
                        </a:lnSpc>
                        <a:buNone/>
                      </a:pPr>
                      <a:r>
                        <a:rPr lang="zh-CN" altLang="en-US" sz="1200" b="1" i="0" dirty="0">
                          <a:solidFill>
                            <a:schemeClr val="bg1"/>
                          </a:solidFill>
                          <a:effectLst/>
                          <a:latin typeface="Arial" panose="020B0604020202020204" pitchFamily="34" charset="0"/>
                          <a:ea typeface="微软雅黑" panose="020B0503020204020204" pitchFamily="34" charset="-122"/>
                          <a:sym typeface="Arial" panose="020B0604020202020204" pitchFamily="34" charset="0"/>
                        </a:rPr>
                        <a:t>场景</a:t>
                      </a:r>
                    </a:p>
                  </a:txBody>
                  <a:tcPr marL="8859" marR="8859" marT="4430" marB="443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fontAlgn="ctr" latinLnBrk="0">
                        <a:lnSpc>
                          <a:spcPts val="1600"/>
                        </a:lnSpc>
                        <a:buNone/>
                      </a:pPr>
                      <a:r>
                        <a:rPr lang="zh-CN" altLang="en-US" sz="1200" b="1" i="0" dirty="0">
                          <a:solidFill>
                            <a:schemeClr val="bg1"/>
                          </a:solidFill>
                          <a:effectLst/>
                          <a:latin typeface="Arial" panose="020B0604020202020204" pitchFamily="34" charset="0"/>
                          <a:ea typeface="微软雅黑" panose="020B0503020204020204" pitchFamily="34" charset="-122"/>
                          <a:sym typeface="Arial" panose="020B0604020202020204" pitchFamily="34" charset="0"/>
                        </a:rPr>
                        <a:t>功能</a:t>
                      </a:r>
                    </a:p>
                  </a:txBody>
                  <a:tcPr marL="8859" marR="8859" marT="4430" marB="443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fontAlgn="ctr" latinLnBrk="0">
                        <a:lnSpc>
                          <a:spcPts val="1600"/>
                        </a:lnSpc>
                        <a:buNone/>
                      </a:pPr>
                      <a:r>
                        <a:rPr lang="zh-CN" altLang="en-US" sz="1200" b="1" i="0" dirty="0">
                          <a:solidFill>
                            <a:schemeClr val="bg1"/>
                          </a:solidFill>
                          <a:effectLst/>
                          <a:latin typeface="Arial" panose="020B0604020202020204" pitchFamily="34" charset="0"/>
                          <a:ea typeface="微软雅黑" panose="020B0503020204020204" pitchFamily="34" charset="-122"/>
                          <a:sym typeface="Arial" panose="020B0604020202020204" pitchFamily="34" charset="0"/>
                        </a:rPr>
                        <a:t>上线计划</a:t>
                      </a:r>
                    </a:p>
                  </a:txBody>
                  <a:tcPr marL="8859" marR="8859" marT="4430" marB="443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extLst>
                  <a:ext uri="{0D108BD9-81ED-4DB2-BD59-A6C34878D82A}">
                    <a16:rowId xmlns:a16="http://schemas.microsoft.com/office/drawing/2014/main" val="1774747084"/>
                  </a:ext>
                </a:extLst>
              </a:tr>
              <a:tr h="531532">
                <a:tc rowSpan="6">
                  <a:txBody>
                    <a:bodyPr/>
                    <a:lstStyle/>
                    <a:p>
                      <a:pPr algn="ctr" fontAlgn="ctr" latinLnBrk="0">
                        <a:buNone/>
                      </a:pPr>
                      <a:r>
                        <a:rPr lang="zh-CN" altLang="en-US" sz="1100" b="0" i="0" dirty="0">
                          <a:effectLst/>
                        </a:rPr>
                        <a:t>行车状态机</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latinLnBrk="0">
                        <a:buNone/>
                      </a:pPr>
                      <a:r>
                        <a:rPr lang="zh-CN" altLang="en-US" sz="1100" b="0" i="0">
                          <a:effectLst/>
                        </a:rPr>
                        <a:t>状态机</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171450" indent="-171450" algn="l" defTabSz="914400" rtl="0" eaLnBrk="1" fontAlgn="ctr" latinLnBrk="0" hangingPunct="1">
                        <a:buFont typeface="微软雅黑" panose="020B0503020204020204" pitchFamily="34" charset="-122"/>
                        <a:buChar char="￭"/>
                      </a:pPr>
                      <a:r>
                        <a:rPr lang="en-US" altLang="zh-CN" sz="1200" b="0" i="0" kern="1200" dirty="0">
                          <a:solidFill>
                            <a:srgbClr val="000000"/>
                          </a:solidFill>
                          <a:effectLst/>
                          <a:latin typeface="+mn-lt"/>
                          <a:ea typeface="+mn-ea"/>
                          <a:cs typeface="+mn-cs"/>
                        </a:rPr>
                        <a:t>HNOA</a:t>
                      </a:r>
                      <a:r>
                        <a:rPr lang="zh-CN" altLang="en-US" sz="1200" b="0" i="0" kern="1200" dirty="0">
                          <a:solidFill>
                            <a:srgbClr val="000000"/>
                          </a:solidFill>
                          <a:effectLst/>
                          <a:latin typeface="+mn-lt"/>
                          <a:ea typeface="+mn-ea"/>
                          <a:cs typeface="+mn-cs"/>
                        </a:rPr>
                        <a:t>和</a:t>
                      </a:r>
                      <a:r>
                        <a:rPr lang="en-US" altLang="zh-CN" sz="1200" b="0" i="0" kern="1200" dirty="0">
                          <a:solidFill>
                            <a:srgbClr val="000000"/>
                          </a:solidFill>
                          <a:effectLst/>
                          <a:latin typeface="+mn-lt"/>
                          <a:ea typeface="+mn-ea"/>
                          <a:cs typeface="+mn-cs"/>
                        </a:rPr>
                        <a:t>CNOA</a:t>
                      </a:r>
                      <a:r>
                        <a:rPr lang="zh-CN" altLang="en-US" sz="1200" b="0" i="0" kern="1200" dirty="0">
                          <a:solidFill>
                            <a:srgbClr val="000000"/>
                          </a:solidFill>
                          <a:effectLst/>
                          <a:latin typeface="+mn-lt"/>
                          <a:ea typeface="+mn-ea"/>
                          <a:cs typeface="+mn-cs"/>
                        </a:rPr>
                        <a:t>合一为</a:t>
                      </a:r>
                      <a:r>
                        <a:rPr lang="en-US" altLang="zh-CN" sz="1200" b="0" i="0" kern="1200" dirty="0">
                          <a:solidFill>
                            <a:srgbClr val="000000"/>
                          </a:solidFill>
                          <a:effectLst/>
                          <a:latin typeface="+mn-lt"/>
                          <a:ea typeface="+mn-ea"/>
                          <a:cs typeface="+mn-cs"/>
                        </a:rPr>
                        <a:t>NOA</a:t>
                      </a:r>
                    </a:p>
                    <a:p>
                      <a:pPr marL="171450" indent="-171450" algn="l" defTabSz="914400" rtl="0" eaLnBrk="1" fontAlgn="ctr" latinLnBrk="0" hangingPunct="1">
                        <a:buFont typeface="微软雅黑" panose="020B0503020204020204" pitchFamily="34" charset="-122"/>
                        <a:buChar char="￭"/>
                      </a:pPr>
                      <a:r>
                        <a:rPr lang="zh-CN" altLang="en-US" sz="1200" b="0" i="0" kern="1200" dirty="0">
                          <a:solidFill>
                            <a:srgbClr val="000000"/>
                          </a:solidFill>
                          <a:effectLst/>
                          <a:latin typeface="+mn-lt"/>
                          <a:ea typeface="+mn-ea"/>
                          <a:cs typeface="+mn-cs"/>
                        </a:rPr>
                        <a:t>只有</a:t>
                      </a:r>
                      <a:r>
                        <a:rPr lang="en-US" altLang="zh-CN" sz="1200" b="0" i="0" kern="1200" dirty="0">
                          <a:solidFill>
                            <a:srgbClr val="000000"/>
                          </a:solidFill>
                          <a:effectLst/>
                          <a:latin typeface="+mn-lt"/>
                          <a:ea typeface="+mn-ea"/>
                          <a:cs typeface="+mn-cs"/>
                        </a:rPr>
                        <a:t>NOA</a:t>
                      </a:r>
                      <a:r>
                        <a:rPr lang="zh-CN" altLang="en-US" sz="1200" b="0" i="0" kern="1200" dirty="0">
                          <a:solidFill>
                            <a:srgbClr val="000000"/>
                          </a:solidFill>
                          <a:effectLst/>
                          <a:latin typeface="+mn-lt"/>
                          <a:ea typeface="+mn-ea"/>
                          <a:cs typeface="+mn-cs"/>
                        </a:rPr>
                        <a:t>、漫游两个功能状态（无</a:t>
                      </a:r>
                      <a:r>
                        <a:rPr lang="en-US" altLang="zh-CN" sz="1200" b="0" i="0" kern="1200" dirty="0">
                          <a:solidFill>
                            <a:srgbClr val="000000"/>
                          </a:solidFill>
                          <a:effectLst/>
                          <a:latin typeface="+mn-lt"/>
                          <a:ea typeface="+mn-ea"/>
                          <a:cs typeface="+mn-cs"/>
                        </a:rPr>
                        <a:t>ACC</a:t>
                      </a:r>
                      <a:r>
                        <a:rPr lang="zh-CN" altLang="en-US" sz="1200" b="0" i="0" kern="1200" dirty="0">
                          <a:solidFill>
                            <a:srgbClr val="000000"/>
                          </a:solidFill>
                          <a:effectLst/>
                          <a:latin typeface="+mn-lt"/>
                          <a:ea typeface="+mn-ea"/>
                          <a:cs typeface="+mn-cs"/>
                        </a:rPr>
                        <a:t>、无传统</a:t>
                      </a:r>
                      <a:r>
                        <a:rPr lang="en-US" altLang="zh-CN" sz="1200" b="0" i="0" kern="1200" dirty="0">
                          <a:solidFill>
                            <a:srgbClr val="000000"/>
                          </a:solidFill>
                          <a:effectLst/>
                          <a:latin typeface="+mn-lt"/>
                          <a:ea typeface="+mn-ea"/>
                          <a:cs typeface="+mn-cs"/>
                        </a:rPr>
                        <a:t>LCC</a:t>
                      </a:r>
                      <a:r>
                        <a:rPr lang="zh-CN" altLang="en-US" sz="1200" b="0" i="0" kern="1200" dirty="0">
                          <a:solidFill>
                            <a:srgbClr val="000000"/>
                          </a:solidFill>
                          <a:effectLst/>
                          <a:latin typeface="+mn-lt"/>
                          <a:ea typeface="+mn-ea"/>
                          <a:cs typeface="+mn-cs"/>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latinLnBrk="0">
                        <a:lnSpc>
                          <a:spcPts val="1600"/>
                        </a:lnSpc>
                        <a:buNone/>
                      </a:pPr>
                      <a:r>
                        <a:rPr lang="zh-CN" altLang="en-US" sz="1200" b="0" i="0" dirty="0">
                          <a:solidFill>
                            <a:srgbClr val="000000"/>
                          </a:solidFill>
                          <a:effectLst/>
                          <a:latin typeface="Arial" panose="020B0604020202020204" pitchFamily="34" charset="0"/>
                          <a:ea typeface="微软雅黑" panose="020B0503020204020204" pitchFamily="34" charset="-122"/>
                          <a:sym typeface="Arial" panose="020B0604020202020204" pitchFamily="34" charset="0"/>
                        </a:rPr>
                        <a:t>城区，高速</a:t>
                      </a:r>
                    </a:p>
                  </a:txBody>
                  <a:tcPr marL="8859" marR="8859" marT="4430" marB="443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latinLnBrk="0">
                        <a:lnSpc>
                          <a:spcPts val="1600"/>
                        </a:lnSpc>
                        <a:buNone/>
                      </a:pPr>
                      <a:r>
                        <a:rPr lang="en-US" sz="1200" b="0" i="0" dirty="0">
                          <a:solidFill>
                            <a:srgbClr val="000000"/>
                          </a:solidFill>
                          <a:effectLst/>
                          <a:latin typeface="Arial" panose="020B0604020202020204" pitchFamily="34" charset="0"/>
                          <a:ea typeface="微软雅黑" panose="020B0503020204020204" pitchFamily="34" charset="-122"/>
                          <a:sym typeface="Arial" panose="020B0604020202020204" pitchFamily="34" charset="0"/>
                        </a:rPr>
                        <a:t>NOA，</a:t>
                      </a:r>
                      <a:r>
                        <a:rPr lang="zh-CN" altLang="en-US" sz="1200" b="0" i="0" dirty="0">
                          <a:solidFill>
                            <a:srgbClr val="000000"/>
                          </a:solidFill>
                          <a:effectLst/>
                          <a:latin typeface="Arial" panose="020B0604020202020204" pitchFamily="34" charset="0"/>
                          <a:ea typeface="微软雅黑" panose="020B0503020204020204" pitchFamily="34" charset="-122"/>
                          <a:sym typeface="Arial" panose="020B0604020202020204" pitchFamily="34" charset="0"/>
                        </a:rPr>
                        <a:t>漫游</a:t>
                      </a:r>
                    </a:p>
                  </a:txBody>
                  <a:tcPr marL="8859" marR="8859" marT="4430" marB="443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latinLnBrk="0">
                        <a:lnSpc>
                          <a:spcPts val="1600"/>
                        </a:lnSpc>
                        <a:buNone/>
                      </a:pPr>
                      <a:r>
                        <a:rPr lang="en-US" sz="1200" b="0" i="0" dirty="0">
                          <a:solidFill>
                            <a:srgbClr val="000000"/>
                          </a:solidFill>
                          <a:effectLst/>
                          <a:latin typeface="Arial" panose="020B0604020202020204" pitchFamily="34" charset="0"/>
                          <a:ea typeface="微软雅黑" panose="020B0503020204020204" pitchFamily="34" charset="-122"/>
                          <a:sym typeface="Arial" panose="020B0604020202020204" pitchFamily="34" charset="0"/>
                        </a:rPr>
                        <a:t>SOP(530)</a:t>
                      </a:r>
                    </a:p>
                  </a:txBody>
                  <a:tcPr marL="8859" marR="8859" marT="4430" marB="443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609235334"/>
                  </a:ext>
                </a:extLst>
              </a:tr>
              <a:tr h="318919">
                <a:tc vMerge="1">
                  <a:txBody>
                    <a:bodyPr/>
                    <a:lstStyle/>
                    <a:p>
                      <a:endParaRPr lang="zh-CN" altLang="en-US"/>
                    </a:p>
                  </a:txBody>
                  <a:tcPr/>
                </a:tc>
                <a:tc>
                  <a:txBody>
                    <a:bodyPr/>
                    <a:lstStyle/>
                    <a:p>
                      <a:pPr algn="ctr" fontAlgn="ctr" latinLnBrk="0">
                        <a:buNone/>
                      </a:pPr>
                      <a:r>
                        <a:rPr lang="en-US" sz="1100" b="0" i="0">
                          <a:solidFill>
                            <a:srgbClr val="000000"/>
                          </a:solidFill>
                          <a:effectLst/>
                        </a:rPr>
                        <a:t>NOA</a:t>
                      </a:r>
                      <a:r>
                        <a:rPr lang="zh-CN" altLang="en-US" sz="1100" b="0" i="0">
                          <a:solidFill>
                            <a:srgbClr val="000000"/>
                          </a:solidFill>
                          <a:effectLst/>
                        </a:rPr>
                        <a:t>切换到漫游</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171450" indent="-171450" algn="l" defTabSz="914400" rtl="0" eaLnBrk="1" fontAlgn="ctr" latinLnBrk="0" hangingPunct="1">
                        <a:buFont typeface="微软雅黑" panose="020B0503020204020204" pitchFamily="34" charset="-122"/>
                        <a:buChar char="￭"/>
                      </a:pPr>
                      <a:r>
                        <a:rPr lang="zh-CN" altLang="en-US" sz="1200" b="0" i="0" kern="1200" dirty="0">
                          <a:solidFill>
                            <a:srgbClr val="000000"/>
                          </a:solidFill>
                          <a:effectLst/>
                          <a:latin typeface="+mn-lt"/>
                          <a:ea typeface="+mn-ea"/>
                          <a:cs typeface="+mn-cs"/>
                        </a:rPr>
                        <a:t>到终点</a:t>
                      </a:r>
                      <a:r>
                        <a:rPr lang="en-US" altLang="zh-CN" sz="1200" b="0" i="0" kern="1200" dirty="0">
                          <a:solidFill>
                            <a:srgbClr val="000000"/>
                          </a:solidFill>
                          <a:effectLst/>
                          <a:latin typeface="+mn-lt"/>
                          <a:ea typeface="+mn-ea"/>
                          <a:cs typeface="+mn-cs"/>
                        </a:rPr>
                        <a:t>/</a:t>
                      </a:r>
                      <a:r>
                        <a:rPr lang="zh-CN" altLang="en-US" sz="1200" b="0" i="0" kern="1200" dirty="0">
                          <a:solidFill>
                            <a:srgbClr val="000000"/>
                          </a:solidFill>
                          <a:effectLst/>
                          <a:latin typeface="+mn-lt"/>
                          <a:ea typeface="+mn-ea"/>
                          <a:cs typeface="+mn-cs"/>
                        </a:rPr>
                        <a:t>到</a:t>
                      </a:r>
                      <a:r>
                        <a:rPr lang="en-US" altLang="zh-CN" sz="1200" b="0" i="0" kern="1200" dirty="0">
                          <a:solidFill>
                            <a:srgbClr val="000000"/>
                          </a:solidFill>
                          <a:effectLst/>
                          <a:latin typeface="+mn-lt"/>
                          <a:ea typeface="+mn-ea"/>
                          <a:cs typeface="+mn-cs"/>
                        </a:rPr>
                        <a:t>ODD</a:t>
                      </a:r>
                      <a:r>
                        <a:rPr lang="zh-CN" altLang="en-US" sz="1200" b="0" i="0" kern="1200" dirty="0">
                          <a:solidFill>
                            <a:srgbClr val="000000"/>
                          </a:solidFill>
                          <a:effectLst/>
                          <a:latin typeface="+mn-lt"/>
                          <a:ea typeface="+mn-ea"/>
                          <a:cs typeface="+mn-cs"/>
                        </a:rPr>
                        <a:t>边界</a:t>
                      </a:r>
                      <a:r>
                        <a:rPr lang="en-US" altLang="zh-CN" sz="1200" b="0" i="0" kern="1200" dirty="0">
                          <a:solidFill>
                            <a:srgbClr val="000000"/>
                          </a:solidFill>
                          <a:effectLst/>
                          <a:latin typeface="+mn-lt"/>
                          <a:ea typeface="+mn-ea"/>
                          <a:cs typeface="+mn-cs"/>
                        </a:rPr>
                        <a:t>/</a:t>
                      </a:r>
                      <a:r>
                        <a:rPr lang="zh-CN" altLang="en-US" sz="1200" b="0" i="0" kern="1200" dirty="0">
                          <a:solidFill>
                            <a:srgbClr val="000000"/>
                          </a:solidFill>
                          <a:effectLst/>
                          <a:latin typeface="+mn-lt"/>
                          <a:ea typeface="+mn-ea"/>
                          <a:cs typeface="+mn-cs"/>
                        </a:rPr>
                        <a:t>软开关选漫游</a:t>
                      </a:r>
                      <a:r>
                        <a:rPr lang="en-US" altLang="zh-CN" sz="1200" b="0" i="0" kern="1200" dirty="0">
                          <a:solidFill>
                            <a:srgbClr val="000000"/>
                          </a:solidFill>
                          <a:effectLst/>
                          <a:latin typeface="+mn-lt"/>
                          <a:ea typeface="+mn-ea"/>
                          <a:cs typeface="+mn-cs"/>
                        </a:rPr>
                        <a:t>/</a:t>
                      </a:r>
                      <a:r>
                        <a:rPr lang="zh-CN" altLang="en-US" sz="1200" b="0" i="0" kern="1200" dirty="0">
                          <a:solidFill>
                            <a:srgbClr val="000000"/>
                          </a:solidFill>
                          <a:effectLst/>
                          <a:latin typeface="+mn-lt"/>
                          <a:ea typeface="+mn-ea"/>
                          <a:cs typeface="+mn-cs"/>
                        </a:rPr>
                        <a:t>无导航信息</a:t>
                      </a:r>
                      <a:r>
                        <a:rPr lang="en-US" altLang="zh-CN" sz="1200" b="0" i="0" kern="1200" dirty="0">
                          <a:solidFill>
                            <a:srgbClr val="000000"/>
                          </a:solidFill>
                          <a:effectLst/>
                          <a:latin typeface="+mn-lt"/>
                          <a:ea typeface="+mn-ea"/>
                          <a:cs typeface="+mn-cs"/>
                        </a:rPr>
                        <a:t>/</a:t>
                      </a:r>
                      <a:r>
                        <a:rPr lang="zh-CN" altLang="en-US" sz="1200" b="0" i="0" kern="1200" dirty="0">
                          <a:solidFill>
                            <a:srgbClr val="000000"/>
                          </a:solidFill>
                          <a:effectLst/>
                          <a:latin typeface="+mn-lt"/>
                          <a:ea typeface="+mn-ea"/>
                          <a:cs typeface="+mn-cs"/>
                        </a:rPr>
                        <a:t>定位偏离</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latinLnBrk="0">
                        <a:lnSpc>
                          <a:spcPts val="1600"/>
                        </a:lnSpc>
                        <a:buNone/>
                      </a:pPr>
                      <a:r>
                        <a:rPr lang="zh-CN" altLang="en-US" sz="1200" b="0" i="0" dirty="0">
                          <a:solidFill>
                            <a:srgbClr val="000000"/>
                          </a:solidFill>
                          <a:effectLst/>
                          <a:latin typeface="Arial" panose="020B0604020202020204" pitchFamily="34" charset="0"/>
                          <a:ea typeface="微软雅黑" panose="020B0503020204020204" pitchFamily="34" charset="-122"/>
                          <a:sym typeface="Arial" panose="020B0604020202020204" pitchFamily="34" charset="0"/>
                        </a:rPr>
                        <a:t>城区，高速</a:t>
                      </a:r>
                    </a:p>
                  </a:txBody>
                  <a:tcPr marL="8859" marR="8859" marT="4430" marB="443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latinLnBrk="0">
                        <a:lnSpc>
                          <a:spcPts val="1600"/>
                        </a:lnSpc>
                        <a:buNone/>
                      </a:pPr>
                      <a:r>
                        <a:rPr lang="en-US" sz="1200" b="0" i="0" dirty="0">
                          <a:solidFill>
                            <a:srgbClr val="000000"/>
                          </a:solidFill>
                          <a:effectLst/>
                          <a:latin typeface="Arial" panose="020B0604020202020204" pitchFamily="34" charset="0"/>
                          <a:ea typeface="微软雅黑" panose="020B0503020204020204" pitchFamily="34" charset="-122"/>
                          <a:sym typeface="Arial" panose="020B0604020202020204" pitchFamily="34" charset="0"/>
                        </a:rPr>
                        <a:t>NOA，</a:t>
                      </a:r>
                      <a:r>
                        <a:rPr lang="zh-CN" altLang="en-US" sz="1200" b="0" i="0" dirty="0">
                          <a:solidFill>
                            <a:srgbClr val="000000"/>
                          </a:solidFill>
                          <a:effectLst/>
                          <a:latin typeface="Arial" panose="020B0604020202020204" pitchFamily="34" charset="0"/>
                          <a:ea typeface="微软雅黑" panose="020B0503020204020204" pitchFamily="34" charset="-122"/>
                          <a:sym typeface="Arial" panose="020B0604020202020204" pitchFamily="34" charset="0"/>
                        </a:rPr>
                        <a:t>漫游</a:t>
                      </a:r>
                    </a:p>
                  </a:txBody>
                  <a:tcPr marL="8859" marR="8859" marT="4430" marB="443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latinLnBrk="0">
                        <a:lnSpc>
                          <a:spcPts val="1600"/>
                        </a:lnSpc>
                        <a:buNone/>
                      </a:pPr>
                      <a:r>
                        <a:rPr lang="en-US" sz="1200" b="0" i="0" dirty="0">
                          <a:solidFill>
                            <a:srgbClr val="000000"/>
                          </a:solidFill>
                          <a:effectLst/>
                          <a:latin typeface="Arial" panose="020B0604020202020204" pitchFamily="34" charset="0"/>
                          <a:ea typeface="微软雅黑" panose="020B0503020204020204" pitchFamily="34" charset="-122"/>
                          <a:sym typeface="Arial" panose="020B0604020202020204" pitchFamily="34" charset="0"/>
                        </a:rPr>
                        <a:t>SOP(530)</a:t>
                      </a:r>
                    </a:p>
                  </a:txBody>
                  <a:tcPr marL="8859" marR="8859" marT="4430" marB="443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258787451"/>
                  </a:ext>
                </a:extLst>
              </a:tr>
              <a:tr h="318919">
                <a:tc vMerge="1">
                  <a:txBody>
                    <a:bodyPr/>
                    <a:lstStyle/>
                    <a:p>
                      <a:endParaRPr lang="zh-CN" altLang="en-US"/>
                    </a:p>
                  </a:txBody>
                  <a:tcPr/>
                </a:tc>
                <a:tc>
                  <a:txBody>
                    <a:bodyPr/>
                    <a:lstStyle/>
                    <a:p>
                      <a:pPr algn="ctr" fontAlgn="ctr" latinLnBrk="0">
                        <a:buNone/>
                      </a:pPr>
                      <a:r>
                        <a:rPr lang="zh-CN" altLang="en-US" sz="1100" b="0" i="0">
                          <a:solidFill>
                            <a:srgbClr val="000000"/>
                          </a:solidFill>
                          <a:effectLst/>
                        </a:rPr>
                        <a:t>漫游切换到</a:t>
                      </a:r>
                      <a:r>
                        <a:rPr lang="en-US" sz="1100" b="0" i="0">
                          <a:solidFill>
                            <a:srgbClr val="000000"/>
                          </a:solidFill>
                          <a:effectLst/>
                        </a:rPr>
                        <a:t>NOA</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171450" indent="-171450" algn="l" defTabSz="914400" rtl="0" eaLnBrk="1" fontAlgn="ctr" latinLnBrk="0" hangingPunct="1">
                        <a:buFont typeface="微软雅黑" panose="020B0503020204020204" pitchFamily="34" charset="-122"/>
                        <a:buChar char="￭"/>
                      </a:pPr>
                      <a:r>
                        <a:rPr lang="zh-CN" altLang="en-US" sz="1200" b="0" i="0" kern="1200" dirty="0">
                          <a:solidFill>
                            <a:srgbClr val="000000"/>
                          </a:solidFill>
                          <a:effectLst/>
                          <a:latin typeface="+mn-lt"/>
                          <a:ea typeface="+mn-ea"/>
                          <a:cs typeface="+mn-cs"/>
                        </a:rPr>
                        <a:t>满足</a:t>
                      </a:r>
                      <a:r>
                        <a:rPr lang="en-US" altLang="zh-CN" sz="1200" b="0" i="0" kern="1200" dirty="0">
                          <a:solidFill>
                            <a:srgbClr val="000000"/>
                          </a:solidFill>
                          <a:effectLst/>
                          <a:latin typeface="+mn-lt"/>
                          <a:ea typeface="+mn-ea"/>
                          <a:cs typeface="+mn-cs"/>
                        </a:rPr>
                        <a:t>NOA</a:t>
                      </a:r>
                      <a:r>
                        <a:rPr lang="zh-CN" altLang="en-US" sz="1200" b="0" i="0" kern="1200" dirty="0">
                          <a:solidFill>
                            <a:srgbClr val="000000"/>
                          </a:solidFill>
                          <a:effectLst/>
                          <a:latin typeface="+mn-lt"/>
                          <a:ea typeface="+mn-ea"/>
                          <a:cs typeface="+mn-cs"/>
                        </a:rPr>
                        <a:t>进入条件</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latinLnBrk="0">
                        <a:lnSpc>
                          <a:spcPts val="1600"/>
                        </a:lnSpc>
                        <a:buNone/>
                      </a:pPr>
                      <a:r>
                        <a:rPr lang="zh-CN" altLang="en-US" sz="1200" b="0" i="0" dirty="0">
                          <a:solidFill>
                            <a:srgbClr val="000000"/>
                          </a:solidFill>
                          <a:effectLst/>
                          <a:latin typeface="Arial" panose="020B0604020202020204" pitchFamily="34" charset="0"/>
                          <a:ea typeface="微软雅黑" panose="020B0503020204020204" pitchFamily="34" charset="-122"/>
                          <a:sym typeface="Arial" panose="020B0604020202020204" pitchFamily="34" charset="0"/>
                        </a:rPr>
                        <a:t>城区，高速</a:t>
                      </a:r>
                    </a:p>
                  </a:txBody>
                  <a:tcPr marL="8859" marR="8859" marT="4430" marB="443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latinLnBrk="0">
                        <a:lnSpc>
                          <a:spcPts val="1600"/>
                        </a:lnSpc>
                        <a:buNone/>
                      </a:pPr>
                      <a:r>
                        <a:rPr lang="en-US" sz="1200" b="0" i="0" dirty="0">
                          <a:solidFill>
                            <a:srgbClr val="000000"/>
                          </a:solidFill>
                          <a:effectLst/>
                          <a:latin typeface="Arial" panose="020B0604020202020204" pitchFamily="34" charset="0"/>
                          <a:ea typeface="微软雅黑" panose="020B0503020204020204" pitchFamily="34" charset="-122"/>
                          <a:sym typeface="Arial" panose="020B0604020202020204" pitchFamily="34" charset="0"/>
                        </a:rPr>
                        <a:t>NOA，</a:t>
                      </a:r>
                      <a:r>
                        <a:rPr lang="zh-CN" altLang="en-US" sz="1200" b="0" i="0" dirty="0">
                          <a:solidFill>
                            <a:srgbClr val="000000"/>
                          </a:solidFill>
                          <a:effectLst/>
                          <a:latin typeface="Arial" panose="020B0604020202020204" pitchFamily="34" charset="0"/>
                          <a:ea typeface="微软雅黑" panose="020B0503020204020204" pitchFamily="34" charset="-122"/>
                          <a:sym typeface="Arial" panose="020B0604020202020204" pitchFamily="34" charset="0"/>
                        </a:rPr>
                        <a:t>漫游</a:t>
                      </a:r>
                    </a:p>
                  </a:txBody>
                  <a:tcPr marL="8859" marR="8859" marT="4430" marB="443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latinLnBrk="0">
                        <a:lnSpc>
                          <a:spcPts val="1600"/>
                        </a:lnSpc>
                        <a:buNone/>
                      </a:pPr>
                      <a:r>
                        <a:rPr lang="en-US" sz="1200" b="0" i="0" dirty="0">
                          <a:solidFill>
                            <a:srgbClr val="000000"/>
                          </a:solidFill>
                          <a:effectLst/>
                          <a:latin typeface="Arial" panose="020B0604020202020204" pitchFamily="34" charset="0"/>
                          <a:ea typeface="微软雅黑" panose="020B0503020204020204" pitchFamily="34" charset="-122"/>
                          <a:sym typeface="Arial" panose="020B0604020202020204" pitchFamily="34" charset="0"/>
                        </a:rPr>
                        <a:t>SOP(530)</a:t>
                      </a:r>
                    </a:p>
                  </a:txBody>
                  <a:tcPr marL="8859" marR="8859" marT="4430" marB="443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202131439"/>
                  </a:ext>
                </a:extLst>
              </a:tr>
              <a:tr h="531532">
                <a:tc vMerge="1">
                  <a:txBody>
                    <a:bodyPr/>
                    <a:lstStyle/>
                    <a:p>
                      <a:endParaRPr lang="zh-CN" alt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latinLnBrk="0">
                        <a:buNone/>
                      </a:pPr>
                      <a:r>
                        <a:rPr lang="en-US" sz="1100" b="0" i="0">
                          <a:solidFill>
                            <a:srgbClr val="000000"/>
                          </a:solidFill>
                          <a:effectLst/>
                        </a:rPr>
                        <a:t>EPB</a:t>
                      </a:r>
                      <a:r>
                        <a:rPr lang="zh-CN" altLang="en-US" sz="1100" b="0" i="0">
                          <a:solidFill>
                            <a:srgbClr val="000000"/>
                          </a:solidFill>
                          <a:effectLst/>
                        </a:rPr>
                        <a:t>缓退</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171450" indent="-171450" algn="l" defTabSz="914400" rtl="0" eaLnBrk="1" fontAlgn="ctr" latinLnBrk="0" hangingPunct="1">
                        <a:buFont typeface="微软雅黑" panose="020B0503020204020204" pitchFamily="34" charset="-122"/>
                        <a:buChar char="￭"/>
                      </a:pPr>
                      <a:r>
                        <a:rPr lang="zh-CN" altLang="en-US" sz="1200" b="0" i="0" kern="1200" dirty="0">
                          <a:solidFill>
                            <a:srgbClr val="000000"/>
                          </a:solidFill>
                          <a:effectLst/>
                          <a:latin typeface="+mn-lt"/>
                          <a:ea typeface="+mn-ea"/>
                          <a:cs typeface="+mn-cs"/>
                        </a:rPr>
                        <a:t>行车功能退出时，若自车处于静止状态，则应维持当前状态，请求 </a:t>
                      </a:r>
                      <a:r>
                        <a:rPr lang="en-US" altLang="zh-CN" sz="1200" b="0" i="0" kern="1200" dirty="0">
                          <a:solidFill>
                            <a:srgbClr val="000000"/>
                          </a:solidFill>
                          <a:effectLst/>
                          <a:latin typeface="+mn-lt"/>
                          <a:ea typeface="+mn-ea"/>
                          <a:cs typeface="+mn-cs"/>
                        </a:rPr>
                        <a:t>EPB</a:t>
                      </a:r>
                      <a:r>
                        <a:rPr lang="zh-CN" altLang="en-US" sz="1200" b="0" i="0" kern="1200" dirty="0">
                          <a:solidFill>
                            <a:srgbClr val="000000"/>
                          </a:solidFill>
                          <a:effectLst/>
                          <a:latin typeface="+mn-lt"/>
                          <a:ea typeface="+mn-ea"/>
                          <a:cs typeface="+mn-cs"/>
                        </a:rPr>
                        <a:t>；待 </a:t>
                      </a:r>
                      <a:r>
                        <a:rPr lang="en-US" altLang="zh-CN" sz="1200" b="0" i="0" kern="1200" dirty="0">
                          <a:solidFill>
                            <a:srgbClr val="000000"/>
                          </a:solidFill>
                          <a:effectLst/>
                          <a:latin typeface="+mn-lt"/>
                          <a:ea typeface="+mn-ea"/>
                          <a:cs typeface="+mn-cs"/>
                        </a:rPr>
                        <a:t>EPB </a:t>
                      </a:r>
                      <a:r>
                        <a:rPr lang="zh-CN" altLang="en-US" sz="1200" b="0" i="0" kern="1200" dirty="0">
                          <a:solidFill>
                            <a:srgbClr val="000000"/>
                          </a:solidFill>
                          <a:effectLst/>
                          <a:latin typeface="+mn-lt"/>
                          <a:ea typeface="+mn-ea"/>
                          <a:cs typeface="+mn-cs"/>
                        </a:rPr>
                        <a:t>拉起</a:t>
                      </a:r>
                      <a:r>
                        <a:rPr lang="en-US" altLang="zh-CN" sz="1200" b="0" i="0" kern="1200" dirty="0">
                          <a:solidFill>
                            <a:srgbClr val="000000"/>
                          </a:solidFill>
                          <a:effectLst/>
                          <a:latin typeface="+mn-lt"/>
                          <a:ea typeface="+mn-ea"/>
                          <a:cs typeface="+mn-cs"/>
                        </a:rPr>
                        <a:t>||</a:t>
                      </a:r>
                      <a:r>
                        <a:rPr lang="zh-CN" altLang="en-US" sz="1200" b="0" i="0" kern="1200" dirty="0">
                          <a:solidFill>
                            <a:srgbClr val="000000"/>
                          </a:solidFill>
                          <a:effectLst/>
                          <a:latin typeface="+mn-lt"/>
                          <a:ea typeface="+mn-ea"/>
                          <a:cs typeface="+mn-cs"/>
                        </a:rPr>
                        <a:t>请求 </a:t>
                      </a:r>
                      <a:r>
                        <a:rPr lang="en-US" altLang="zh-CN" sz="1200" b="0" i="0" kern="1200" dirty="0">
                          <a:solidFill>
                            <a:srgbClr val="000000"/>
                          </a:solidFill>
                          <a:effectLst/>
                          <a:latin typeface="+mn-lt"/>
                          <a:ea typeface="+mn-ea"/>
                          <a:cs typeface="+mn-cs"/>
                        </a:rPr>
                        <a:t>EPB </a:t>
                      </a:r>
                      <a:r>
                        <a:rPr lang="zh-CN" altLang="en-US" sz="1200" b="0" i="0" kern="1200" dirty="0">
                          <a:solidFill>
                            <a:srgbClr val="000000"/>
                          </a:solidFill>
                          <a:effectLst/>
                          <a:latin typeface="+mn-lt"/>
                          <a:ea typeface="+mn-ea"/>
                          <a:cs typeface="+mn-cs"/>
                        </a:rPr>
                        <a:t>超时</a:t>
                      </a:r>
                      <a:r>
                        <a:rPr lang="en-US" altLang="zh-CN" sz="1200" b="0" i="0" kern="1200" dirty="0">
                          <a:solidFill>
                            <a:srgbClr val="000000"/>
                          </a:solidFill>
                          <a:effectLst/>
                          <a:latin typeface="+mn-lt"/>
                          <a:ea typeface="+mn-ea"/>
                          <a:cs typeface="+mn-cs"/>
                        </a:rPr>
                        <a:t>||</a:t>
                      </a:r>
                      <a:r>
                        <a:rPr lang="zh-CN" altLang="en-US" sz="1200" b="0" i="0" kern="1200" dirty="0">
                          <a:solidFill>
                            <a:srgbClr val="000000"/>
                          </a:solidFill>
                          <a:effectLst/>
                          <a:latin typeface="+mn-lt"/>
                          <a:ea typeface="+mn-ea"/>
                          <a:cs typeface="+mn-cs"/>
                        </a:rPr>
                        <a:t>车辆非静止后，退出功能</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latinLnBrk="0">
                        <a:lnSpc>
                          <a:spcPts val="1600"/>
                        </a:lnSpc>
                        <a:buNone/>
                      </a:pPr>
                      <a:r>
                        <a:rPr lang="zh-CN" altLang="en-US" sz="1200" b="0" i="0" dirty="0">
                          <a:solidFill>
                            <a:srgbClr val="000000"/>
                          </a:solidFill>
                          <a:effectLst/>
                          <a:latin typeface="Arial" panose="020B0604020202020204" pitchFamily="34" charset="0"/>
                          <a:ea typeface="微软雅黑" panose="020B0503020204020204" pitchFamily="34" charset="-122"/>
                          <a:sym typeface="Arial" panose="020B0604020202020204" pitchFamily="34" charset="0"/>
                        </a:rPr>
                        <a:t>城区，高速</a:t>
                      </a:r>
                    </a:p>
                  </a:txBody>
                  <a:tcPr marL="8859" marR="8859" marT="4430" marB="443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latinLnBrk="0">
                        <a:lnSpc>
                          <a:spcPts val="1600"/>
                        </a:lnSpc>
                        <a:buNone/>
                      </a:pPr>
                      <a:r>
                        <a:rPr lang="en-US" sz="1200" b="0" i="0" dirty="0">
                          <a:solidFill>
                            <a:srgbClr val="000000"/>
                          </a:solidFill>
                          <a:effectLst/>
                          <a:latin typeface="Arial" panose="020B0604020202020204" pitchFamily="34" charset="0"/>
                          <a:ea typeface="微软雅黑" panose="020B0503020204020204" pitchFamily="34" charset="-122"/>
                          <a:sym typeface="Arial" panose="020B0604020202020204" pitchFamily="34" charset="0"/>
                        </a:rPr>
                        <a:t>NOA，</a:t>
                      </a:r>
                      <a:r>
                        <a:rPr lang="zh-CN" altLang="en-US" sz="1200" b="0" i="0" dirty="0">
                          <a:solidFill>
                            <a:srgbClr val="000000"/>
                          </a:solidFill>
                          <a:effectLst/>
                          <a:latin typeface="Arial" panose="020B0604020202020204" pitchFamily="34" charset="0"/>
                          <a:ea typeface="微软雅黑" panose="020B0503020204020204" pitchFamily="34" charset="-122"/>
                          <a:sym typeface="Arial" panose="020B0604020202020204" pitchFamily="34" charset="0"/>
                        </a:rPr>
                        <a:t>漫游</a:t>
                      </a:r>
                    </a:p>
                  </a:txBody>
                  <a:tcPr marL="8859" marR="8859" marT="4430" marB="443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latinLnBrk="0">
                        <a:lnSpc>
                          <a:spcPts val="1600"/>
                        </a:lnSpc>
                        <a:buNone/>
                      </a:pPr>
                      <a:r>
                        <a:rPr lang="en-US" sz="1200" b="0" i="0" dirty="0">
                          <a:solidFill>
                            <a:srgbClr val="000000"/>
                          </a:solidFill>
                          <a:effectLst/>
                          <a:latin typeface="Arial" panose="020B0604020202020204" pitchFamily="34" charset="0"/>
                          <a:ea typeface="微软雅黑" panose="020B0503020204020204" pitchFamily="34" charset="-122"/>
                          <a:sym typeface="Arial" panose="020B0604020202020204" pitchFamily="34" charset="0"/>
                        </a:rPr>
                        <a:t>SOP(530)</a:t>
                      </a:r>
                    </a:p>
                  </a:txBody>
                  <a:tcPr marL="8859" marR="8859" marT="4430" marB="443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520556455"/>
                  </a:ext>
                </a:extLst>
              </a:tr>
              <a:tr h="318919">
                <a:tc vMerge="1">
                  <a:txBody>
                    <a:bodyPr/>
                    <a:lstStyle/>
                    <a:p>
                      <a:endParaRPr lang="zh-CN" alt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latinLnBrk="0">
                        <a:buNone/>
                      </a:pPr>
                      <a:r>
                        <a:rPr lang="zh-CN" altLang="en-US" sz="1100" b="0" i="0">
                          <a:solidFill>
                            <a:srgbClr val="000000"/>
                          </a:solidFill>
                          <a:effectLst/>
                        </a:rPr>
                        <a:t>安全带脱离报警</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171450" indent="-171450" algn="l" defTabSz="914400" rtl="0" eaLnBrk="1" fontAlgn="ctr" latinLnBrk="0" hangingPunct="1">
                        <a:buFont typeface="微软雅黑" panose="020B0503020204020204" pitchFamily="34" charset="-122"/>
                        <a:buChar char="￭"/>
                      </a:pPr>
                      <a:r>
                        <a:rPr lang="zh-CN" altLang="en-US" sz="1200" b="0" i="0" kern="1200" dirty="0">
                          <a:solidFill>
                            <a:srgbClr val="000000"/>
                          </a:solidFill>
                          <a:effectLst/>
                          <a:latin typeface="+mn-lt"/>
                          <a:ea typeface="+mn-ea"/>
                          <a:cs typeface="+mn-cs"/>
                        </a:rPr>
                        <a:t>安全带解开：告警；超</a:t>
                      </a:r>
                      <a:r>
                        <a:rPr lang="en-US" altLang="zh-CN" sz="1200" b="0" i="0" kern="1200" dirty="0">
                          <a:solidFill>
                            <a:srgbClr val="000000"/>
                          </a:solidFill>
                          <a:effectLst/>
                          <a:latin typeface="+mn-lt"/>
                          <a:ea typeface="+mn-ea"/>
                          <a:cs typeface="+mn-cs"/>
                        </a:rPr>
                        <a:t>10s</a:t>
                      </a:r>
                      <a:r>
                        <a:rPr lang="zh-CN" altLang="en-US" sz="1200" b="0" i="0" kern="1200" dirty="0">
                          <a:solidFill>
                            <a:srgbClr val="000000"/>
                          </a:solidFill>
                          <a:effectLst/>
                          <a:latin typeface="+mn-lt"/>
                          <a:ea typeface="+mn-ea"/>
                          <a:cs typeface="+mn-cs"/>
                        </a:rPr>
                        <a:t>退功能；</a:t>
                      </a:r>
                      <a:r>
                        <a:rPr lang="en-US" altLang="zh-CN" sz="1200" b="0" i="0" kern="1200" dirty="0">
                          <a:solidFill>
                            <a:srgbClr val="000000"/>
                          </a:solidFill>
                          <a:effectLst/>
                          <a:latin typeface="+mn-lt"/>
                          <a:ea typeface="+mn-ea"/>
                          <a:cs typeface="+mn-cs"/>
                        </a:rPr>
                        <a:t>10s</a:t>
                      </a:r>
                      <a:r>
                        <a:rPr lang="zh-CN" altLang="en-US" sz="1200" b="0" i="0" kern="1200" dirty="0">
                          <a:solidFill>
                            <a:srgbClr val="000000"/>
                          </a:solidFill>
                          <a:effectLst/>
                          <a:latin typeface="+mn-lt"/>
                          <a:ea typeface="+mn-ea"/>
                          <a:cs typeface="+mn-cs"/>
                        </a:rPr>
                        <a:t>内系上保持功能</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latinLnBrk="0">
                        <a:lnSpc>
                          <a:spcPts val="1600"/>
                        </a:lnSpc>
                        <a:buNone/>
                      </a:pPr>
                      <a:r>
                        <a:rPr lang="zh-CN" altLang="en-US" sz="1200" b="0" i="0" dirty="0">
                          <a:solidFill>
                            <a:srgbClr val="000000"/>
                          </a:solidFill>
                          <a:effectLst/>
                          <a:latin typeface="Arial" panose="020B0604020202020204" pitchFamily="34" charset="0"/>
                          <a:ea typeface="微软雅黑" panose="020B0503020204020204" pitchFamily="34" charset="-122"/>
                          <a:sym typeface="Arial" panose="020B0604020202020204" pitchFamily="34" charset="0"/>
                        </a:rPr>
                        <a:t>城区，高速</a:t>
                      </a:r>
                    </a:p>
                  </a:txBody>
                  <a:tcPr marL="8859" marR="8859" marT="4430" marB="443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latinLnBrk="0">
                        <a:lnSpc>
                          <a:spcPts val="1600"/>
                        </a:lnSpc>
                        <a:buNone/>
                      </a:pPr>
                      <a:r>
                        <a:rPr lang="en-US" sz="1200" b="0" i="0" dirty="0">
                          <a:solidFill>
                            <a:srgbClr val="000000"/>
                          </a:solidFill>
                          <a:effectLst/>
                          <a:latin typeface="Arial" panose="020B0604020202020204" pitchFamily="34" charset="0"/>
                          <a:ea typeface="微软雅黑" panose="020B0503020204020204" pitchFamily="34" charset="-122"/>
                          <a:sym typeface="Arial" panose="020B0604020202020204" pitchFamily="34" charset="0"/>
                        </a:rPr>
                        <a:t>NOA，</a:t>
                      </a:r>
                      <a:r>
                        <a:rPr lang="zh-CN" altLang="en-US" sz="1200" b="0" i="0" dirty="0">
                          <a:solidFill>
                            <a:srgbClr val="000000"/>
                          </a:solidFill>
                          <a:effectLst/>
                          <a:latin typeface="Arial" panose="020B0604020202020204" pitchFamily="34" charset="0"/>
                          <a:ea typeface="微软雅黑" panose="020B0503020204020204" pitchFamily="34" charset="-122"/>
                          <a:sym typeface="Arial" panose="020B0604020202020204" pitchFamily="34" charset="0"/>
                        </a:rPr>
                        <a:t>漫游</a:t>
                      </a:r>
                    </a:p>
                  </a:txBody>
                  <a:tcPr marL="8859" marR="8859" marT="4430" marB="443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latinLnBrk="0">
                        <a:lnSpc>
                          <a:spcPts val="1600"/>
                        </a:lnSpc>
                        <a:buNone/>
                      </a:pPr>
                      <a:r>
                        <a:rPr lang="en-US" sz="1200" b="0" i="0" dirty="0">
                          <a:solidFill>
                            <a:srgbClr val="000000"/>
                          </a:solidFill>
                          <a:effectLst/>
                          <a:latin typeface="Arial" panose="020B0604020202020204" pitchFamily="34" charset="0"/>
                          <a:ea typeface="微软雅黑" panose="020B0503020204020204" pitchFamily="34" charset="-122"/>
                          <a:sym typeface="Arial" panose="020B0604020202020204" pitchFamily="34" charset="0"/>
                        </a:rPr>
                        <a:t>SOP(530)</a:t>
                      </a:r>
                    </a:p>
                  </a:txBody>
                  <a:tcPr marL="8859" marR="8859" marT="4430" marB="443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100173687"/>
                  </a:ext>
                </a:extLst>
              </a:tr>
              <a:tr h="318919">
                <a:tc vMerge="1">
                  <a:txBody>
                    <a:bodyPr/>
                    <a:lstStyle/>
                    <a:p>
                      <a:endParaRPr lang="zh-CN" altLang="en-US"/>
                    </a:p>
                  </a:txBody>
                  <a:tcPr/>
                </a:tc>
                <a:tc>
                  <a:txBody>
                    <a:bodyPr/>
                    <a:lstStyle/>
                    <a:p>
                      <a:pPr algn="ctr" fontAlgn="ctr" latinLnBrk="0">
                        <a:buNone/>
                      </a:pPr>
                      <a:r>
                        <a:rPr lang="zh-CN" altLang="en-US" sz="1100" b="0" i="0">
                          <a:solidFill>
                            <a:srgbClr val="000000"/>
                          </a:solidFill>
                          <a:effectLst/>
                        </a:rPr>
                        <a:t>高速雨刮报警</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171450" indent="-171450" algn="l" defTabSz="914400" rtl="0" eaLnBrk="1" fontAlgn="ctr" latinLnBrk="0" hangingPunct="1">
                        <a:buFont typeface="微软雅黑" panose="020B0503020204020204" pitchFamily="34" charset="-122"/>
                        <a:buChar char="￭"/>
                      </a:pPr>
                      <a:r>
                        <a:rPr lang="zh-CN" altLang="en-US" sz="1200" b="0" i="0" kern="1200" dirty="0">
                          <a:solidFill>
                            <a:srgbClr val="000000"/>
                          </a:solidFill>
                          <a:effectLst/>
                          <a:latin typeface="+mn-lt"/>
                          <a:ea typeface="+mn-ea"/>
                          <a:cs typeface="+mn-cs"/>
                        </a:rPr>
                        <a:t>雨刮高速档：不再抑制</a:t>
                      </a:r>
                      <a:r>
                        <a:rPr lang="en-US" altLang="zh-CN" sz="1200" b="0" i="0" kern="1200" dirty="0">
                          <a:solidFill>
                            <a:srgbClr val="000000"/>
                          </a:solidFill>
                          <a:effectLst/>
                          <a:latin typeface="+mn-lt"/>
                          <a:ea typeface="+mn-ea"/>
                          <a:cs typeface="+mn-cs"/>
                        </a:rPr>
                        <a:t>/</a:t>
                      </a:r>
                      <a:r>
                        <a:rPr lang="zh-CN" altLang="en-US" sz="1200" b="0" i="0" kern="1200" dirty="0">
                          <a:solidFill>
                            <a:srgbClr val="000000"/>
                          </a:solidFill>
                          <a:effectLst/>
                          <a:latin typeface="+mn-lt"/>
                          <a:ea typeface="+mn-ea"/>
                          <a:cs typeface="+mn-cs"/>
                        </a:rPr>
                        <a:t>退出功能；计时超</a:t>
                      </a:r>
                      <a:r>
                        <a:rPr lang="en-US" altLang="zh-CN" sz="1200" b="0" i="0" kern="1200" dirty="0">
                          <a:solidFill>
                            <a:srgbClr val="000000"/>
                          </a:solidFill>
                          <a:effectLst/>
                          <a:latin typeface="+mn-lt"/>
                          <a:ea typeface="+mn-ea"/>
                          <a:cs typeface="+mn-cs"/>
                        </a:rPr>
                        <a:t>10s</a:t>
                      </a:r>
                      <a:r>
                        <a:rPr lang="zh-CN" altLang="en-US" sz="1200" b="0" i="0" kern="1200" dirty="0">
                          <a:solidFill>
                            <a:srgbClr val="000000"/>
                          </a:solidFill>
                          <a:effectLst/>
                          <a:latin typeface="+mn-lt"/>
                          <a:ea typeface="+mn-ea"/>
                          <a:cs typeface="+mn-cs"/>
                        </a:rPr>
                        <a:t>后告警</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latinLnBrk="0">
                        <a:lnSpc>
                          <a:spcPts val="1600"/>
                        </a:lnSpc>
                        <a:buNone/>
                      </a:pPr>
                      <a:r>
                        <a:rPr lang="zh-CN" altLang="en-US" sz="1200" b="0" i="0" dirty="0">
                          <a:solidFill>
                            <a:srgbClr val="000000"/>
                          </a:solidFill>
                          <a:effectLst/>
                          <a:latin typeface="Arial" panose="020B0604020202020204" pitchFamily="34" charset="0"/>
                          <a:ea typeface="微软雅黑" panose="020B0503020204020204" pitchFamily="34" charset="-122"/>
                          <a:sym typeface="Arial" panose="020B0604020202020204" pitchFamily="34" charset="0"/>
                        </a:rPr>
                        <a:t>城区，高速</a:t>
                      </a:r>
                    </a:p>
                  </a:txBody>
                  <a:tcPr marL="8859" marR="8859" marT="4430" marB="443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latinLnBrk="0">
                        <a:lnSpc>
                          <a:spcPts val="1600"/>
                        </a:lnSpc>
                        <a:buNone/>
                      </a:pPr>
                      <a:r>
                        <a:rPr lang="en-US" sz="1200" b="0" i="0" dirty="0">
                          <a:solidFill>
                            <a:srgbClr val="000000"/>
                          </a:solidFill>
                          <a:effectLst/>
                          <a:latin typeface="Arial" panose="020B0604020202020204" pitchFamily="34" charset="0"/>
                          <a:ea typeface="微软雅黑" panose="020B0503020204020204" pitchFamily="34" charset="-122"/>
                          <a:sym typeface="Arial" panose="020B0604020202020204" pitchFamily="34" charset="0"/>
                        </a:rPr>
                        <a:t>NOA，</a:t>
                      </a:r>
                      <a:r>
                        <a:rPr lang="zh-CN" altLang="en-US" sz="1200" b="0" i="0" dirty="0">
                          <a:solidFill>
                            <a:srgbClr val="000000"/>
                          </a:solidFill>
                          <a:effectLst/>
                          <a:latin typeface="Arial" panose="020B0604020202020204" pitchFamily="34" charset="0"/>
                          <a:ea typeface="微软雅黑" panose="020B0503020204020204" pitchFamily="34" charset="-122"/>
                          <a:sym typeface="Arial" panose="020B0604020202020204" pitchFamily="34" charset="0"/>
                        </a:rPr>
                        <a:t>漫游</a:t>
                      </a:r>
                    </a:p>
                  </a:txBody>
                  <a:tcPr marL="8859" marR="8859" marT="4430" marB="443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latinLnBrk="0">
                        <a:lnSpc>
                          <a:spcPts val="1600"/>
                        </a:lnSpc>
                        <a:buNone/>
                      </a:pPr>
                      <a:r>
                        <a:rPr lang="en-US" sz="1200" b="0" i="0" dirty="0">
                          <a:solidFill>
                            <a:srgbClr val="000000"/>
                          </a:solidFill>
                          <a:effectLst/>
                          <a:latin typeface="Arial" panose="020B0604020202020204" pitchFamily="34" charset="0"/>
                          <a:ea typeface="微软雅黑" panose="020B0503020204020204" pitchFamily="34" charset="-122"/>
                          <a:sym typeface="Arial" panose="020B0604020202020204" pitchFamily="34" charset="0"/>
                        </a:rPr>
                        <a:t>SOP(530)</a:t>
                      </a:r>
                    </a:p>
                  </a:txBody>
                  <a:tcPr marL="8859" marR="8859" marT="4430" marB="443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906868649"/>
                  </a:ext>
                </a:extLst>
              </a:tr>
              <a:tr h="318919">
                <a:tc>
                  <a:txBody>
                    <a:bodyPr/>
                    <a:lstStyle/>
                    <a:p>
                      <a:pPr algn="ctr" fontAlgn="ctr" latinLnBrk="0">
                        <a:buNone/>
                      </a:pPr>
                      <a:r>
                        <a:rPr lang="zh-CN" altLang="en-US" sz="1100" b="0" i="0">
                          <a:solidFill>
                            <a:srgbClr val="000000"/>
                          </a:solidFill>
                          <a:effectLst/>
                        </a:rPr>
                        <a:t>人机共驾</a:t>
                      </a:r>
                    </a:p>
                  </a:txBody>
                  <a:tcPr anchor="ctr">
                    <a:lnT w="12700" cap="flat" cmpd="sng" algn="ctr">
                      <a:solidFill>
                        <a:schemeClr val="tx1"/>
                      </a:solidFill>
                      <a:prstDash val="solid"/>
                      <a:round/>
                      <a:headEnd type="none" w="med" len="med"/>
                      <a:tailEnd type="none" w="med" len="med"/>
                    </a:lnT>
                  </a:tcPr>
                </a:tc>
                <a:tc>
                  <a:txBody>
                    <a:bodyPr/>
                    <a:lstStyle/>
                    <a:p>
                      <a:pPr algn="ctr" fontAlgn="ctr" latinLnBrk="0">
                        <a:buNone/>
                      </a:pPr>
                      <a:r>
                        <a:rPr lang="zh-CN" altLang="en-US" sz="1100" b="0" i="0">
                          <a:solidFill>
                            <a:srgbClr val="000000"/>
                          </a:solidFill>
                          <a:effectLst/>
                        </a:rPr>
                        <a:t>纵向</a:t>
                      </a:r>
                      <a:r>
                        <a:rPr lang="en-US" sz="1100" b="0" i="0">
                          <a:solidFill>
                            <a:srgbClr val="000000"/>
                          </a:solidFill>
                          <a:effectLst/>
                        </a:rPr>
                        <a:t>Override</a:t>
                      </a:r>
                    </a:p>
                  </a:txBody>
                  <a:tcPr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171450" indent="-171450" algn="l" defTabSz="914400" rtl="0" eaLnBrk="1" fontAlgn="ctr" latinLnBrk="0" hangingPunct="1">
                        <a:buFont typeface="微软雅黑" panose="020B0503020204020204" pitchFamily="34" charset="-122"/>
                        <a:buChar char="￭"/>
                      </a:pPr>
                      <a:r>
                        <a:rPr lang="zh-CN" altLang="en-US" sz="1200" b="0" i="0" kern="1200" dirty="0">
                          <a:solidFill>
                            <a:srgbClr val="000000"/>
                          </a:solidFill>
                          <a:effectLst/>
                          <a:latin typeface="+mn-lt"/>
                          <a:ea typeface="+mn-ea"/>
                          <a:cs typeface="+mn-cs"/>
                        </a:rPr>
                        <a:t>驾驶员纵向踩油门，进行纵向速度控制。横向维持智驾控制。</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latinLnBrk="0">
                        <a:lnSpc>
                          <a:spcPts val="1600"/>
                        </a:lnSpc>
                        <a:buNone/>
                      </a:pPr>
                      <a:r>
                        <a:rPr lang="zh-CN" altLang="en-US" sz="1200" b="0" i="0" dirty="0">
                          <a:solidFill>
                            <a:srgbClr val="000000"/>
                          </a:solidFill>
                          <a:effectLst/>
                          <a:latin typeface="Arial" panose="020B0604020202020204" pitchFamily="34" charset="0"/>
                          <a:ea typeface="微软雅黑" panose="020B0503020204020204" pitchFamily="34" charset="-122"/>
                          <a:sym typeface="Arial" panose="020B0604020202020204" pitchFamily="34" charset="0"/>
                        </a:rPr>
                        <a:t>城区，高速</a:t>
                      </a:r>
                    </a:p>
                  </a:txBody>
                  <a:tcPr marL="8859" marR="8859" marT="4430" marB="443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latinLnBrk="0">
                        <a:lnSpc>
                          <a:spcPts val="1600"/>
                        </a:lnSpc>
                        <a:buNone/>
                      </a:pPr>
                      <a:r>
                        <a:rPr lang="en-US" sz="1200" b="0" i="0" dirty="0">
                          <a:solidFill>
                            <a:srgbClr val="000000"/>
                          </a:solidFill>
                          <a:effectLst/>
                          <a:latin typeface="Arial" panose="020B0604020202020204" pitchFamily="34" charset="0"/>
                          <a:ea typeface="微软雅黑" panose="020B0503020204020204" pitchFamily="34" charset="-122"/>
                          <a:sym typeface="Arial" panose="020B0604020202020204" pitchFamily="34" charset="0"/>
                        </a:rPr>
                        <a:t>NOA，</a:t>
                      </a:r>
                      <a:r>
                        <a:rPr lang="zh-CN" altLang="en-US" sz="1200" b="0" i="0" dirty="0">
                          <a:solidFill>
                            <a:srgbClr val="000000"/>
                          </a:solidFill>
                          <a:effectLst/>
                          <a:latin typeface="Arial" panose="020B0604020202020204" pitchFamily="34" charset="0"/>
                          <a:ea typeface="微软雅黑" panose="020B0503020204020204" pitchFamily="34" charset="-122"/>
                          <a:sym typeface="Arial" panose="020B0604020202020204" pitchFamily="34" charset="0"/>
                        </a:rPr>
                        <a:t>漫游</a:t>
                      </a:r>
                    </a:p>
                  </a:txBody>
                  <a:tcPr marL="8859" marR="8859" marT="4430" marB="443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latinLnBrk="0">
                        <a:lnSpc>
                          <a:spcPts val="1600"/>
                        </a:lnSpc>
                        <a:buNone/>
                      </a:pPr>
                      <a:r>
                        <a:rPr lang="en-US" altLang="zh-CN" sz="1200" b="0" i="0" dirty="0">
                          <a:solidFill>
                            <a:srgbClr val="000000"/>
                          </a:solidFill>
                          <a:effectLst/>
                          <a:latin typeface="Arial" panose="020B0604020202020204" pitchFamily="34" charset="0"/>
                          <a:ea typeface="微软雅黑" panose="020B0503020204020204" pitchFamily="34" charset="-122"/>
                          <a:sym typeface="Arial" panose="020B0604020202020204" pitchFamily="34" charset="0"/>
                        </a:rPr>
                        <a:t>SOP(530)</a:t>
                      </a:r>
                    </a:p>
                  </a:txBody>
                  <a:tcPr marL="8859" marR="8859" marT="4430" marB="443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861471814"/>
                  </a:ext>
                </a:extLst>
              </a:tr>
              <a:tr h="318919">
                <a:tc rowSpan="3">
                  <a:txBody>
                    <a:bodyPr/>
                    <a:lstStyle/>
                    <a:p>
                      <a:pPr algn="ctr" fontAlgn="ctr" latinLnBrk="0">
                        <a:buNone/>
                      </a:pPr>
                      <a:r>
                        <a:rPr lang="zh-CN" altLang="en-US" sz="1100" b="0" i="0">
                          <a:solidFill>
                            <a:srgbClr val="000000"/>
                          </a:solidFill>
                          <a:effectLst/>
                        </a:rPr>
                        <a:t>驾驶员设置</a:t>
                      </a:r>
                    </a:p>
                  </a:txBody>
                  <a:tcPr anchor="ctr"/>
                </a:tc>
                <a:tc>
                  <a:txBody>
                    <a:bodyPr/>
                    <a:lstStyle/>
                    <a:p>
                      <a:pPr algn="ctr" fontAlgn="ctr" latinLnBrk="0">
                        <a:buNone/>
                      </a:pPr>
                      <a:r>
                        <a:rPr lang="zh-CN" altLang="en-US" sz="1100" b="0" i="0" dirty="0">
                          <a:solidFill>
                            <a:srgbClr val="000000"/>
                          </a:solidFill>
                          <a:effectLst/>
                        </a:rPr>
                        <a:t>限速偏移</a:t>
                      </a:r>
                    </a:p>
                  </a:txBody>
                  <a:tcPr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171450" indent="-171450" algn="l" defTabSz="914400" rtl="0" eaLnBrk="1" fontAlgn="ctr" latinLnBrk="0" hangingPunct="1">
                        <a:buFont typeface="微软雅黑" panose="020B0503020204020204" pitchFamily="34" charset="-122"/>
                        <a:buChar char="￭"/>
                      </a:pPr>
                      <a:r>
                        <a:rPr lang="zh-CN" altLang="en-US" sz="1200" b="0" i="0" kern="1200" dirty="0">
                          <a:solidFill>
                            <a:srgbClr val="000000"/>
                          </a:solidFill>
                          <a:effectLst/>
                          <a:latin typeface="+mn-lt"/>
                          <a:ea typeface="+mn-ea"/>
                          <a:cs typeface="+mn-cs"/>
                        </a:rPr>
                        <a:t>用户可设置限速偏移（百分比</a:t>
                      </a:r>
                      <a:r>
                        <a:rPr lang="en-US" altLang="zh-CN" sz="1200" b="0" i="0" kern="1200" dirty="0">
                          <a:solidFill>
                            <a:srgbClr val="000000"/>
                          </a:solidFill>
                          <a:effectLst/>
                          <a:latin typeface="+mn-lt"/>
                          <a:ea typeface="+mn-ea"/>
                          <a:cs typeface="+mn-cs"/>
                        </a:rPr>
                        <a:t>/</a:t>
                      </a:r>
                      <a:r>
                        <a:rPr lang="zh-CN" altLang="en-US" sz="1200" b="0" i="0" kern="1200" dirty="0">
                          <a:solidFill>
                            <a:srgbClr val="000000"/>
                          </a:solidFill>
                          <a:effectLst/>
                          <a:latin typeface="+mn-lt"/>
                          <a:ea typeface="+mn-ea"/>
                          <a:cs typeface="+mn-cs"/>
                        </a:rPr>
                        <a:t>固定值）</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latinLnBrk="0">
                        <a:lnSpc>
                          <a:spcPts val="1600"/>
                        </a:lnSpc>
                        <a:buNone/>
                      </a:pPr>
                      <a:r>
                        <a:rPr lang="zh-CN" altLang="en-US" sz="1200" b="0" i="0" dirty="0">
                          <a:solidFill>
                            <a:srgbClr val="000000"/>
                          </a:solidFill>
                          <a:effectLst/>
                          <a:latin typeface="Arial" panose="020B0604020202020204" pitchFamily="34" charset="0"/>
                          <a:ea typeface="微软雅黑" panose="020B0503020204020204" pitchFamily="34" charset="-122"/>
                          <a:sym typeface="Arial" panose="020B0604020202020204" pitchFamily="34" charset="0"/>
                        </a:rPr>
                        <a:t>城区，高速</a:t>
                      </a:r>
                    </a:p>
                  </a:txBody>
                  <a:tcPr marL="8859" marR="8859" marT="4430" marB="443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latinLnBrk="0">
                        <a:lnSpc>
                          <a:spcPts val="1600"/>
                        </a:lnSpc>
                        <a:buNone/>
                      </a:pPr>
                      <a:r>
                        <a:rPr lang="en-US" sz="1200" b="0" i="0" dirty="0">
                          <a:solidFill>
                            <a:srgbClr val="000000"/>
                          </a:solidFill>
                          <a:effectLst/>
                          <a:latin typeface="Arial" panose="020B0604020202020204" pitchFamily="34" charset="0"/>
                          <a:ea typeface="微软雅黑" panose="020B0503020204020204" pitchFamily="34" charset="-122"/>
                          <a:sym typeface="Arial" panose="020B0604020202020204" pitchFamily="34" charset="0"/>
                        </a:rPr>
                        <a:t>NOA，</a:t>
                      </a:r>
                      <a:r>
                        <a:rPr lang="zh-CN" altLang="en-US" sz="1200" b="0" i="0" dirty="0">
                          <a:solidFill>
                            <a:srgbClr val="000000"/>
                          </a:solidFill>
                          <a:effectLst/>
                          <a:latin typeface="Arial" panose="020B0604020202020204" pitchFamily="34" charset="0"/>
                          <a:ea typeface="微软雅黑" panose="020B0503020204020204" pitchFamily="34" charset="-122"/>
                          <a:sym typeface="Arial" panose="020B0604020202020204" pitchFamily="34" charset="0"/>
                        </a:rPr>
                        <a:t>漫游</a:t>
                      </a:r>
                    </a:p>
                  </a:txBody>
                  <a:tcPr marL="8859" marR="8859" marT="4430" marB="443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latinLnBrk="0">
                        <a:lnSpc>
                          <a:spcPts val="1600"/>
                        </a:lnSpc>
                        <a:buNone/>
                      </a:pPr>
                      <a:r>
                        <a:rPr lang="en-US" altLang="zh-CN" sz="1200" b="0" i="0" dirty="0">
                          <a:solidFill>
                            <a:srgbClr val="000000"/>
                          </a:solidFill>
                          <a:effectLst/>
                          <a:latin typeface="Arial" panose="020B0604020202020204" pitchFamily="34" charset="0"/>
                          <a:ea typeface="微软雅黑" panose="020B0503020204020204" pitchFamily="34" charset="-122"/>
                          <a:sym typeface="Arial" panose="020B0604020202020204" pitchFamily="34" charset="0"/>
                        </a:rPr>
                        <a:t>SOP(530)</a:t>
                      </a:r>
                    </a:p>
                  </a:txBody>
                  <a:tcPr marL="8859" marR="8859" marT="4430" marB="443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55480354"/>
                  </a:ext>
                </a:extLst>
              </a:tr>
              <a:tr h="318919">
                <a:tc vMerge="1">
                  <a:txBody>
                    <a:bodyPr/>
                    <a:lstStyle/>
                    <a:p>
                      <a:endParaRPr lang="zh-CN" altLang="en-US"/>
                    </a:p>
                  </a:txBody>
                  <a:tcPr/>
                </a:tc>
                <a:tc>
                  <a:txBody>
                    <a:bodyPr/>
                    <a:lstStyle/>
                    <a:p>
                      <a:pPr algn="ctr" fontAlgn="ctr" latinLnBrk="0">
                        <a:buNone/>
                      </a:pPr>
                      <a:r>
                        <a:rPr lang="zh-CN" altLang="en-US" sz="1100" b="0" i="0" dirty="0">
                          <a:solidFill>
                            <a:srgbClr val="000000"/>
                          </a:solidFill>
                          <a:effectLst/>
                        </a:rPr>
                        <a:t>时距调节</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171450" indent="-171450" algn="l" defTabSz="914400" rtl="0" eaLnBrk="1" fontAlgn="ctr" latinLnBrk="0" hangingPunct="1">
                        <a:buFont typeface="微软雅黑" panose="020B0503020204020204" pitchFamily="34" charset="-122"/>
                        <a:buChar char="￭"/>
                      </a:pPr>
                      <a:r>
                        <a:rPr lang="zh-CN" altLang="en-US" sz="1200" b="0" i="0" kern="1200" dirty="0">
                          <a:solidFill>
                            <a:srgbClr val="000000"/>
                          </a:solidFill>
                          <a:effectLst/>
                          <a:latin typeface="+mn-lt"/>
                          <a:ea typeface="+mn-ea"/>
                          <a:cs typeface="+mn-cs"/>
                        </a:rPr>
                        <a:t>五档时距调节</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latinLnBrk="0">
                        <a:lnSpc>
                          <a:spcPts val="1600"/>
                        </a:lnSpc>
                        <a:buNone/>
                      </a:pPr>
                      <a:r>
                        <a:rPr lang="zh-CN" altLang="en-US" sz="1200" b="0" i="0" dirty="0">
                          <a:solidFill>
                            <a:srgbClr val="000000"/>
                          </a:solidFill>
                          <a:effectLst/>
                          <a:latin typeface="Arial" panose="020B0604020202020204" pitchFamily="34" charset="0"/>
                          <a:ea typeface="微软雅黑" panose="020B0503020204020204" pitchFamily="34" charset="-122"/>
                          <a:sym typeface="Arial" panose="020B0604020202020204" pitchFamily="34" charset="0"/>
                        </a:rPr>
                        <a:t>城区，高速</a:t>
                      </a:r>
                    </a:p>
                  </a:txBody>
                  <a:tcPr marL="8859" marR="8859" marT="4430" marB="443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latinLnBrk="0">
                        <a:lnSpc>
                          <a:spcPts val="1600"/>
                        </a:lnSpc>
                        <a:buNone/>
                      </a:pPr>
                      <a:r>
                        <a:rPr lang="en-US" altLang="zh-CN" sz="1200" b="0" i="0" dirty="0">
                          <a:solidFill>
                            <a:srgbClr val="000000"/>
                          </a:solidFill>
                          <a:effectLst/>
                          <a:latin typeface="Arial" panose="020B0604020202020204" pitchFamily="34" charset="0"/>
                          <a:ea typeface="微软雅黑" panose="020B0503020204020204" pitchFamily="34" charset="-122"/>
                          <a:sym typeface="Arial" panose="020B0604020202020204" pitchFamily="34" charset="0"/>
                        </a:rPr>
                        <a:t>NOA，</a:t>
                      </a:r>
                      <a:r>
                        <a:rPr lang="zh-CN" altLang="en-US" sz="1200" b="0" i="0" dirty="0">
                          <a:solidFill>
                            <a:srgbClr val="000000"/>
                          </a:solidFill>
                          <a:effectLst/>
                          <a:latin typeface="Arial" panose="020B0604020202020204" pitchFamily="34" charset="0"/>
                          <a:ea typeface="微软雅黑" panose="020B0503020204020204" pitchFamily="34" charset="-122"/>
                          <a:sym typeface="Arial" panose="020B0604020202020204" pitchFamily="34" charset="0"/>
                        </a:rPr>
                        <a:t>漫游</a:t>
                      </a:r>
                    </a:p>
                  </a:txBody>
                  <a:tcPr marL="8859" marR="8859" marT="4430" marB="443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latinLnBrk="0">
                        <a:lnSpc>
                          <a:spcPts val="1600"/>
                        </a:lnSpc>
                        <a:buNone/>
                      </a:pPr>
                      <a:r>
                        <a:rPr lang="en-US" altLang="zh-CN" sz="1200" b="0" i="0" dirty="0">
                          <a:solidFill>
                            <a:srgbClr val="000000"/>
                          </a:solidFill>
                          <a:effectLst/>
                          <a:latin typeface="Arial" panose="020B0604020202020204" pitchFamily="34" charset="0"/>
                          <a:ea typeface="微软雅黑" panose="020B0503020204020204" pitchFamily="34" charset="-122"/>
                          <a:sym typeface="Arial" panose="020B0604020202020204" pitchFamily="34" charset="0"/>
                        </a:rPr>
                        <a:t>OTA(830)</a:t>
                      </a:r>
                    </a:p>
                  </a:txBody>
                  <a:tcPr marL="8859" marR="8859" marT="4430" marB="443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644749894"/>
                  </a:ext>
                </a:extLst>
              </a:tr>
              <a:tr h="531532">
                <a:tc vMerge="1">
                  <a:txBody>
                    <a:bodyPr/>
                    <a:lstStyle/>
                    <a:p>
                      <a:endParaRPr lang="zh-CN" altLang="en-US"/>
                    </a:p>
                  </a:txBody>
                  <a:tcPr/>
                </a:tc>
                <a:tc>
                  <a:txBody>
                    <a:bodyPr/>
                    <a:lstStyle/>
                    <a:p>
                      <a:pPr algn="ctr" fontAlgn="ctr" latinLnBrk="0">
                        <a:buNone/>
                      </a:pPr>
                      <a:r>
                        <a:rPr lang="zh-CN" altLang="en-US" sz="1100" b="0" i="0">
                          <a:solidFill>
                            <a:srgbClr val="000000"/>
                          </a:solidFill>
                          <a:effectLst/>
                        </a:rPr>
                        <a:t>智驾风格</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171450" indent="-171450" algn="l" defTabSz="914400" rtl="0" eaLnBrk="1" fontAlgn="ctr" latinLnBrk="0" hangingPunct="1">
                        <a:buFont typeface="微软雅黑" panose="020B0503020204020204" pitchFamily="34" charset="-122"/>
                        <a:buChar char="￭"/>
                      </a:pPr>
                      <a:r>
                        <a:rPr lang="zh-CN" altLang="en-US" sz="1200" b="0" i="0" kern="1200" dirty="0">
                          <a:solidFill>
                            <a:srgbClr val="000000"/>
                          </a:solidFill>
                          <a:effectLst/>
                          <a:latin typeface="+mn-lt"/>
                          <a:ea typeface="+mn-ea"/>
                          <a:cs typeface="+mn-cs"/>
                        </a:rPr>
                        <a:t>三种智驾风格（柔和</a:t>
                      </a:r>
                      <a:r>
                        <a:rPr lang="en-US" altLang="zh-CN" sz="1200" b="0" i="0" kern="1200" dirty="0">
                          <a:solidFill>
                            <a:srgbClr val="000000"/>
                          </a:solidFill>
                          <a:effectLst/>
                          <a:latin typeface="+mn-lt"/>
                          <a:ea typeface="+mn-ea"/>
                          <a:cs typeface="+mn-cs"/>
                        </a:rPr>
                        <a:t>/</a:t>
                      </a:r>
                      <a:r>
                        <a:rPr lang="zh-CN" altLang="en-US" sz="1200" b="0" i="0" kern="1200" dirty="0">
                          <a:solidFill>
                            <a:srgbClr val="000000"/>
                          </a:solidFill>
                          <a:effectLst/>
                          <a:latin typeface="+mn-lt"/>
                          <a:ea typeface="+mn-ea"/>
                          <a:cs typeface="+mn-cs"/>
                        </a:rPr>
                        <a:t>标准</a:t>
                      </a:r>
                      <a:r>
                        <a:rPr lang="en-US" altLang="zh-CN" sz="1200" b="0" i="0" kern="1200" dirty="0">
                          <a:solidFill>
                            <a:srgbClr val="000000"/>
                          </a:solidFill>
                          <a:effectLst/>
                          <a:latin typeface="+mn-lt"/>
                          <a:ea typeface="+mn-ea"/>
                          <a:cs typeface="+mn-cs"/>
                        </a:rPr>
                        <a:t>/</a:t>
                      </a:r>
                      <a:r>
                        <a:rPr lang="zh-CN" altLang="en-US" sz="1200" b="0" i="0" kern="1200" dirty="0">
                          <a:solidFill>
                            <a:srgbClr val="000000"/>
                          </a:solidFill>
                          <a:effectLst/>
                          <a:latin typeface="+mn-lt"/>
                          <a:ea typeface="+mn-ea"/>
                          <a:cs typeface="+mn-cs"/>
                        </a:rPr>
                        <a:t>敏捷）：调节巡航、跟车、变道的横纵向加减速风格</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latinLnBrk="0">
                        <a:lnSpc>
                          <a:spcPts val="1600"/>
                        </a:lnSpc>
                        <a:buNone/>
                      </a:pPr>
                      <a:r>
                        <a:rPr lang="zh-CN" altLang="en-US" sz="1200" b="0" i="0" dirty="0">
                          <a:solidFill>
                            <a:srgbClr val="000000"/>
                          </a:solidFill>
                          <a:effectLst/>
                          <a:latin typeface="Arial" panose="020B0604020202020204" pitchFamily="34" charset="0"/>
                          <a:ea typeface="微软雅黑" panose="020B0503020204020204" pitchFamily="34" charset="-122"/>
                          <a:sym typeface="Arial" panose="020B0604020202020204" pitchFamily="34" charset="0"/>
                        </a:rPr>
                        <a:t>城区，高速</a:t>
                      </a:r>
                    </a:p>
                  </a:txBody>
                  <a:tcPr marL="8859" marR="8859" marT="4430" marB="443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latinLnBrk="0">
                        <a:lnSpc>
                          <a:spcPts val="1600"/>
                        </a:lnSpc>
                        <a:buNone/>
                      </a:pPr>
                      <a:r>
                        <a:rPr lang="en-US" sz="1200" b="0" i="0" dirty="0">
                          <a:solidFill>
                            <a:srgbClr val="000000"/>
                          </a:solidFill>
                          <a:effectLst/>
                          <a:latin typeface="Arial" panose="020B0604020202020204" pitchFamily="34" charset="0"/>
                          <a:ea typeface="微软雅黑" panose="020B0503020204020204" pitchFamily="34" charset="-122"/>
                          <a:sym typeface="Arial" panose="020B0604020202020204" pitchFamily="34" charset="0"/>
                        </a:rPr>
                        <a:t>NOA，</a:t>
                      </a:r>
                      <a:r>
                        <a:rPr lang="zh-CN" altLang="en-US" sz="1200" b="0" i="0" dirty="0">
                          <a:solidFill>
                            <a:srgbClr val="000000"/>
                          </a:solidFill>
                          <a:effectLst/>
                          <a:latin typeface="Arial" panose="020B0604020202020204" pitchFamily="34" charset="0"/>
                          <a:ea typeface="微软雅黑" panose="020B0503020204020204" pitchFamily="34" charset="-122"/>
                          <a:sym typeface="Arial" panose="020B0604020202020204" pitchFamily="34" charset="0"/>
                        </a:rPr>
                        <a:t>漫游</a:t>
                      </a:r>
                    </a:p>
                  </a:txBody>
                  <a:tcPr marL="8859" marR="8859" marT="4430" marB="443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latinLnBrk="0">
                        <a:lnSpc>
                          <a:spcPts val="1600"/>
                        </a:lnSpc>
                        <a:buNone/>
                      </a:pPr>
                      <a:r>
                        <a:rPr lang="en-US" sz="1200" b="0" i="0" dirty="0">
                          <a:solidFill>
                            <a:srgbClr val="000000"/>
                          </a:solidFill>
                          <a:effectLst/>
                          <a:latin typeface="Arial" panose="020B0604020202020204" pitchFamily="34" charset="0"/>
                          <a:ea typeface="微软雅黑" panose="020B0503020204020204" pitchFamily="34" charset="-122"/>
                          <a:sym typeface="Arial" panose="020B0604020202020204" pitchFamily="34" charset="0"/>
                        </a:rPr>
                        <a:t>OTA(830)</a:t>
                      </a:r>
                    </a:p>
                  </a:txBody>
                  <a:tcPr marL="8859" marR="8859" marT="4430" marB="443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589569800"/>
                  </a:ext>
                </a:extLst>
              </a:tr>
              <a:tr h="531532">
                <a:tc rowSpan="2">
                  <a:txBody>
                    <a:bodyPr/>
                    <a:lstStyle/>
                    <a:p>
                      <a:pPr algn="ctr" fontAlgn="ctr" latinLnBrk="0">
                        <a:buNone/>
                      </a:pPr>
                      <a:r>
                        <a:rPr lang="zh-CN" altLang="en-US" sz="1100" b="0" i="0">
                          <a:solidFill>
                            <a:srgbClr val="000000"/>
                          </a:solidFill>
                          <a:effectLst/>
                        </a:rPr>
                        <a:t>提醒功能</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noFill/>
                  </a:tcPr>
                </a:tc>
                <a:tc>
                  <a:txBody>
                    <a:bodyPr/>
                    <a:lstStyle/>
                    <a:p>
                      <a:pPr algn="ctr" fontAlgn="ctr" latinLnBrk="0">
                        <a:buNone/>
                      </a:pPr>
                      <a:r>
                        <a:rPr lang="zh-CN" altLang="en-US" sz="1100" b="0" i="0">
                          <a:solidFill>
                            <a:srgbClr val="000000"/>
                          </a:solidFill>
                          <a:effectLst/>
                        </a:rPr>
                        <a:t>人驾起步提醒</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171450" indent="-171450" algn="l" defTabSz="914400" rtl="0" eaLnBrk="1" fontAlgn="ctr" latinLnBrk="0" hangingPunct="1">
                        <a:buFont typeface="微软雅黑" panose="020B0503020204020204" pitchFamily="34" charset="-122"/>
                        <a:buChar char="￭"/>
                      </a:pPr>
                      <a:r>
                        <a:rPr lang="zh-CN" altLang="en-US" sz="1200" b="0" i="0" kern="1200" dirty="0">
                          <a:solidFill>
                            <a:srgbClr val="000000"/>
                          </a:solidFill>
                          <a:effectLst/>
                          <a:latin typeface="+mn-lt"/>
                          <a:ea typeface="+mn-ea"/>
                          <a:cs typeface="+mn-cs"/>
                        </a:rPr>
                        <a:t>当自车在完全停止状态下，前车开始起步向前行驶时，驾驶员因短暂分心而未能及时察觉前车已起步，系统会及时发出提示。</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latinLnBrk="0">
                        <a:lnSpc>
                          <a:spcPts val="1600"/>
                        </a:lnSpc>
                        <a:buNone/>
                      </a:pPr>
                      <a:r>
                        <a:rPr lang="zh-CN" altLang="en-US" sz="1200" b="0" i="0" dirty="0">
                          <a:solidFill>
                            <a:srgbClr val="000000"/>
                          </a:solidFill>
                          <a:effectLst/>
                          <a:latin typeface="Arial" panose="020B0604020202020204" pitchFamily="34" charset="0"/>
                          <a:ea typeface="微软雅黑" panose="020B0503020204020204" pitchFamily="34" charset="-122"/>
                          <a:sym typeface="Arial" panose="020B0604020202020204" pitchFamily="34" charset="0"/>
                        </a:rPr>
                        <a:t>城区，高速</a:t>
                      </a:r>
                    </a:p>
                  </a:txBody>
                  <a:tcPr marL="8859" marR="8859" marT="4430" marB="443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latinLnBrk="0">
                        <a:lnSpc>
                          <a:spcPts val="1600"/>
                        </a:lnSpc>
                        <a:buNone/>
                      </a:pPr>
                      <a:r>
                        <a:rPr lang="zh-CN" altLang="en-US" sz="1200" b="0" i="0" dirty="0">
                          <a:solidFill>
                            <a:srgbClr val="000000"/>
                          </a:solidFill>
                          <a:effectLst/>
                          <a:latin typeface="Arial" panose="020B0604020202020204" pitchFamily="34" charset="0"/>
                          <a:ea typeface="微软雅黑" panose="020B0503020204020204" pitchFamily="34" charset="-122"/>
                          <a:sym typeface="Arial" panose="020B0604020202020204" pitchFamily="34" charset="0"/>
                        </a:rPr>
                        <a:t>人驾</a:t>
                      </a:r>
                    </a:p>
                  </a:txBody>
                  <a:tcPr marL="8859" marR="8859" marT="4430" marB="443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latinLnBrk="0">
                        <a:lnSpc>
                          <a:spcPts val="1600"/>
                        </a:lnSpc>
                        <a:buNone/>
                      </a:pPr>
                      <a:r>
                        <a:rPr lang="en-US" sz="1200" b="0" i="0" dirty="0">
                          <a:effectLst/>
                          <a:latin typeface="Arial" panose="020B0604020202020204" pitchFamily="34" charset="0"/>
                          <a:ea typeface="微软雅黑" panose="020B0503020204020204" pitchFamily="34" charset="-122"/>
                          <a:sym typeface="Arial" panose="020B0604020202020204" pitchFamily="34" charset="0"/>
                        </a:rPr>
                        <a:t>SOP(530)</a:t>
                      </a:r>
                    </a:p>
                  </a:txBody>
                  <a:tcPr marL="8859" marR="8859" marT="4430" marB="443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291415298"/>
                  </a:ext>
                </a:extLst>
              </a:tr>
              <a:tr h="744144">
                <a:tc vMerge="1">
                  <a:txBody>
                    <a:bodyPr/>
                    <a:lstStyle/>
                    <a:p>
                      <a:endParaRPr lang="zh-CN" altLang="en-US"/>
                    </a:p>
                  </a:txBody>
                  <a:tcPr/>
                </a:tc>
                <a:tc>
                  <a:txBody>
                    <a:bodyPr/>
                    <a:lstStyle/>
                    <a:p>
                      <a:pPr algn="ctr" fontAlgn="ctr" latinLnBrk="0">
                        <a:buNone/>
                      </a:pPr>
                      <a:r>
                        <a:rPr lang="zh-CN" altLang="en-US" sz="1100" b="0" i="0">
                          <a:solidFill>
                            <a:srgbClr val="000000"/>
                          </a:solidFill>
                          <a:effectLst/>
                        </a:rPr>
                        <a:t>主动闪灯</a:t>
                      </a:r>
                      <a:r>
                        <a:rPr lang="en-US" altLang="zh-CN" sz="1100" b="0" i="0">
                          <a:solidFill>
                            <a:srgbClr val="000000"/>
                          </a:solidFill>
                          <a:effectLst/>
                        </a:rPr>
                        <a:t>/</a:t>
                      </a:r>
                      <a:r>
                        <a:rPr lang="zh-CN" altLang="en-US" sz="1100" b="0" i="0">
                          <a:solidFill>
                            <a:srgbClr val="000000"/>
                          </a:solidFill>
                          <a:effectLst/>
                        </a:rPr>
                        <a:t>鸣笛</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171450" indent="-171450" algn="l" defTabSz="914400" rtl="0" eaLnBrk="1" fontAlgn="ctr" latinLnBrk="0" hangingPunct="1">
                        <a:buFont typeface="微软雅黑" panose="020B0503020204020204" pitchFamily="34" charset="-122"/>
                        <a:buChar char="￭"/>
                      </a:pPr>
                      <a:r>
                        <a:rPr lang="zh-CN" altLang="en-US" sz="1200" b="0" i="0" kern="1200" dirty="0">
                          <a:solidFill>
                            <a:srgbClr val="000000"/>
                          </a:solidFill>
                          <a:effectLst/>
                          <a:latin typeface="+mn-lt"/>
                          <a:ea typeface="+mn-ea"/>
                          <a:cs typeface="+mn-cs"/>
                        </a:rPr>
                        <a:t>系统可通过喇叭</a:t>
                      </a:r>
                      <a:r>
                        <a:rPr lang="en-US" altLang="zh-CN" sz="1200" b="0" i="0" kern="1200" dirty="0">
                          <a:solidFill>
                            <a:srgbClr val="000000"/>
                          </a:solidFill>
                          <a:effectLst/>
                          <a:latin typeface="+mn-lt"/>
                          <a:ea typeface="+mn-ea"/>
                          <a:cs typeface="+mn-cs"/>
                        </a:rPr>
                        <a:t>+</a:t>
                      </a:r>
                      <a:r>
                        <a:rPr lang="zh-CN" altLang="en-US" sz="1200" b="0" i="0" kern="1200" dirty="0">
                          <a:solidFill>
                            <a:srgbClr val="000000"/>
                          </a:solidFill>
                          <a:effectLst/>
                          <a:latin typeface="+mn-lt"/>
                          <a:ea typeface="+mn-ea"/>
                          <a:cs typeface="+mn-cs"/>
                        </a:rPr>
                        <a:t>远近光灯闪烁，来提示交通参与者：</a:t>
                      </a:r>
                      <a:br>
                        <a:rPr lang="zh-CN" altLang="en-US" sz="1200" b="0" i="0" kern="1200" dirty="0">
                          <a:solidFill>
                            <a:srgbClr val="000000"/>
                          </a:solidFill>
                          <a:effectLst/>
                          <a:latin typeface="+mn-lt"/>
                          <a:ea typeface="+mn-ea"/>
                          <a:cs typeface="+mn-cs"/>
                        </a:rPr>
                      </a:br>
                      <a:r>
                        <a:rPr lang="zh-CN" altLang="en-US" sz="1200" b="0" i="0" kern="1200" dirty="0">
                          <a:solidFill>
                            <a:srgbClr val="000000"/>
                          </a:solidFill>
                          <a:effectLst/>
                          <a:latin typeface="+mn-lt"/>
                          <a:ea typeface="+mn-ea"/>
                          <a:cs typeface="+mn-cs"/>
                        </a:rPr>
                        <a:t>（</a:t>
                      </a:r>
                      <a:r>
                        <a:rPr lang="en-US" altLang="zh-CN" sz="1200" b="0" i="0" kern="1200" dirty="0">
                          <a:solidFill>
                            <a:srgbClr val="000000"/>
                          </a:solidFill>
                          <a:effectLst/>
                          <a:latin typeface="+mn-lt"/>
                          <a:ea typeface="+mn-ea"/>
                          <a:cs typeface="+mn-cs"/>
                        </a:rPr>
                        <a:t>1</a:t>
                      </a:r>
                      <a:r>
                        <a:rPr lang="zh-CN" altLang="en-US" sz="1200" b="0" i="0" kern="1200" dirty="0">
                          <a:solidFill>
                            <a:srgbClr val="000000"/>
                          </a:solidFill>
                          <a:effectLst/>
                          <a:latin typeface="+mn-lt"/>
                          <a:ea typeface="+mn-ea"/>
                          <a:cs typeface="+mn-cs"/>
                        </a:rPr>
                        <a:t>）紧急</a:t>
                      </a:r>
                      <a:r>
                        <a:rPr lang="en-US" altLang="zh-CN" sz="1200" b="0" i="0" kern="1200" dirty="0">
                          <a:solidFill>
                            <a:srgbClr val="000000"/>
                          </a:solidFill>
                          <a:effectLst/>
                          <a:latin typeface="+mn-lt"/>
                          <a:ea typeface="+mn-ea"/>
                          <a:cs typeface="+mn-cs"/>
                        </a:rPr>
                        <a:t>cut-in</a:t>
                      </a:r>
                      <a:r>
                        <a:rPr lang="zh-CN" altLang="en-US" sz="1200" b="0" i="0" kern="1200" dirty="0">
                          <a:solidFill>
                            <a:srgbClr val="000000"/>
                          </a:solidFill>
                          <a:effectLst/>
                          <a:latin typeface="+mn-lt"/>
                          <a:ea typeface="+mn-ea"/>
                          <a:cs typeface="+mn-cs"/>
                        </a:rPr>
                        <a:t>鸣笛：高速</a:t>
                      </a:r>
                      <a:r>
                        <a:rPr lang="en-US" altLang="zh-CN" sz="1200" b="0" i="0" kern="1200" dirty="0">
                          <a:solidFill>
                            <a:srgbClr val="000000"/>
                          </a:solidFill>
                          <a:effectLst/>
                          <a:latin typeface="+mn-lt"/>
                          <a:ea typeface="+mn-ea"/>
                          <a:cs typeface="+mn-cs"/>
                        </a:rPr>
                        <a:t>+</a:t>
                      </a:r>
                      <a:r>
                        <a:rPr lang="zh-CN" altLang="en-US" sz="1200" b="0" i="0" kern="1200" dirty="0">
                          <a:solidFill>
                            <a:srgbClr val="000000"/>
                          </a:solidFill>
                          <a:effectLst/>
                          <a:latin typeface="+mn-lt"/>
                          <a:ea typeface="+mn-ea"/>
                          <a:cs typeface="+mn-cs"/>
                        </a:rPr>
                        <a:t>前车快速近距离</a:t>
                      </a:r>
                      <a:r>
                        <a:rPr lang="en-US" altLang="zh-CN" sz="1200" b="0" i="0" kern="1200" dirty="0" err="1">
                          <a:solidFill>
                            <a:srgbClr val="000000"/>
                          </a:solidFill>
                          <a:effectLst/>
                          <a:latin typeface="+mn-lt"/>
                          <a:ea typeface="+mn-ea"/>
                          <a:cs typeface="+mn-cs"/>
                        </a:rPr>
                        <a:t>cutin</a:t>
                      </a:r>
                      <a:r>
                        <a:rPr lang="en-US" altLang="zh-CN" sz="1200" b="0" i="0" kern="1200" dirty="0">
                          <a:solidFill>
                            <a:srgbClr val="000000"/>
                          </a:solidFill>
                          <a:effectLst/>
                          <a:latin typeface="+mn-lt"/>
                          <a:ea typeface="+mn-ea"/>
                          <a:cs typeface="+mn-cs"/>
                        </a:rPr>
                        <a:t>+</a:t>
                      </a:r>
                      <a:r>
                        <a:rPr lang="zh-CN" altLang="en-US" sz="1200" b="0" i="0" kern="1200" dirty="0">
                          <a:solidFill>
                            <a:srgbClr val="000000"/>
                          </a:solidFill>
                          <a:effectLst/>
                          <a:latin typeface="+mn-lt"/>
                          <a:ea typeface="+mn-ea"/>
                          <a:cs typeface="+mn-cs"/>
                        </a:rPr>
                        <a:t>自车需要急减速</a:t>
                      </a:r>
                      <a:br>
                        <a:rPr lang="zh-CN" altLang="en-US" sz="1200" b="0" i="0" kern="1200" dirty="0">
                          <a:solidFill>
                            <a:srgbClr val="000000"/>
                          </a:solidFill>
                          <a:effectLst/>
                          <a:latin typeface="+mn-lt"/>
                          <a:ea typeface="+mn-ea"/>
                          <a:cs typeface="+mn-cs"/>
                        </a:rPr>
                      </a:br>
                      <a:r>
                        <a:rPr lang="zh-CN" altLang="en-US" sz="1200" b="0" i="0" kern="1200" dirty="0">
                          <a:solidFill>
                            <a:srgbClr val="000000"/>
                          </a:solidFill>
                          <a:effectLst/>
                          <a:latin typeface="+mn-lt"/>
                          <a:ea typeface="+mn-ea"/>
                          <a:cs typeface="+mn-cs"/>
                        </a:rPr>
                        <a:t>（</a:t>
                      </a:r>
                      <a:r>
                        <a:rPr lang="en-US" altLang="zh-CN" sz="1200" b="0" i="0" kern="1200" dirty="0">
                          <a:solidFill>
                            <a:srgbClr val="000000"/>
                          </a:solidFill>
                          <a:effectLst/>
                          <a:latin typeface="+mn-lt"/>
                          <a:ea typeface="+mn-ea"/>
                          <a:cs typeface="+mn-cs"/>
                        </a:rPr>
                        <a:t>2</a:t>
                      </a:r>
                      <a:r>
                        <a:rPr lang="zh-CN" altLang="en-US" sz="1200" b="0" i="0" kern="1200" dirty="0">
                          <a:solidFill>
                            <a:srgbClr val="000000"/>
                          </a:solidFill>
                          <a:effectLst/>
                          <a:latin typeface="+mn-lt"/>
                          <a:ea typeface="+mn-ea"/>
                          <a:cs typeface="+mn-cs"/>
                        </a:rPr>
                        <a:t>）夜间高速超大车打灯</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latinLnBrk="0">
                        <a:lnSpc>
                          <a:spcPts val="1600"/>
                        </a:lnSpc>
                        <a:buNone/>
                      </a:pPr>
                      <a:r>
                        <a:rPr lang="zh-CN" altLang="en-US" sz="1200" b="0" i="0" dirty="0">
                          <a:solidFill>
                            <a:srgbClr val="000000"/>
                          </a:solidFill>
                          <a:effectLst/>
                          <a:latin typeface="Arial" panose="020B0604020202020204" pitchFamily="34" charset="0"/>
                          <a:ea typeface="微软雅黑" panose="020B0503020204020204" pitchFamily="34" charset="-122"/>
                          <a:sym typeface="Arial" panose="020B0604020202020204" pitchFamily="34" charset="0"/>
                        </a:rPr>
                        <a:t>城区，高速</a:t>
                      </a:r>
                    </a:p>
                  </a:txBody>
                  <a:tcPr marL="8859" marR="8859" marT="4430" marB="443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latinLnBrk="0">
                        <a:lnSpc>
                          <a:spcPts val="1600"/>
                        </a:lnSpc>
                        <a:buNone/>
                      </a:pPr>
                      <a:r>
                        <a:rPr lang="en-US" sz="1200" b="0" i="0" dirty="0">
                          <a:solidFill>
                            <a:srgbClr val="000000"/>
                          </a:solidFill>
                          <a:effectLst/>
                          <a:latin typeface="Arial" panose="020B0604020202020204" pitchFamily="34" charset="0"/>
                          <a:ea typeface="微软雅黑" panose="020B0503020204020204" pitchFamily="34" charset="-122"/>
                          <a:sym typeface="Arial" panose="020B0604020202020204" pitchFamily="34" charset="0"/>
                        </a:rPr>
                        <a:t>NOA，</a:t>
                      </a:r>
                      <a:r>
                        <a:rPr lang="zh-CN" altLang="en-US" sz="1200" b="0" i="0" dirty="0">
                          <a:solidFill>
                            <a:srgbClr val="000000"/>
                          </a:solidFill>
                          <a:effectLst/>
                          <a:latin typeface="Arial" panose="020B0604020202020204" pitchFamily="34" charset="0"/>
                          <a:ea typeface="微软雅黑" panose="020B0503020204020204" pitchFamily="34" charset="-122"/>
                          <a:sym typeface="Arial" panose="020B0604020202020204" pitchFamily="34" charset="0"/>
                        </a:rPr>
                        <a:t>漫游</a:t>
                      </a:r>
                    </a:p>
                  </a:txBody>
                  <a:tcPr marL="8859" marR="8859" marT="4430" marB="443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latinLnBrk="0">
                        <a:lnSpc>
                          <a:spcPts val="1600"/>
                        </a:lnSpc>
                        <a:buNone/>
                      </a:pPr>
                      <a:r>
                        <a:rPr lang="en-US" altLang="zh-CN" sz="1200" b="0" i="0" dirty="0">
                          <a:solidFill>
                            <a:srgbClr val="000000"/>
                          </a:solidFill>
                          <a:effectLst/>
                          <a:latin typeface="Arial" panose="020B0604020202020204" pitchFamily="34" charset="0"/>
                          <a:ea typeface="微软雅黑" panose="020B0503020204020204" pitchFamily="34" charset="-122"/>
                          <a:sym typeface="Arial" panose="020B0604020202020204" pitchFamily="34" charset="0"/>
                        </a:rPr>
                        <a:t>OTA(830)</a:t>
                      </a:r>
                    </a:p>
                  </a:txBody>
                  <a:tcPr marL="8859" marR="8859" marT="4430" marB="443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291756519"/>
                  </a:ext>
                </a:extLst>
              </a:tr>
            </a:tbl>
          </a:graphicData>
        </a:graphic>
      </p:graphicFrame>
    </p:spTree>
    <p:extLst>
      <p:ext uri="{BB962C8B-B14F-4D97-AF65-F5344CB8AC3E}">
        <p14:creationId xmlns:p14="http://schemas.microsoft.com/office/powerpoint/2010/main" val="106308541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0B4571A7-0608-4CA0-91C4-DD76FEAC2393}" type="datetime1">
              <a:rPr kumimoji="0" lang="zh-CN" altLang="en-US" sz="800" b="0" i="0" u="none" strike="noStrike" kern="1200" cap="none" spc="0" normalizeH="0" baseline="0" noProof="0" smtClean="0">
                <a:ln>
                  <a:noFill/>
                </a:ln>
                <a:solidFill>
                  <a:srgbClr val="131319"/>
                </a:solidFill>
                <a:effectLst/>
                <a:uLnTx/>
                <a:uFillTx/>
                <a:latin typeface="Arial" panose="020B0604020202020204" pitchFamily="34" charset="0"/>
                <a:ea typeface="微软雅黑" panose="020B0503020204020204" pitchFamily="34" charset="-122"/>
                <a:sym typeface="Arial" panose="020B0604020202020204" pitchFamily="34" charset="0"/>
              </a:rPr>
              <a:t>2026/2/10</a:t>
            </a:fld>
            <a:endParaRPr kumimoji="0" lang="en-US" altLang="en-US" sz="800" b="0" i="0" u="none" strike="noStrike" kern="1200" cap="none" spc="0" normalizeH="0" baseline="0" noProof="0" dirty="0">
              <a:ln>
                <a:noFill/>
              </a:ln>
              <a:solidFill>
                <a:srgbClr val="131319"/>
              </a:solidFill>
              <a:effectLst/>
              <a:uLnTx/>
              <a:uFillTx/>
              <a:latin typeface="Arial" panose="020B0604020202020204" pitchFamily="34" charset="0"/>
              <a:ea typeface="微软雅黑" panose="020B0503020204020204" pitchFamily="34" charset="-122"/>
              <a:sym typeface="Arial" panose="020B0604020202020204" pitchFamily="34" charset="0"/>
            </a:endParaRPr>
          </a:p>
        </p:txBody>
      </p:sp>
      <p:sp>
        <p:nvSpPr>
          <p:cNvPr id="4" name="灯片编号占位符 3"/>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9CC13275-6251-4C40-AFE1-85D85DA07171}" type="slidenum">
              <a:rPr kumimoji="0" lang="en-US" altLang="en-US" sz="800" b="0" i="0" u="none" strike="noStrike" kern="1200" cap="none" spc="0" normalizeH="0" baseline="0" noProof="0" smtClean="0">
                <a:ln>
                  <a:noFill/>
                </a:ln>
                <a:solidFill>
                  <a:srgbClr val="131319"/>
                </a:solidFill>
                <a:effectLst/>
                <a:uLnTx/>
                <a:uFillTx/>
                <a:latin typeface="Arial" panose="020B0604020202020204" pitchFamily="34" charset="0"/>
                <a:ea typeface="微软雅黑" panose="020B0503020204020204" pitchFamily="34" charset="-122"/>
                <a:sym typeface="Arial" panose="020B0604020202020204" pitchFamily="34" charset="0"/>
              </a:rPr>
              <a:t>6</a:t>
            </a:fld>
            <a:endParaRPr kumimoji="0" lang="en-US" altLang="en-US" sz="800" b="0" i="0" u="none" strike="noStrike" kern="1200" cap="none" spc="0" normalizeH="0" baseline="0" noProof="0" dirty="0">
              <a:ln>
                <a:noFill/>
              </a:ln>
              <a:solidFill>
                <a:srgbClr val="131319"/>
              </a:solidFill>
              <a:effectLst/>
              <a:uLnTx/>
              <a:uFillTx/>
              <a:latin typeface="Arial" panose="020B0604020202020204" pitchFamily="34" charset="0"/>
              <a:ea typeface="微软雅黑" panose="020B0503020204020204" pitchFamily="34" charset="-122"/>
              <a:sym typeface="Arial" panose="020B0604020202020204" pitchFamily="34" charset="0"/>
            </a:endParaRPr>
          </a:p>
        </p:txBody>
      </p:sp>
      <p:sp>
        <p:nvSpPr>
          <p:cNvPr id="13" name="文本框 12"/>
          <p:cNvSpPr txBox="1"/>
          <p:nvPr/>
        </p:nvSpPr>
        <p:spPr>
          <a:xfrm>
            <a:off x="777240" y="488315"/>
            <a:ext cx="10637520" cy="491490"/>
          </a:xfrm>
          <a:prstGeom prst="rect">
            <a:avLst/>
          </a:prstGeom>
          <a:noFill/>
        </p:spPr>
        <p:txBody>
          <a:bodyPr wrap="square">
            <a:spAutoFit/>
          </a:bodyPr>
          <a:lstStyle>
            <a:defPPr>
              <a:defRPr lang="en-US"/>
            </a:defPPr>
            <a:lvl1pPr algn="ctr">
              <a:defRPr sz="2600" b="0" spc="300">
                <a:solidFill>
                  <a:srgbClr val="001432"/>
                </a:solidFill>
                <a:latin typeface="+mj-ea"/>
                <a:ea typeface="+mj-ea"/>
              </a:defRPr>
            </a:lvl1pPr>
          </a:lstStyle>
          <a:p>
            <a:pPr lvl="0">
              <a:defRPr/>
            </a:pPr>
            <a:r>
              <a:rPr lang="en-US" altLang="zh-CN" dirty="0">
                <a:solidFill>
                  <a:srgbClr val="131319"/>
                </a:solidFill>
                <a:latin typeface="Arial" panose="020B0604020202020204" pitchFamily="34" charset="0"/>
                <a:ea typeface="微软雅黑" panose="020B0503020204020204" pitchFamily="34" charset="-122"/>
                <a:sym typeface="Arial" panose="020B0604020202020204" pitchFamily="34" charset="0"/>
              </a:rPr>
              <a:t>Astra</a:t>
            </a:r>
            <a:r>
              <a:rPr lang="zh-CN" altLang="en-US" dirty="0">
                <a:solidFill>
                  <a:srgbClr val="131319"/>
                </a:solidFill>
                <a:latin typeface="Arial" panose="020B0604020202020204" pitchFamily="34" charset="0"/>
                <a:ea typeface="微软雅黑" panose="020B0503020204020204" pitchFamily="34" charset="-122"/>
                <a:sym typeface="Arial" panose="020B0604020202020204" pitchFamily="34" charset="0"/>
              </a:rPr>
              <a:t>行车功能指标</a:t>
            </a:r>
            <a:endParaRPr lang="zh-CN" altLang="en-US" sz="4000" dirty="0">
              <a:solidFill>
                <a:srgbClr val="131319"/>
              </a:solidFill>
              <a:latin typeface="Arial" panose="020B0604020202020204" pitchFamily="34" charset="0"/>
              <a:ea typeface="微软雅黑" panose="020B0503020204020204" pitchFamily="34" charset="-122"/>
              <a:sym typeface="Arial" panose="020B0604020202020204" pitchFamily="34" charset="0"/>
            </a:endParaRPr>
          </a:p>
        </p:txBody>
      </p:sp>
      <p:sp>
        <p:nvSpPr>
          <p:cNvPr id="5" name="页脚占位符 4"/>
          <p:cNvSpPr txBox="1"/>
          <p:nvPr/>
        </p:nvSpPr>
        <p:spPr>
          <a:xfrm>
            <a:off x="3738000" y="6576147"/>
            <a:ext cx="4716000" cy="237548"/>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800" b="0"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pitchFamily="34" charset="-122"/>
                <a:sym typeface="Arial" panose="020B0604020202020204" pitchFamily="34" charset="0"/>
              </a:rPr>
              <a:t>Horizon Continental Technology Shanghai Co.</a:t>
            </a:r>
            <a:r>
              <a:rPr kumimoji="0" lang="zh-CN" altLang="en-US" sz="800" b="0"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pitchFamily="34" charset="-122"/>
                <a:sym typeface="Arial" panose="020B0604020202020204" pitchFamily="34" charset="0"/>
              </a:rPr>
              <a:t>，</a:t>
            </a:r>
            <a:r>
              <a:rPr kumimoji="0" lang="en-US" altLang="zh-CN" sz="800" b="0"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pitchFamily="34" charset="-122"/>
                <a:sym typeface="Arial" panose="020B0604020202020204" pitchFamily="34" charset="0"/>
              </a:rPr>
              <a:t> Ltd -  Confidential Information Under NDA</a:t>
            </a:r>
            <a:endParaRPr kumimoji="0" lang="en-US" altLang="en-US" sz="800" b="0"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pitchFamily="34" charset="-122"/>
              <a:sym typeface="Arial" panose="020B0604020202020204" pitchFamily="34" charset="0"/>
            </a:endParaRPr>
          </a:p>
        </p:txBody>
      </p:sp>
      <p:graphicFrame>
        <p:nvGraphicFramePr>
          <p:cNvPr id="3" name="表格 2"/>
          <p:cNvGraphicFramePr>
            <a:graphicFrameLocks noGrp="1"/>
          </p:cNvGraphicFramePr>
          <p:nvPr>
            <p:extLst>
              <p:ext uri="{D42A27DB-BD31-4B8C-83A1-F6EECF244321}">
                <p14:modId xmlns:p14="http://schemas.microsoft.com/office/powerpoint/2010/main" val="4242721742"/>
              </p:ext>
            </p:extLst>
          </p:nvPr>
        </p:nvGraphicFramePr>
        <p:xfrm>
          <a:off x="777240" y="1334293"/>
          <a:ext cx="10637521" cy="4751551"/>
        </p:xfrm>
        <a:graphic>
          <a:graphicData uri="http://schemas.openxmlformats.org/drawingml/2006/table">
            <a:tbl>
              <a:tblPr firstRow="1" bandRow="1">
                <a:tableStyleId>{00A15C55-8517-42AA-B614-E9B94910E393}</a:tableStyleId>
              </a:tblPr>
              <a:tblGrid>
                <a:gridCol w="1207192">
                  <a:extLst>
                    <a:ext uri="{9D8B030D-6E8A-4147-A177-3AD203B41FA5}">
                      <a16:colId xmlns:a16="http://schemas.microsoft.com/office/drawing/2014/main" val="2354923768"/>
                    </a:ext>
                  </a:extLst>
                </a:gridCol>
                <a:gridCol w="1687947">
                  <a:extLst>
                    <a:ext uri="{9D8B030D-6E8A-4147-A177-3AD203B41FA5}">
                      <a16:colId xmlns:a16="http://schemas.microsoft.com/office/drawing/2014/main" val="20000"/>
                    </a:ext>
                  </a:extLst>
                </a:gridCol>
                <a:gridCol w="4315968">
                  <a:extLst>
                    <a:ext uri="{9D8B030D-6E8A-4147-A177-3AD203B41FA5}">
                      <a16:colId xmlns:a16="http://schemas.microsoft.com/office/drawing/2014/main" val="20001"/>
                    </a:ext>
                  </a:extLst>
                </a:gridCol>
                <a:gridCol w="1713207">
                  <a:extLst>
                    <a:ext uri="{9D8B030D-6E8A-4147-A177-3AD203B41FA5}">
                      <a16:colId xmlns:a16="http://schemas.microsoft.com/office/drawing/2014/main" val="20002"/>
                    </a:ext>
                  </a:extLst>
                </a:gridCol>
                <a:gridCol w="1713207">
                  <a:extLst>
                    <a:ext uri="{9D8B030D-6E8A-4147-A177-3AD203B41FA5}">
                      <a16:colId xmlns:a16="http://schemas.microsoft.com/office/drawing/2014/main" val="20003"/>
                    </a:ext>
                  </a:extLst>
                </a:gridCol>
              </a:tblGrid>
              <a:tr h="402027">
                <a:tc>
                  <a:txBody>
                    <a:bodyPr/>
                    <a:lstStyle/>
                    <a:p>
                      <a:pPr algn="ctr"/>
                      <a:r>
                        <a:rPr lang="zh-CN" altLang="en-US" sz="1200" dirty="0">
                          <a:latin typeface="Arial" panose="020B0604020202020204" pitchFamily="34" charset="0"/>
                          <a:ea typeface="微软雅黑" panose="020B0503020204020204" pitchFamily="34" charset="-122"/>
                          <a:sym typeface="Arial" panose="020B0604020202020204" pitchFamily="34" charset="0"/>
                        </a:rPr>
                        <a:t>类型</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zh-CN" altLang="en-US" sz="1200" dirty="0">
                          <a:latin typeface="Arial" panose="020B0604020202020204" pitchFamily="34" charset="0"/>
                          <a:ea typeface="微软雅黑" panose="020B0503020204020204" pitchFamily="34" charset="-122"/>
                          <a:sym typeface="Arial" panose="020B0604020202020204" pitchFamily="34" charset="0"/>
                        </a:rPr>
                        <a:t>指标</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zh-CN" altLang="en-US" sz="1200" dirty="0">
                          <a:latin typeface="Arial" panose="020B0604020202020204" pitchFamily="34" charset="0"/>
                          <a:ea typeface="微软雅黑" panose="020B0503020204020204" pitchFamily="34" charset="-122"/>
                          <a:sym typeface="Arial" panose="020B0604020202020204" pitchFamily="34" charset="0"/>
                        </a:rPr>
                        <a:t>描述</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zh-CN" altLang="en-US" sz="1200" dirty="0">
                          <a:latin typeface="Arial" panose="020B0604020202020204" pitchFamily="34" charset="0"/>
                          <a:ea typeface="微软雅黑" panose="020B0503020204020204" pitchFamily="34" charset="-122"/>
                          <a:sym typeface="Arial" panose="020B0604020202020204" pitchFamily="34" charset="0"/>
                        </a:rPr>
                        <a:t>城区</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zh-CN" altLang="en-US" sz="1200" dirty="0">
                          <a:latin typeface="Arial" panose="020B0604020202020204" pitchFamily="34" charset="0"/>
                          <a:ea typeface="微软雅黑" panose="020B0503020204020204" pitchFamily="34" charset="-122"/>
                          <a:sym typeface="Arial" panose="020B0604020202020204" pitchFamily="34" charset="0"/>
                        </a:rPr>
                        <a:t>高速</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extLst>
                  <a:ext uri="{0D108BD9-81ED-4DB2-BD59-A6C34878D82A}">
                    <a16:rowId xmlns:a16="http://schemas.microsoft.com/office/drawing/2014/main" val="10000"/>
                  </a:ext>
                </a:extLst>
              </a:tr>
              <a:tr h="461080">
                <a:tc rowSpan="3">
                  <a:txBody>
                    <a:bodyPr/>
                    <a:lstStyle/>
                    <a:p>
                      <a:pPr algn="ctr"/>
                      <a:r>
                        <a:rPr lang="zh-CN" altLang="en-US" sz="1200" dirty="0">
                          <a:latin typeface="Arial" panose="020B0604020202020204" pitchFamily="34" charset="0"/>
                          <a:ea typeface="微软雅黑" panose="020B0503020204020204" pitchFamily="34" charset="-122"/>
                          <a:sym typeface="Arial" panose="020B0604020202020204" pitchFamily="34" charset="0"/>
                        </a:rPr>
                        <a:t>性能类</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zh-CN" altLang="en-US" sz="1200" dirty="0">
                          <a:latin typeface="Arial" panose="020B0604020202020204" pitchFamily="34" charset="0"/>
                          <a:ea typeface="微软雅黑" panose="020B0503020204020204" pitchFamily="34" charset="-122"/>
                          <a:sym typeface="Arial" panose="020B0604020202020204" pitchFamily="34" charset="0"/>
                        </a:rPr>
                        <a:t>同步</a:t>
                      </a:r>
                      <a:r>
                        <a:rPr lang="en-US" altLang="zh-CN" sz="1200" dirty="0">
                          <a:latin typeface="Arial" panose="020B0604020202020204" pitchFamily="34" charset="0"/>
                          <a:ea typeface="微软雅黑" panose="020B0503020204020204" pitchFamily="34" charset="-122"/>
                          <a:sym typeface="Arial" panose="020B0604020202020204" pitchFamily="34" charset="0"/>
                        </a:rPr>
                        <a:t>MPI</a:t>
                      </a:r>
                      <a:endParaRPr lang="zh-CN" altLang="en-US" sz="1200" dirty="0">
                        <a:latin typeface="Arial" panose="020B0604020202020204" pitchFamily="34" charset="0"/>
                        <a:ea typeface="微软雅黑" panose="020B0503020204020204" pitchFamily="34" charset="-122"/>
                        <a:sym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zh-CN" altLang="en-US" sz="1200" dirty="0">
                          <a:latin typeface="Arial" panose="020B0604020202020204" pitchFamily="34" charset="0"/>
                          <a:ea typeface="微软雅黑" panose="020B0503020204020204" pitchFamily="34" charset="-122"/>
                          <a:sym typeface="Arial" panose="020B0604020202020204" pitchFamily="34" charset="0"/>
                        </a:rPr>
                        <a:t>每两次安全接管间隔的公里数</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latinLnBrk="0">
                        <a:buNone/>
                      </a:pPr>
                      <a:r>
                        <a:rPr lang="en-US" altLang="zh-CN" sz="1200" kern="1200" dirty="0">
                          <a:solidFill>
                            <a:schemeClr val="dk1"/>
                          </a:solidFill>
                          <a:latin typeface="Arial" panose="020B0604020202020204" pitchFamily="34" charset="0"/>
                          <a:ea typeface="微软雅黑" panose="020B0503020204020204" pitchFamily="34" charset="-122"/>
                          <a:cs typeface="+mn-cs"/>
                        </a:rPr>
                        <a:t>30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latinLnBrk="0">
                        <a:buNone/>
                      </a:pPr>
                      <a:r>
                        <a:rPr lang="en-US" altLang="zh-CN" sz="1200" kern="1200" dirty="0">
                          <a:solidFill>
                            <a:schemeClr val="dk1"/>
                          </a:solidFill>
                          <a:latin typeface="Arial" panose="020B0604020202020204" pitchFamily="34" charset="0"/>
                          <a:ea typeface="微软雅黑" panose="020B0503020204020204" pitchFamily="34" charset="-122"/>
                          <a:cs typeface="+mn-cs"/>
                        </a:rPr>
                        <a:t>500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1"/>
                  </a:ext>
                </a:extLst>
              </a:tr>
              <a:tr h="373988">
                <a:tc vMerge="1">
                  <a:txBody>
                    <a:bodyPr/>
                    <a:lstStyle/>
                    <a:p>
                      <a:pPr algn="ctr"/>
                      <a:endParaRPr lang="zh-CN" altLang="en-US" sz="1400" dirty="0">
                        <a:latin typeface="+mn-ea"/>
                        <a:ea typeface="+mn-ea"/>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zh-CN" altLang="en-US" sz="1200" dirty="0">
                          <a:latin typeface="Arial" panose="020B0604020202020204" pitchFamily="34" charset="0"/>
                          <a:ea typeface="微软雅黑" panose="020B0503020204020204" pitchFamily="34" charset="-122"/>
                          <a:sym typeface="Arial" panose="020B0604020202020204" pitchFamily="34" charset="0"/>
                        </a:rPr>
                        <a:t>异步</a:t>
                      </a:r>
                      <a:r>
                        <a:rPr lang="en-US" altLang="zh-CN" sz="1200" dirty="0">
                          <a:latin typeface="Arial" panose="020B0604020202020204" pitchFamily="34" charset="0"/>
                          <a:ea typeface="微软雅黑" panose="020B0503020204020204" pitchFamily="34" charset="-122"/>
                          <a:sym typeface="Arial" panose="020B0604020202020204" pitchFamily="34" charset="0"/>
                        </a:rPr>
                        <a:t>MPI</a:t>
                      </a:r>
                      <a:endParaRPr lang="zh-CN" altLang="en-US" sz="1200" dirty="0">
                        <a:latin typeface="Arial" panose="020B0604020202020204" pitchFamily="34" charset="0"/>
                        <a:ea typeface="微软雅黑" panose="020B0503020204020204" pitchFamily="34" charset="-122"/>
                        <a:sym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zh-CN" altLang="en-US" sz="1200" dirty="0">
                          <a:latin typeface="Arial" panose="020B0604020202020204" pitchFamily="34" charset="0"/>
                          <a:ea typeface="微软雅黑" panose="020B0503020204020204" pitchFamily="34" charset="-122"/>
                          <a:sym typeface="Arial" panose="020B0604020202020204" pitchFamily="34" charset="0"/>
                        </a:rPr>
                        <a:t>每两次非安全接管</a:t>
                      </a:r>
                      <a:r>
                        <a:rPr lang="en-US" altLang="zh-CN" sz="1200" dirty="0">
                          <a:latin typeface="Arial" panose="020B0604020202020204" pitchFamily="34" charset="0"/>
                          <a:ea typeface="微软雅黑" panose="020B0503020204020204" pitchFamily="34" charset="-122"/>
                          <a:sym typeface="Arial" panose="020B0604020202020204" pitchFamily="34" charset="0"/>
                        </a:rPr>
                        <a:t>(</a:t>
                      </a:r>
                      <a:r>
                        <a:rPr lang="zh-CN" altLang="en-US" sz="1200" dirty="0">
                          <a:latin typeface="Arial" panose="020B0604020202020204" pitchFamily="34" charset="0"/>
                          <a:ea typeface="微软雅黑" panose="020B0503020204020204" pitchFamily="34" charset="-122"/>
                          <a:sym typeface="Arial" panose="020B0604020202020204" pitchFamily="34" charset="0"/>
                        </a:rPr>
                        <a:t>效率</a:t>
                      </a:r>
                      <a:r>
                        <a:rPr lang="en-US" altLang="zh-CN" sz="1200" dirty="0">
                          <a:latin typeface="Arial" panose="020B0604020202020204" pitchFamily="34" charset="0"/>
                          <a:ea typeface="微软雅黑" panose="020B0503020204020204" pitchFamily="34" charset="-122"/>
                          <a:sym typeface="Arial" panose="020B0604020202020204" pitchFamily="34" charset="0"/>
                        </a:rPr>
                        <a:t>/</a:t>
                      </a:r>
                      <a:r>
                        <a:rPr lang="zh-CN" altLang="en-US" sz="1200" dirty="0">
                          <a:latin typeface="Arial" panose="020B0604020202020204" pitchFamily="34" charset="0"/>
                          <a:ea typeface="微软雅黑" panose="020B0503020204020204" pitchFamily="34" charset="-122"/>
                          <a:sym typeface="Arial" panose="020B0604020202020204" pitchFamily="34" charset="0"/>
                        </a:rPr>
                        <a:t>偏航接管</a:t>
                      </a:r>
                      <a:r>
                        <a:rPr lang="en-US" altLang="zh-CN" sz="1200" dirty="0">
                          <a:latin typeface="Arial" panose="020B0604020202020204" pitchFamily="34" charset="0"/>
                          <a:ea typeface="微软雅黑" panose="020B0503020204020204" pitchFamily="34" charset="-122"/>
                          <a:sym typeface="Arial" panose="020B0604020202020204" pitchFamily="34" charset="0"/>
                        </a:rPr>
                        <a:t>)</a:t>
                      </a:r>
                      <a:r>
                        <a:rPr lang="zh-CN" altLang="en-US" sz="1200" dirty="0">
                          <a:latin typeface="Arial" panose="020B0604020202020204" pitchFamily="34" charset="0"/>
                          <a:ea typeface="微软雅黑" panose="020B0503020204020204" pitchFamily="34" charset="-122"/>
                          <a:sym typeface="Arial" panose="020B0604020202020204" pitchFamily="34" charset="0"/>
                        </a:rPr>
                        <a:t>间隔公里数</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latinLnBrk="0">
                        <a:buNone/>
                      </a:pPr>
                      <a:r>
                        <a:rPr lang="en-US" altLang="zh-CN" sz="1200" kern="1200" dirty="0">
                          <a:solidFill>
                            <a:schemeClr val="dk1"/>
                          </a:solidFill>
                          <a:latin typeface="Arial" panose="020B0604020202020204" pitchFamily="34" charset="0"/>
                          <a:ea typeface="微软雅黑" panose="020B0503020204020204" pitchFamily="34" charset="-122"/>
                          <a:cs typeface="+mn-cs"/>
                        </a:rPr>
                        <a:t>20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latinLnBrk="0">
                        <a:buNone/>
                      </a:pPr>
                      <a:r>
                        <a:rPr lang="en-US" altLang="zh-CN" sz="1200" kern="1200" dirty="0">
                          <a:solidFill>
                            <a:schemeClr val="dk1"/>
                          </a:solidFill>
                          <a:latin typeface="Arial" panose="020B0604020202020204" pitchFamily="34" charset="0"/>
                          <a:ea typeface="微软雅黑" panose="020B0503020204020204" pitchFamily="34" charset="-122"/>
                          <a:cs typeface="+mn-cs"/>
                        </a:rPr>
                        <a:t>300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2"/>
                  </a:ext>
                </a:extLst>
              </a:tr>
              <a:tr h="373988">
                <a:tc vMerge="1">
                  <a:txBody>
                    <a:bodyPr/>
                    <a:lstStyle/>
                    <a:p>
                      <a:pPr algn="ctr"/>
                      <a:endParaRPr lang="zh-CN" altLang="en-US" sz="1400" dirty="0">
                        <a:latin typeface="Arial" panose="020B0604020202020204" pitchFamily="34" charset="0"/>
                        <a:ea typeface="微软雅黑" panose="020B0503020204020204" pitchFamily="34" charset="-122"/>
                        <a:sym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zh-CN" altLang="en-US" sz="1200" dirty="0">
                          <a:latin typeface="Arial" panose="020B0604020202020204" pitchFamily="34" charset="0"/>
                          <a:ea typeface="微软雅黑" panose="020B0503020204020204" pitchFamily="34" charset="-122"/>
                          <a:sym typeface="Arial" panose="020B0604020202020204" pitchFamily="34" charset="0"/>
                        </a:rPr>
                        <a:t>综合</a:t>
                      </a:r>
                      <a:r>
                        <a:rPr lang="en-US" altLang="zh-CN" sz="1200" dirty="0">
                          <a:latin typeface="Arial" panose="020B0604020202020204" pitchFamily="34" charset="0"/>
                          <a:ea typeface="微软雅黑" panose="020B0503020204020204" pitchFamily="34" charset="-122"/>
                          <a:sym typeface="Arial" panose="020B0604020202020204" pitchFamily="34" charset="0"/>
                        </a:rPr>
                        <a:t>MPI</a:t>
                      </a:r>
                      <a:endParaRPr lang="zh-CN" altLang="en-US" sz="1200" dirty="0">
                        <a:latin typeface="Arial" panose="020B0604020202020204" pitchFamily="34" charset="0"/>
                        <a:ea typeface="微软雅黑" panose="020B0503020204020204" pitchFamily="34" charset="-122"/>
                        <a:sym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sz="1200" dirty="0">
                          <a:latin typeface="Arial" panose="020B0604020202020204" pitchFamily="34" charset="0"/>
                          <a:ea typeface="微软雅黑" panose="020B0503020204020204" pitchFamily="34" charset="-122"/>
                          <a:sym typeface="Arial" panose="020B0604020202020204" pitchFamily="34" charset="0"/>
                        </a:rPr>
                        <a:t>每两次接管间隔的公里数</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latinLnBrk="0">
                        <a:buNone/>
                      </a:pPr>
                      <a:r>
                        <a:rPr lang="en-US" altLang="zh-CN" sz="1200" kern="1200">
                          <a:solidFill>
                            <a:schemeClr val="dk1"/>
                          </a:solidFill>
                          <a:latin typeface="Arial" panose="020B0604020202020204" pitchFamily="34" charset="0"/>
                          <a:ea typeface="微软雅黑" panose="020B0503020204020204" pitchFamily="34" charset="-122"/>
                          <a:cs typeface="+mn-cs"/>
                        </a:rPr>
                        <a:t>12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latinLnBrk="0">
                        <a:buNone/>
                      </a:pPr>
                      <a:r>
                        <a:rPr lang="en-US" altLang="zh-CN" sz="1200" kern="1200" dirty="0">
                          <a:solidFill>
                            <a:schemeClr val="dk1"/>
                          </a:solidFill>
                          <a:latin typeface="Arial" panose="020B0604020202020204" pitchFamily="34" charset="0"/>
                          <a:ea typeface="微软雅黑" panose="020B0503020204020204" pitchFamily="34" charset="-122"/>
                          <a:cs typeface="+mn-cs"/>
                        </a:rPr>
                        <a:t>200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35041699"/>
                  </a:ext>
                </a:extLst>
              </a:tr>
              <a:tr h="461080">
                <a:tc rowSpan="3">
                  <a:txBody>
                    <a:bodyPr/>
                    <a:lstStyle/>
                    <a:p>
                      <a:pPr algn="ctr"/>
                      <a:r>
                        <a:rPr lang="zh-CN" altLang="en-US" sz="1200" dirty="0">
                          <a:latin typeface="Arial" panose="020B0604020202020204" pitchFamily="34" charset="0"/>
                          <a:ea typeface="微软雅黑" panose="020B0503020204020204" pitchFamily="34" charset="-122"/>
                          <a:sym typeface="Arial" panose="020B0604020202020204" pitchFamily="34" charset="0"/>
                        </a:rPr>
                        <a:t>体验类</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zh-CN" altLang="en-US" sz="1200" dirty="0">
                          <a:latin typeface="Arial" panose="020B0604020202020204" pitchFamily="34" charset="0"/>
                          <a:ea typeface="微软雅黑" panose="020B0503020204020204" pitchFamily="34" charset="-122"/>
                          <a:sym typeface="Arial" panose="020B0604020202020204" pitchFamily="34" charset="0"/>
                        </a:rPr>
                        <a:t>点刹</a:t>
                      </a:r>
                      <a:r>
                        <a:rPr lang="en-US" altLang="zh-CN" sz="1200" dirty="0">
                          <a:latin typeface="Arial" panose="020B0604020202020204" pitchFamily="34" charset="0"/>
                          <a:ea typeface="微软雅黑" panose="020B0503020204020204" pitchFamily="34" charset="-122"/>
                          <a:sym typeface="Arial" panose="020B0604020202020204" pitchFamily="34" charset="0"/>
                        </a:rPr>
                        <a:t>MPI</a:t>
                      </a:r>
                      <a:endParaRPr lang="zh-CN" altLang="en-US" sz="1200" dirty="0">
                        <a:latin typeface="Arial" panose="020B0604020202020204" pitchFamily="34" charset="0"/>
                        <a:ea typeface="微软雅黑" panose="020B0503020204020204" pitchFamily="34" charset="-122"/>
                        <a:sym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zh-CN" altLang="en-US" sz="1200" dirty="0">
                          <a:latin typeface="Arial" panose="020B0604020202020204" pitchFamily="34" charset="0"/>
                          <a:ea typeface="微软雅黑" panose="020B0503020204020204" pitchFamily="34" charset="-122"/>
                          <a:sym typeface="Arial" panose="020B0604020202020204" pitchFamily="34" charset="0"/>
                        </a:rPr>
                        <a:t>每两次点刹间隔的公里数</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latinLnBrk="0">
                        <a:buNone/>
                      </a:pPr>
                      <a:r>
                        <a:rPr lang="en-US" altLang="zh-CN" sz="1200" kern="1200" dirty="0">
                          <a:solidFill>
                            <a:schemeClr val="dk1"/>
                          </a:solidFill>
                          <a:latin typeface="Arial" panose="020B0604020202020204" pitchFamily="34" charset="0"/>
                          <a:ea typeface="微软雅黑" panose="020B0503020204020204" pitchFamily="34" charset="-122"/>
                          <a:cs typeface="+mn-cs"/>
                        </a:rPr>
                        <a:t>100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latinLnBrk="0">
                        <a:buNone/>
                      </a:pPr>
                      <a:r>
                        <a:rPr lang="en-US" altLang="zh-CN" sz="1200" kern="1200">
                          <a:solidFill>
                            <a:schemeClr val="dk1"/>
                          </a:solidFill>
                          <a:latin typeface="Arial" panose="020B0604020202020204" pitchFamily="34" charset="0"/>
                          <a:ea typeface="微软雅黑" panose="020B0503020204020204" pitchFamily="34" charset="-122"/>
                          <a:cs typeface="+mn-cs"/>
                        </a:rPr>
                        <a:t>300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3"/>
                  </a:ext>
                </a:extLst>
              </a:tr>
              <a:tr h="461080">
                <a:tc vMerge="1">
                  <a:txBody>
                    <a:bodyPr/>
                    <a:lstStyle/>
                    <a:p>
                      <a:endParaRPr lang="zh-CN" altLang="en-US"/>
                    </a:p>
                  </a:txBody>
                  <a:tcPr/>
                </a:tc>
                <a:tc>
                  <a:txBody>
                    <a:bodyPr/>
                    <a:lstStyle/>
                    <a:p>
                      <a:pPr algn="ctr"/>
                      <a:r>
                        <a:rPr lang="zh-CN" altLang="en-US" sz="1200" dirty="0">
                          <a:latin typeface="Arial" panose="020B0604020202020204" pitchFamily="34" charset="0"/>
                          <a:ea typeface="微软雅黑" panose="020B0503020204020204" pitchFamily="34" charset="-122"/>
                          <a:sym typeface="Arial" panose="020B0604020202020204" pitchFamily="34" charset="0"/>
                        </a:rPr>
                        <a:t>重刹</a:t>
                      </a:r>
                      <a:r>
                        <a:rPr lang="en-US" altLang="zh-CN" sz="1200" dirty="0">
                          <a:latin typeface="Arial" panose="020B0604020202020204" pitchFamily="34" charset="0"/>
                          <a:ea typeface="微软雅黑" panose="020B0503020204020204" pitchFamily="34" charset="-122"/>
                          <a:sym typeface="Arial" panose="020B0604020202020204" pitchFamily="34" charset="0"/>
                        </a:rPr>
                        <a:t>MPI</a:t>
                      </a:r>
                      <a:endParaRPr lang="zh-CN" altLang="en-US" sz="1200" dirty="0">
                        <a:latin typeface="Arial" panose="020B0604020202020204" pitchFamily="34" charset="0"/>
                        <a:ea typeface="微软雅黑" panose="020B0503020204020204" pitchFamily="34" charset="-122"/>
                        <a:sym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zh-CN" altLang="en-US" sz="1200" dirty="0">
                          <a:latin typeface="Arial" panose="020B0604020202020204" pitchFamily="34" charset="0"/>
                          <a:ea typeface="微软雅黑" panose="020B0503020204020204" pitchFamily="34" charset="-122"/>
                          <a:sym typeface="Arial" panose="020B0604020202020204" pitchFamily="34" charset="0"/>
                        </a:rPr>
                        <a:t>每两次重刹间隔的公里数</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latinLnBrk="0">
                        <a:buNone/>
                      </a:pPr>
                      <a:r>
                        <a:rPr lang="en-US" altLang="zh-CN" sz="1200" kern="1200" dirty="0">
                          <a:solidFill>
                            <a:schemeClr val="dk1"/>
                          </a:solidFill>
                          <a:latin typeface="Arial" panose="020B0604020202020204" pitchFamily="34" charset="0"/>
                          <a:ea typeface="微软雅黑" panose="020B0503020204020204" pitchFamily="34" charset="-122"/>
                          <a:cs typeface="+mn-cs"/>
                        </a:rPr>
                        <a:t>60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latinLnBrk="0">
                        <a:buNone/>
                      </a:pPr>
                      <a:r>
                        <a:rPr lang="en-US" altLang="zh-CN" sz="1200" kern="1200" dirty="0">
                          <a:solidFill>
                            <a:schemeClr val="dk1"/>
                          </a:solidFill>
                          <a:latin typeface="Arial" panose="020B0604020202020204" pitchFamily="34" charset="0"/>
                          <a:ea typeface="微软雅黑" panose="020B0503020204020204" pitchFamily="34" charset="-122"/>
                          <a:cs typeface="+mn-cs"/>
                        </a:rPr>
                        <a:t>200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607919509"/>
                  </a:ext>
                </a:extLst>
              </a:tr>
              <a:tr h="461080">
                <a:tc vMerge="1">
                  <a:txBody>
                    <a:bodyPr/>
                    <a:lstStyle/>
                    <a:p>
                      <a:pPr algn="ctr"/>
                      <a:endParaRPr lang="zh-CN" altLang="en-US" sz="1400" dirty="0">
                        <a:latin typeface="+mn-ea"/>
                        <a:ea typeface="+mn-ea"/>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zh-CN" altLang="en-US" sz="1200" dirty="0">
                          <a:latin typeface="Arial" panose="020B0604020202020204" pitchFamily="34" charset="0"/>
                          <a:ea typeface="微软雅黑" panose="020B0503020204020204" pitchFamily="34" charset="-122"/>
                          <a:sym typeface="Arial" panose="020B0604020202020204" pitchFamily="34" charset="0"/>
                        </a:rPr>
                        <a:t>画龙</a:t>
                      </a:r>
                      <a:r>
                        <a:rPr lang="en-US" altLang="zh-CN" sz="1200" dirty="0">
                          <a:latin typeface="Arial" panose="020B0604020202020204" pitchFamily="34" charset="0"/>
                          <a:ea typeface="微软雅黑" panose="020B0503020204020204" pitchFamily="34" charset="-122"/>
                          <a:sym typeface="Arial" panose="020B0604020202020204" pitchFamily="34" charset="0"/>
                        </a:rPr>
                        <a:t>MPI</a:t>
                      </a:r>
                      <a:endParaRPr lang="zh-CN" altLang="en-US" sz="1200" dirty="0">
                        <a:latin typeface="Arial" panose="020B0604020202020204" pitchFamily="34" charset="0"/>
                        <a:ea typeface="微软雅黑" panose="020B0503020204020204" pitchFamily="34" charset="-122"/>
                        <a:sym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zh-CN" altLang="en-US" sz="1200" dirty="0">
                          <a:latin typeface="Arial" panose="020B0604020202020204" pitchFamily="34" charset="0"/>
                          <a:ea typeface="微软雅黑" panose="020B0503020204020204" pitchFamily="34" charset="-122"/>
                          <a:sym typeface="Arial" panose="020B0604020202020204" pitchFamily="34" charset="0"/>
                        </a:rPr>
                        <a:t>每两次画龙间隔的公里数</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latinLnBrk="0">
                        <a:buNone/>
                      </a:pPr>
                      <a:r>
                        <a:rPr lang="en-US" altLang="zh-CN" sz="1200" kern="1200" dirty="0">
                          <a:solidFill>
                            <a:schemeClr val="dk1"/>
                          </a:solidFill>
                          <a:latin typeface="Arial" panose="020B0604020202020204" pitchFamily="34" charset="0"/>
                          <a:ea typeface="微软雅黑" panose="020B0503020204020204" pitchFamily="34" charset="-122"/>
                          <a:cs typeface="+mn-cs"/>
                        </a:rPr>
                        <a:t>50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latinLnBrk="0">
                        <a:buNone/>
                      </a:pPr>
                      <a:r>
                        <a:rPr lang="en-US" altLang="zh-CN" sz="1200" kern="1200" dirty="0">
                          <a:solidFill>
                            <a:schemeClr val="dk1"/>
                          </a:solidFill>
                          <a:latin typeface="Arial" panose="020B0604020202020204" pitchFamily="34" charset="0"/>
                          <a:ea typeface="微软雅黑" panose="020B0503020204020204" pitchFamily="34" charset="-122"/>
                          <a:cs typeface="+mn-cs"/>
                        </a:rPr>
                        <a:t>100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4"/>
                  </a:ext>
                </a:extLst>
              </a:tr>
              <a:tr h="373988">
                <a:tc rowSpan="4">
                  <a:txBody>
                    <a:bodyPr/>
                    <a:lstStyle/>
                    <a:p>
                      <a:pPr algn="ctr"/>
                      <a:r>
                        <a:rPr lang="zh-CN" altLang="en-US" sz="1200" dirty="0">
                          <a:latin typeface="Arial" panose="020B0604020202020204" pitchFamily="34" charset="0"/>
                          <a:ea typeface="微软雅黑" panose="020B0503020204020204" pitchFamily="34" charset="-122"/>
                          <a:sym typeface="Arial" panose="020B0604020202020204" pitchFamily="34" charset="0"/>
                        </a:rPr>
                        <a:t>场景类</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zh-CN" altLang="en-US" sz="1200" dirty="0">
                          <a:latin typeface="Arial" panose="020B0604020202020204" pitchFamily="34" charset="0"/>
                          <a:ea typeface="微软雅黑" panose="020B0503020204020204" pitchFamily="34" charset="-122"/>
                          <a:sym typeface="Arial" panose="020B0604020202020204" pitchFamily="34" charset="0"/>
                        </a:rPr>
                        <a:t>路口通行成功率</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zh-CN" altLang="en-US" sz="1200" dirty="0">
                          <a:latin typeface="Arial" panose="020B0604020202020204" pitchFamily="34" charset="0"/>
                          <a:ea typeface="微软雅黑" panose="020B0503020204020204" pitchFamily="34" charset="-122"/>
                          <a:sym typeface="Arial" panose="020B0604020202020204" pitchFamily="34" charset="0"/>
                        </a:rPr>
                        <a:t>包含错位路口、</a:t>
                      </a:r>
                      <a:r>
                        <a:rPr lang="en-US" altLang="zh-CN" sz="1200" dirty="0">
                          <a:latin typeface="Arial" panose="020B0604020202020204" pitchFamily="34" charset="0"/>
                          <a:ea typeface="微软雅黑" panose="020B0503020204020204" pitchFamily="34" charset="-122"/>
                          <a:sym typeface="Arial" panose="020B0604020202020204" pitchFamily="34" charset="0"/>
                        </a:rPr>
                        <a:t>T</a:t>
                      </a:r>
                      <a:r>
                        <a:rPr lang="zh-CN" altLang="en-US" sz="1200" dirty="0">
                          <a:latin typeface="Arial" panose="020B0604020202020204" pitchFamily="34" charset="0"/>
                          <a:ea typeface="微软雅黑" panose="020B0503020204020204" pitchFamily="34" charset="-122"/>
                          <a:sym typeface="Arial" panose="020B0604020202020204" pitchFamily="34" charset="0"/>
                        </a:rPr>
                        <a:t>字路口、</a:t>
                      </a:r>
                      <a:r>
                        <a:rPr lang="en-US" altLang="zh-CN" sz="1200" dirty="0">
                          <a:latin typeface="Arial" panose="020B0604020202020204" pitchFamily="34" charset="0"/>
                          <a:ea typeface="微软雅黑" panose="020B0503020204020204" pitchFamily="34" charset="-122"/>
                          <a:sym typeface="Arial" panose="020B0604020202020204" pitchFamily="34" charset="0"/>
                        </a:rPr>
                        <a:t>Y</a:t>
                      </a:r>
                      <a:r>
                        <a:rPr lang="zh-CN" altLang="en-US" sz="1200" dirty="0">
                          <a:latin typeface="Arial" panose="020B0604020202020204" pitchFamily="34" charset="0"/>
                          <a:ea typeface="微软雅黑" panose="020B0503020204020204" pitchFamily="34" charset="-122"/>
                          <a:sym typeface="Arial" panose="020B0604020202020204" pitchFamily="34" charset="0"/>
                        </a:rPr>
                        <a:t>型路口</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CN" sz="1200" dirty="0">
                          <a:latin typeface="Arial" panose="020B0604020202020204" pitchFamily="34" charset="0"/>
                          <a:ea typeface="微软雅黑" panose="020B0503020204020204" pitchFamily="34" charset="-122"/>
                          <a:sym typeface="Arial" panose="020B0604020202020204" pitchFamily="34" charset="0"/>
                        </a:rPr>
                        <a:t>≥99%</a:t>
                      </a:r>
                      <a:endParaRPr lang="zh-CN" altLang="en-US" sz="1200" dirty="0">
                        <a:latin typeface="Arial" panose="020B0604020202020204" pitchFamily="34" charset="0"/>
                        <a:ea typeface="微软雅黑" panose="020B0503020204020204" pitchFamily="34" charset="-122"/>
                        <a:sym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CN" sz="1200" dirty="0">
                          <a:latin typeface="Arial" panose="020B0604020202020204" pitchFamily="34" charset="0"/>
                          <a:ea typeface="微软雅黑" panose="020B0503020204020204" pitchFamily="34" charset="-122"/>
                          <a:sym typeface="Arial" panose="020B0604020202020204" pitchFamily="34" charset="0"/>
                        </a:rPr>
                        <a:t>-</a:t>
                      </a:r>
                      <a:endParaRPr lang="zh-CN" altLang="en-US" sz="1200" dirty="0">
                        <a:latin typeface="Arial" panose="020B0604020202020204" pitchFamily="34" charset="0"/>
                        <a:ea typeface="微软雅黑" panose="020B0503020204020204" pitchFamily="34" charset="-122"/>
                        <a:sym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5"/>
                  </a:ext>
                </a:extLst>
              </a:tr>
              <a:tr h="461080">
                <a:tc vMerge="1">
                  <a:txBody>
                    <a:bodyPr/>
                    <a:lstStyle/>
                    <a:p>
                      <a:pPr algn="ctr"/>
                      <a:endParaRPr lang="zh-CN" altLang="en-US" sz="1400" dirty="0">
                        <a:latin typeface="+mn-ea"/>
                        <a:ea typeface="+mn-ea"/>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zh-CN" altLang="en-US" sz="1200" dirty="0">
                          <a:latin typeface="Arial" panose="020B0604020202020204" pitchFamily="34" charset="0"/>
                          <a:ea typeface="微软雅黑" panose="020B0503020204020204" pitchFamily="34" charset="-122"/>
                          <a:sym typeface="Arial" panose="020B0604020202020204" pitchFamily="34" charset="0"/>
                        </a:rPr>
                        <a:t>变道成功率</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zh-CN" altLang="en-US" sz="1200" dirty="0">
                          <a:latin typeface="Arial" panose="020B0604020202020204" pitchFamily="34" charset="0"/>
                          <a:ea typeface="微软雅黑" panose="020B0503020204020204" pitchFamily="34" charset="-122"/>
                          <a:sym typeface="Arial" panose="020B0604020202020204" pitchFamily="34" charset="0"/>
                        </a:rPr>
                        <a:t>有</a:t>
                      </a:r>
                      <a:r>
                        <a:rPr lang="en-US" altLang="zh-CN" sz="1200" dirty="0">
                          <a:latin typeface="Arial" panose="020B0604020202020204" pitchFamily="34" charset="0"/>
                          <a:ea typeface="微软雅黑" panose="020B0503020204020204" pitchFamily="34" charset="-122"/>
                          <a:sym typeface="Arial" panose="020B0604020202020204" pitchFamily="34" charset="0"/>
                        </a:rPr>
                        <a:t>/</a:t>
                      </a:r>
                      <a:r>
                        <a:rPr lang="zh-CN" altLang="en-US" sz="1200" dirty="0">
                          <a:latin typeface="Arial" panose="020B0604020202020204" pitchFamily="34" charset="0"/>
                          <a:ea typeface="微软雅黑" panose="020B0503020204020204" pitchFamily="34" charset="-122"/>
                          <a:sym typeface="Arial" panose="020B0604020202020204" pitchFamily="34" charset="0"/>
                        </a:rPr>
                        <a:t>无保护左右转</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CN" sz="1200" dirty="0">
                          <a:latin typeface="Arial" panose="020B0604020202020204" pitchFamily="34" charset="0"/>
                          <a:ea typeface="微软雅黑" panose="020B0503020204020204" pitchFamily="34" charset="-122"/>
                          <a:sym typeface="Arial" panose="020B0604020202020204" pitchFamily="34" charset="0"/>
                        </a:rPr>
                        <a:t>≥99%</a:t>
                      </a:r>
                      <a:endParaRPr lang="zh-CN" altLang="en-US" sz="1200" dirty="0">
                        <a:latin typeface="Arial" panose="020B0604020202020204" pitchFamily="34" charset="0"/>
                        <a:ea typeface="微软雅黑" panose="020B0503020204020204" pitchFamily="34" charset="-122"/>
                        <a:sym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CN" sz="1200" dirty="0">
                          <a:latin typeface="Arial" panose="020B0604020202020204" pitchFamily="34" charset="0"/>
                          <a:ea typeface="微软雅黑" panose="020B0503020204020204" pitchFamily="34" charset="-122"/>
                          <a:sym typeface="Arial" panose="020B0604020202020204" pitchFamily="34" charset="0"/>
                        </a:rPr>
                        <a:t>-</a:t>
                      </a:r>
                      <a:endParaRPr lang="zh-CN" altLang="en-US" sz="1200" dirty="0">
                        <a:latin typeface="Arial" panose="020B0604020202020204" pitchFamily="34" charset="0"/>
                        <a:ea typeface="微软雅黑" panose="020B0503020204020204" pitchFamily="34" charset="-122"/>
                        <a:sym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6"/>
                  </a:ext>
                </a:extLst>
              </a:tr>
              <a:tr h="461080">
                <a:tc vMerge="1">
                  <a:txBody>
                    <a:bodyPr/>
                    <a:lstStyle/>
                    <a:p>
                      <a:pPr algn="ctr"/>
                      <a:endParaRPr lang="zh-CN" altLang="en-US" sz="1400" dirty="0">
                        <a:latin typeface="Arial" panose="020B0604020202020204" pitchFamily="34" charset="0"/>
                        <a:ea typeface="微软雅黑" panose="020B0503020204020204" pitchFamily="34" charset="-122"/>
                        <a:sym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zh-CN" altLang="en-US" sz="1200" dirty="0">
                          <a:latin typeface="Arial" panose="020B0604020202020204" pitchFamily="34" charset="0"/>
                          <a:ea typeface="微软雅黑" panose="020B0503020204020204" pitchFamily="34" charset="-122"/>
                          <a:sym typeface="Arial" panose="020B0604020202020204" pitchFamily="34" charset="0"/>
                        </a:rPr>
                        <a:t>汇入汇出成功率</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CN" altLang="en-US" sz="1200" dirty="0">
                        <a:latin typeface="Arial" panose="020B0604020202020204" pitchFamily="34" charset="0"/>
                        <a:ea typeface="微软雅黑" panose="020B0503020204020204" pitchFamily="34" charset="-122"/>
                        <a:sym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CN" sz="1200" dirty="0">
                          <a:latin typeface="Arial" panose="020B0604020202020204" pitchFamily="34" charset="0"/>
                          <a:ea typeface="微软雅黑" panose="020B0503020204020204" pitchFamily="34" charset="-122"/>
                          <a:sym typeface="Arial" panose="020B0604020202020204" pitchFamily="34" charset="0"/>
                        </a:rPr>
                        <a:t>-</a:t>
                      </a:r>
                      <a:endParaRPr lang="zh-CN" altLang="en-US" sz="1200" dirty="0">
                        <a:latin typeface="Arial" panose="020B0604020202020204" pitchFamily="34" charset="0"/>
                        <a:ea typeface="微软雅黑" panose="020B0503020204020204" pitchFamily="34" charset="-122"/>
                        <a:sym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CN" sz="1200" dirty="0">
                          <a:latin typeface="Arial" panose="020B0604020202020204" pitchFamily="34" charset="0"/>
                          <a:ea typeface="微软雅黑" panose="020B0503020204020204" pitchFamily="34" charset="-122"/>
                          <a:sym typeface="Arial" panose="020B0604020202020204" pitchFamily="34" charset="0"/>
                        </a:rPr>
                        <a:t>≥98.5%</a:t>
                      </a:r>
                      <a:endParaRPr lang="zh-CN" altLang="en-US" sz="1200" dirty="0">
                        <a:latin typeface="Arial" panose="020B0604020202020204" pitchFamily="34" charset="0"/>
                        <a:ea typeface="微软雅黑" panose="020B0503020204020204" pitchFamily="34" charset="-122"/>
                        <a:sym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775340267"/>
                  </a:ext>
                </a:extLst>
              </a:tr>
              <a:tr h="461080">
                <a:tc vMerge="1">
                  <a:txBody>
                    <a:bodyPr/>
                    <a:lstStyle/>
                    <a:p>
                      <a:pPr algn="ctr"/>
                      <a:endParaRPr lang="zh-CN" altLang="en-US" sz="1400" dirty="0">
                        <a:latin typeface="Arial" panose="020B0604020202020204" pitchFamily="34" charset="0"/>
                        <a:ea typeface="微软雅黑" panose="020B0503020204020204" pitchFamily="34" charset="-122"/>
                        <a:sym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zh-CN" altLang="en-US" sz="1200" dirty="0">
                          <a:latin typeface="Arial" panose="020B0604020202020204" pitchFamily="34" charset="0"/>
                          <a:ea typeface="微软雅黑" panose="020B0503020204020204" pitchFamily="34" charset="-122"/>
                          <a:sym typeface="Arial" panose="020B0604020202020204" pitchFamily="34" charset="0"/>
                        </a:rPr>
                        <a:t>上下匝道成功率</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CN" altLang="en-US" sz="1200" dirty="0">
                        <a:latin typeface="Arial" panose="020B0604020202020204" pitchFamily="34" charset="0"/>
                        <a:ea typeface="微软雅黑" panose="020B0503020204020204" pitchFamily="34" charset="-122"/>
                        <a:sym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CN" sz="1200" dirty="0">
                          <a:latin typeface="Arial" panose="020B0604020202020204" pitchFamily="34" charset="0"/>
                          <a:ea typeface="微软雅黑" panose="020B0503020204020204" pitchFamily="34" charset="-122"/>
                          <a:sym typeface="Arial" panose="020B0604020202020204" pitchFamily="34" charset="0"/>
                        </a:rPr>
                        <a:t>-</a:t>
                      </a:r>
                      <a:endParaRPr lang="zh-CN" altLang="en-US" sz="1200" dirty="0">
                        <a:latin typeface="Arial" panose="020B0604020202020204" pitchFamily="34" charset="0"/>
                        <a:ea typeface="微软雅黑" panose="020B0503020204020204" pitchFamily="34" charset="-122"/>
                        <a:sym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CN" sz="1200" dirty="0">
                          <a:latin typeface="Arial" panose="020B0604020202020204" pitchFamily="34" charset="0"/>
                          <a:ea typeface="微软雅黑" panose="020B0503020204020204" pitchFamily="34" charset="-122"/>
                          <a:sym typeface="Arial" panose="020B0604020202020204" pitchFamily="34" charset="0"/>
                        </a:rPr>
                        <a:t>≥98.5%</a:t>
                      </a:r>
                      <a:endParaRPr lang="zh-CN" altLang="en-US" sz="1200" dirty="0">
                        <a:latin typeface="Arial" panose="020B0604020202020204" pitchFamily="34" charset="0"/>
                        <a:ea typeface="微软雅黑" panose="020B0503020204020204" pitchFamily="34" charset="-122"/>
                        <a:sym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874443229"/>
                  </a:ext>
                </a:extLst>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0B4571A7-0608-4CA0-91C4-DD76FEAC2393}" type="datetime1">
              <a:rPr kumimoji="0" lang="zh-CN" altLang="en-US" sz="800" b="0" i="0" u="none" strike="noStrike" kern="1200" cap="none" spc="0" normalizeH="0" baseline="0" noProof="0" smtClean="0">
                <a:ln>
                  <a:noFill/>
                </a:ln>
                <a:solidFill>
                  <a:srgbClr val="131319"/>
                </a:solidFill>
                <a:effectLst/>
                <a:uLnTx/>
                <a:uFillTx/>
                <a:latin typeface="Arial" panose="020B0604020202020204" pitchFamily="34" charset="0"/>
                <a:ea typeface="微软雅黑" panose="020B0503020204020204" pitchFamily="34" charset="-122"/>
                <a:sym typeface="Arial" panose="020B0604020202020204" pitchFamily="34" charset="0"/>
              </a:rPr>
              <a:t>2026/2/10</a:t>
            </a:fld>
            <a:endParaRPr kumimoji="0" lang="en-US" altLang="en-US" sz="800" b="0" i="0" u="none" strike="noStrike" kern="1200" cap="none" spc="0" normalizeH="0" baseline="0" noProof="0" dirty="0">
              <a:ln>
                <a:noFill/>
              </a:ln>
              <a:solidFill>
                <a:srgbClr val="131319"/>
              </a:solidFill>
              <a:effectLst/>
              <a:uLnTx/>
              <a:uFillTx/>
              <a:latin typeface="Arial" panose="020B0604020202020204" pitchFamily="34" charset="0"/>
              <a:ea typeface="微软雅黑" panose="020B0503020204020204" pitchFamily="34" charset="-122"/>
              <a:sym typeface="Arial" panose="020B0604020202020204" pitchFamily="34" charset="0"/>
            </a:endParaRPr>
          </a:p>
        </p:txBody>
      </p:sp>
      <p:sp>
        <p:nvSpPr>
          <p:cNvPr id="4" name="灯片编号占位符 3"/>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9CC13275-6251-4C40-AFE1-85D85DA07171}" type="slidenum">
              <a:rPr kumimoji="0" lang="en-US" altLang="en-US" sz="800" b="0" i="0" u="none" strike="noStrike" kern="1200" cap="none" spc="0" normalizeH="0" baseline="0" noProof="0" smtClean="0">
                <a:ln>
                  <a:noFill/>
                </a:ln>
                <a:solidFill>
                  <a:srgbClr val="131319"/>
                </a:solidFill>
                <a:effectLst/>
                <a:uLnTx/>
                <a:uFillTx/>
                <a:latin typeface="Arial" panose="020B0604020202020204" pitchFamily="34" charset="0"/>
                <a:ea typeface="微软雅黑" panose="020B0503020204020204" pitchFamily="34" charset="-122"/>
                <a:sym typeface="Arial" panose="020B0604020202020204" pitchFamily="34" charset="0"/>
              </a:rPr>
              <a:t>7</a:t>
            </a:fld>
            <a:endParaRPr kumimoji="0" lang="en-US" altLang="en-US" sz="800" b="0" i="0" u="none" strike="noStrike" kern="1200" cap="none" spc="0" normalizeH="0" baseline="0" noProof="0" dirty="0">
              <a:ln>
                <a:noFill/>
              </a:ln>
              <a:solidFill>
                <a:srgbClr val="131319"/>
              </a:solidFill>
              <a:effectLst/>
              <a:uLnTx/>
              <a:uFillTx/>
              <a:latin typeface="Arial" panose="020B0604020202020204" pitchFamily="34" charset="0"/>
              <a:ea typeface="微软雅黑" panose="020B0503020204020204" pitchFamily="34" charset="-122"/>
              <a:sym typeface="Arial" panose="020B0604020202020204" pitchFamily="34" charset="0"/>
            </a:endParaRPr>
          </a:p>
        </p:txBody>
      </p:sp>
      <p:sp>
        <p:nvSpPr>
          <p:cNvPr id="5" name="页脚占位符 4"/>
          <p:cNvSpPr txBox="1"/>
          <p:nvPr/>
        </p:nvSpPr>
        <p:spPr>
          <a:xfrm>
            <a:off x="3738000" y="6576147"/>
            <a:ext cx="4716000" cy="237548"/>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800" b="0"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pitchFamily="34" charset="-122"/>
                <a:sym typeface="Arial" panose="020B0604020202020204" pitchFamily="34" charset="0"/>
              </a:rPr>
              <a:t>Horizon Continental Technology Shanghai Co.</a:t>
            </a:r>
            <a:r>
              <a:rPr kumimoji="0" lang="zh-CN" altLang="en-US" sz="800" b="0"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pitchFamily="34" charset="-122"/>
                <a:sym typeface="Arial" panose="020B0604020202020204" pitchFamily="34" charset="0"/>
              </a:rPr>
              <a:t>，</a:t>
            </a:r>
            <a:r>
              <a:rPr kumimoji="0" lang="en-US" altLang="zh-CN" sz="800" b="0"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pitchFamily="34" charset="-122"/>
                <a:sym typeface="Arial" panose="020B0604020202020204" pitchFamily="34" charset="0"/>
              </a:rPr>
              <a:t> Ltd -  Confidential Information Under NDA</a:t>
            </a:r>
            <a:endParaRPr kumimoji="0" lang="en-US" altLang="en-US" sz="800" b="0"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pitchFamily="34" charset="-122"/>
              <a:sym typeface="Arial" panose="020B0604020202020204" pitchFamily="34" charset="0"/>
            </a:endParaRPr>
          </a:p>
        </p:txBody>
      </p:sp>
      <p:sp>
        <p:nvSpPr>
          <p:cNvPr id="3" name="文本框 2"/>
          <p:cNvSpPr txBox="1"/>
          <p:nvPr/>
        </p:nvSpPr>
        <p:spPr>
          <a:xfrm>
            <a:off x="777240" y="488315"/>
            <a:ext cx="10637520" cy="491490"/>
          </a:xfrm>
          <a:prstGeom prst="rect">
            <a:avLst/>
          </a:prstGeom>
          <a:noFill/>
        </p:spPr>
        <p:txBody>
          <a:bodyPr wrap="square">
            <a:spAutoFit/>
          </a:bodyPr>
          <a:lstStyle>
            <a:defPPr>
              <a:defRPr lang="en-US"/>
            </a:defPPr>
            <a:lvl1pPr algn="ctr">
              <a:defRPr sz="2600" b="0" spc="300">
                <a:solidFill>
                  <a:srgbClr val="001432"/>
                </a:solidFill>
                <a:latin typeface="+mj-ea"/>
                <a:ea typeface="+mj-ea"/>
              </a:defRPr>
            </a:lvl1pPr>
          </a:lstStyle>
          <a:p>
            <a:pPr lvl="0">
              <a:defRPr/>
            </a:pPr>
            <a:r>
              <a:rPr lang="en-US" altLang="zh-CN" dirty="0">
                <a:solidFill>
                  <a:srgbClr val="131319"/>
                </a:solidFill>
                <a:latin typeface="Arial" panose="020B0604020202020204" pitchFamily="34" charset="0"/>
                <a:ea typeface="微软雅黑" panose="020B0503020204020204" pitchFamily="34" charset="-122"/>
                <a:sym typeface="Arial" panose="020B0604020202020204" pitchFamily="34" charset="0"/>
              </a:rPr>
              <a:t>Astra</a:t>
            </a:r>
            <a:r>
              <a:rPr lang="zh-CN" altLang="en-US" dirty="0">
                <a:solidFill>
                  <a:srgbClr val="131319"/>
                </a:solidFill>
                <a:latin typeface="Arial" panose="020B0604020202020204" pitchFamily="34" charset="0"/>
                <a:ea typeface="微软雅黑" panose="020B0503020204020204" pitchFamily="34" charset="-122"/>
                <a:sym typeface="Arial" panose="020B0604020202020204" pitchFamily="34" charset="0"/>
              </a:rPr>
              <a:t>漫游功能介绍</a:t>
            </a:r>
            <a:endParaRPr lang="zh-CN" altLang="en-US" sz="4000" dirty="0">
              <a:solidFill>
                <a:srgbClr val="131319"/>
              </a:solidFill>
              <a:latin typeface="Arial" panose="020B0604020202020204" pitchFamily="34" charset="0"/>
              <a:ea typeface="微软雅黑" panose="020B0503020204020204" pitchFamily="34" charset="-122"/>
              <a:sym typeface="Arial" panose="020B0604020202020204" pitchFamily="34" charset="0"/>
            </a:endParaRPr>
          </a:p>
        </p:txBody>
      </p:sp>
      <p:sp>
        <p:nvSpPr>
          <p:cNvPr id="7" name="文本框 6"/>
          <p:cNvSpPr txBox="1"/>
          <p:nvPr/>
        </p:nvSpPr>
        <p:spPr>
          <a:xfrm>
            <a:off x="665506" y="1240002"/>
            <a:ext cx="3753976" cy="369332"/>
          </a:xfrm>
          <a:prstGeom prst="rect">
            <a:avLst/>
          </a:prstGeom>
          <a:noFill/>
        </p:spPr>
        <p:txBody>
          <a:bodyPr wrap="none" rtlCol="0">
            <a:spAutoFit/>
          </a:bodyPr>
          <a:lstStyle/>
          <a:p>
            <a:r>
              <a:rPr kumimoji="1" lang="zh-CN" altLang="en-US" b="1" dirty="0">
                <a:latin typeface="Arial" panose="020B0604020202020204" pitchFamily="34" charset="0"/>
                <a:ea typeface="微软雅黑" panose="020B0503020204020204" pitchFamily="34" charset="-122"/>
                <a:sym typeface="Arial" panose="020B0604020202020204" pitchFamily="34" charset="0"/>
              </a:rPr>
              <a:t>漫游辅助驾驶</a:t>
            </a:r>
            <a:r>
              <a:rPr kumimoji="1" lang="en-US" altLang="zh-CN" b="1" dirty="0">
                <a:latin typeface="Arial" panose="020B0604020202020204" pitchFamily="34" charset="0"/>
                <a:ea typeface="微软雅黑" panose="020B0503020204020204" pitchFamily="34" charset="-122"/>
                <a:sym typeface="Arial" panose="020B0604020202020204" pitchFamily="34" charset="0"/>
              </a:rPr>
              <a:t>(CA</a:t>
            </a:r>
            <a:r>
              <a:rPr kumimoji="1" lang="zh-CN" altLang="en-US" b="1" dirty="0">
                <a:latin typeface="Arial" panose="020B0604020202020204" pitchFamily="34" charset="0"/>
                <a:ea typeface="微软雅黑" panose="020B0503020204020204" pitchFamily="34" charset="-122"/>
                <a:sym typeface="Arial" panose="020B0604020202020204" pitchFamily="34" charset="0"/>
              </a:rPr>
              <a:t>，</a:t>
            </a:r>
            <a:r>
              <a:rPr kumimoji="1" lang="en-US" altLang="zh-CN" b="1" dirty="0">
                <a:latin typeface="Arial" panose="020B0604020202020204" pitchFamily="34" charset="0"/>
                <a:ea typeface="微软雅黑" panose="020B0503020204020204" pitchFamily="34" charset="-122"/>
                <a:sym typeface="Arial" panose="020B0604020202020204" pitchFamily="34" charset="0"/>
              </a:rPr>
              <a:t>Cruise</a:t>
            </a:r>
            <a:r>
              <a:rPr kumimoji="1" lang="zh-CN" altLang="en-US" b="1" dirty="0">
                <a:latin typeface="Arial" panose="020B0604020202020204" pitchFamily="34" charset="0"/>
                <a:ea typeface="微软雅黑" panose="020B0503020204020204" pitchFamily="34" charset="-122"/>
                <a:sym typeface="Arial" panose="020B0604020202020204" pitchFamily="34" charset="0"/>
              </a:rPr>
              <a:t> </a:t>
            </a:r>
            <a:r>
              <a:rPr kumimoji="1" lang="en-US" altLang="zh-CN" b="1" dirty="0">
                <a:latin typeface="Arial" panose="020B0604020202020204" pitchFamily="34" charset="0"/>
                <a:ea typeface="微软雅黑" panose="020B0503020204020204" pitchFamily="34" charset="-122"/>
                <a:sym typeface="Arial" panose="020B0604020202020204" pitchFamily="34" charset="0"/>
              </a:rPr>
              <a:t>Assist)</a:t>
            </a:r>
            <a:endParaRPr kumimoji="1" lang="zh-CN" altLang="en-US" b="1" dirty="0">
              <a:latin typeface="Arial" panose="020B0604020202020204" pitchFamily="34" charset="0"/>
              <a:ea typeface="微软雅黑" panose="020B0503020204020204" pitchFamily="34" charset="-122"/>
              <a:sym typeface="Arial" panose="020B0604020202020204" pitchFamily="34" charset="0"/>
            </a:endParaRPr>
          </a:p>
        </p:txBody>
      </p:sp>
      <p:sp>
        <p:nvSpPr>
          <p:cNvPr id="14" name="文本框 13"/>
          <p:cNvSpPr txBox="1"/>
          <p:nvPr/>
        </p:nvSpPr>
        <p:spPr>
          <a:xfrm>
            <a:off x="665506" y="1642324"/>
            <a:ext cx="10834315" cy="307777"/>
          </a:xfrm>
          <a:prstGeom prst="rect">
            <a:avLst/>
          </a:prstGeom>
          <a:noFill/>
        </p:spPr>
        <p:txBody>
          <a:bodyPr wrap="square">
            <a:spAutoFit/>
          </a:bodyPr>
          <a:lstStyle/>
          <a:p>
            <a:r>
              <a:rPr lang="en-US" altLang="zh-CN" sz="1400" dirty="0">
                <a:latin typeface="Arial" panose="020B0604020202020204" pitchFamily="34" charset="0"/>
                <a:ea typeface="微软雅黑" panose="020B0503020204020204" pitchFamily="34" charset="-122"/>
                <a:sym typeface="Arial" panose="020B0604020202020204" pitchFamily="34" charset="0"/>
              </a:rPr>
              <a:t>CA</a:t>
            </a:r>
            <a:r>
              <a:rPr lang="zh-CN" altLang="en-US" sz="1400" dirty="0">
                <a:latin typeface="Arial" panose="020B0604020202020204" pitchFamily="34" charset="0"/>
                <a:ea typeface="微软雅黑" panose="020B0503020204020204" pitchFamily="34" charset="-122"/>
                <a:sym typeface="Arial" panose="020B0604020202020204" pitchFamily="34" charset="0"/>
              </a:rPr>
              <a:t>在“无导航路径下发”的情况下，基于</a:t>
            </a:r>
            <a:r>
              <a:rPr lang="zh-CN" altLang="en-US" sz="1400" b="1" dirty="0">
                <a:latin typeface="Arial" panose="020B0604020202020204" pitchFamily="34" charset="0"/>
                <a:ea typeface="微软雅黑" panose="020B0503020204020204" pitchFamily="34" charset="-122"/>
                <a:sym typeface="Arial" panose="020B0604020202020204" pitchFamily="34" charset="0"/>
              </a:rPr>
              <a:t>“用户指令”</a:t>
            </a:r>
            <a:r>
              <a:rPr lang="zh-CN" altLang="en-US" sz="1400" dirty="0">
                <a:latin typeface="Arial" panose="020B0604020202020204" pitchFamily="34" charset="0"/>
                <a:ea typeface="微软雅黑" panose="020B0503020204020204" pitchFamily="34" charset="-122"/>
                <a:sym typeface="Arial" panose="020B0604020202020204" pitchFamily="34" charset="0"/>
              </a:rPr>
              <a:t>或</a:t>
            </a:r>
            <a:r>
              <a:rPr lang="zh-CN" altLang="en-US" sz="1400" b="1" dirty="0">
                <a:latin typeface="Arial" panose="020B0604020202020204" pitchFamily="34" charset="0"/>
                <a:ea typeface="微软雅黑" panose="020B0503020204020204" pitchFamily="34" charset="-122"/>
                <a:sym typeface="Arial" panose="020B0604020202020204" pitchFamily="34" charset="0"/>
              </a:rPr>
              <a:t>“系统默认策略”</a:t>
            </a:r>
            <a:r>
              <a:rPr lang="zh-CN" altLang="en-US" sz="1400" dirty="0">
                <a:latin typeface="Arial" panose="020B0604020202020204" pitchFamily="34" charset="0"/>
                <a:ea typeface="微软雅黑" panose="020B0503020204020204" pitchFamily="34" charset="-122"/>
                <a:sym typeface="Arial" panose="020B0604020202020204" pitchFamily="34" charset="0"/>
              </a:rPr>
              <a:t>进行巡航轨迹规划，实现车位到车位的全场景辅助驾驶</a:t>
            </a:r>
            <a:endParaRPr lang="zh-CN" altLang="en-US" dirty="0">
              <a:latin typeface="Arial" panose="020B0604020202020204" pitchFamily="34" charset="0"/>
              <a:ea typeface="微软雅黑" panose="020B0503020204020204" pitchFamily="34" charset="-122"/>
              <a:sym typeface="Arial" panose="020B0604020202020204" pitchFamily="34" charset="0"/>
            </a:endParaRPr>
          </a:p>
        </p:txBody>
      </p:sp>
      <p:pic>
        <p:nvPicPr>
          <p:cNvPr id="15" name="图片 14"/>
          <p:cNvPicPr>
            <a:picLocks noChangeAspect="1"/>
          </p:cNvPicPr>
          <p:nvPr/>
        </p:nvPicPr>
        <p:blipFill>
          <a:blip r:embed="rId3" cstate="hqprint"/>
          <a:srcRect l="15910" t="1924" r="2131" b="-1924"/>
          <a:stretch>
            <a:fillRect/>
          </a:stretch>
        </p:blipFill>
        <p:spPr>
          <a:xfrm>
            <a:off x="828756" y="2356915"/>
            <a:ext cx="5195245" cy="3565616"/>
          </a:xfrm>
          <a:prstGeom prst="roundRect">
            <a:avLst>
              <a:gd name="adj" fmla="val 0"/>
            </a:avLst>
          </a:prstGeom>
        </p:spPr>
      </p:pic>
      <p:sp>
        <p:nvSpPr>
          <p:cNvPr id="9" name="文本框 8">
            <a:extLst>
              <a:ext uri="{FF2B5EF4-FFF2-40B4-BE49-F238E27FC236}">
                <a16:creationId xmlns:a16="http://schemas.microsoft.com/office/drawing/2014/main" id="{FE12EC69-E6FB-B2D7-2B5C-4B99B1092D7B}"/>
              </a:ext>
            </a:extLst>
          </p:cNvPr>
          <p:cNvSpPr txBox="1"/>
          <p:nvPr/>
        </p:nvSpPr>
        <p:spPr>
          <a:xfrm>
            <a:off x="6491889" y="2190117"/>
            <a:ext cx="1614115" cy="418128"/>
          </a:xfrm>
          <a:prstGeom prst="rect">
            <a:avLst/>
          </a:prstGeom>
          <a:noFill/>
        </p:spPr>
        <p:txBody>
          <a:bodyPr wrap="square" rtlCol="0">
            <a:spAutoFit/>
          </a:bodyPr>
          <a:lstStyle/>
          <a:p>
            <a:pPr>
              <a:lnSpc>
                <a:spcPct val="150000"/>
              </a:lnSpc>
            </a:pPr>
            <a:r>
              <a:rPr kumimoji="1" lang="zh-CN" altLang="en-US" sz="1600" b="1" dirty="0">
                <a:latin typeface="Arial" panose="020B0604020202020204" pitchFamily="34" charset="0"/>
                <a:ea typeface="微软雅黑" panose="020B0503020204020204" pitchFamily="34" charset="-122"/>
                <a:sym typeface="Arial" panose="020B0604020202020204" pitchFamily="34" charset="0"/>
              </a:rPr>
              <a:t>自由驾驶</a:t>
            </a:r>
          </a:p>
        </p:txBody>
      </p:sp>
      <p:sp>
        <p:nvSpPr>
          <p:cNvPr id="12" name="文本框 11">
            <a:extLst>
              <a:ext uri="{FF2B5EF4-FFF2-40B4-BE49-F238E27FC236}">
                <a16:creationId xmlns:a16="http://schemas.microsoft.com/office/drawing/2014/main" id="{FA5AB308-0E7A-3F63-7793-B029E7F8814A}"/>
              </a:ext>
            </a:extLst>
          </p:cNvPr>
          <p:cNvSpPr txBox="1"/>
          <p:nvPr/>
        </p:nvSpPr>
        <p:spPr>
          <a:xfrm>
            <a:off x="6491890" y="2613703"/>
            <a:ext cx="4710012" cy="538994"/>
          </a:xfrm>
          <a:prstGeom prst="rect">
            <a:avLst/>
          </a:prstGeom>
          <a:noFill/>
        </p:spPr>
        <p:txBody>
          <a:bodyPr wrap="square" rtlCol="0">
            <a:spAutoFit/>
          </a:bodyPr>
          <a:lstStyle>
            <a:defPPr>
              <a:defRPr lang="zh-CN"/>
            </a:defPPr>
            <a:lvl1pPr>
              <a:defRPr kumimoji="1" sz="1200"/>
            </a:lvl1pPr>
          </a:lstStyle>
          <a:p>
            <a:pPr>
              <a:lnSpc>
                <a:spcPts val="1800"/>
              </a:lnSpc>
            </a:pPr>
            <a:r>
              <a:rPr lang="zh-CN" altLang="en-US" sz="1400" dirty="0">
                <a:latin typeface="Arial" panose="020B0604020202020204" pitchFamily="34" charset="0"/>
                <a:ea typeface="微软雅黑" panose="020B0503020204020204" pitchFamily="34" charset="-122"/>
                <a:sym typeface="Arial" panose="020B0604020202020204" pitchFamily="34" charset="0"/>
              </a:rPr>
              <a:t>用户不设置目的地，漫游行驶，车辆结合道路交通规则和驾驶员指令“自主漫游”</a:t>
            </a:r>
          </a:p>
        </p:txBody>
      </p:sp>
      <p:sp>
        <p:nvSpPr>
          <p:cNvPr id="16" name="文本框 15">
            <a:extLst>
              <a:ext uri="{FF2B5EF4-FFF2-40B4-BE49-F238E27FC236}">
                <a16:creationId xmlns:a16="http://schemas.microsoft.com/office/drawing/2014/main" id="{08EB94E5-1C36-54F3-299F-6A72092A6790}"/>
              </a:ext>
            </a:extLst>
          </p:cNvPr>
          <p:cNvSpPr txBox="1"/>
          <p:nvPr/>
        </p:nvSpPr>
        <p:spPr>
          <a:xfrm>
            <a:off x="6491890" y="3501105"/>
            <a:ext cx="2097622" cy="418128"/>
          </a:xfrm>
          <a:prstGeom prst="rect">
            <a:avLst/>
          </a:prstGeom>
          <a:noFill/>
        </p:spPr>
        <p:txBody>
          <a:bodyPr wrap="square" rtlCol="0">
            <a:spAutoFit/>
          </a:bodyPr>
          <a:lstStyle/>
          <a:p>
            <a:pPr>
              <a:lnSpc>
                <a:spcPct val="150000"/>
              </a:lnSpc>
            </a:pPr>
            <a:r>
              <a:rPr kumimoji="1" lang="zh-CN" altLang="en-US" sz="1600" b="1" dirty="0">
                <a:latin typeface="Arial" panose="020B0604020202020204" pitchFamily="34" charset="0"/>
                <a:ea typeface="微软雅黑" panose="020B0503020204020204" pitchFamily="34" charset="-122"/>
                <a:sym typeface="Arial" panose="020B0604020202020204" pitchFamily="34" charset="0"/>
              </a:rPr>
              <a:t>自主寻路</a:t>
            </a:r>
          </a:p>
        </p:txBody>
      </p:sp>
      <p:sp>
        <p:nvSpPr>
          <p:cNvPr id="17" name="文本框 16">
            <a:extLst>
              <a:ext uri="{FF2B5EF4-FFF2-40B4-BE49-F238E27FC236}">
                <a16:creationId xmlns:a16="http://schemas.microsoft.com/office/drawing/2014/main" id="{E0FCD917-19C5-92EF-FA12-30190044BEE6}"/>
              </a:ext>
            </a:extLst>
          </p:cNvPr>
          <p:cNvSpPr txBox="1"/>
          <p:nvPr/>
        </p:nvSpPr>
        <p:spPr>
          <a:xfrm>
            <a:off x="6491888" y="3949287"/>
            <a:ext cx="4710013" cy="538994"/>
          </a:xfrm>
          <a:prstGeom prst="rect">
            <a:avLst/>
          </a:prstGeom>
          <a:noFill/>
        </p:spPr>
        <p:txBody>
          <a:bodyPr wrap="square" rtlCol="0">
            <a:spAutoFit/>
          </a:bodyPr>
          <a:lstStyle/>
          <a:p>
            <a:pPr>
              <a:lnSpc>
                <a:spcPts val="1800"/>
              </a:lnSpc>
            </a:pPr>
            <a:r>
              <a:rPr kumimoji="1" lang="zh-CN" altLang="en-US" sz="1400" dirty="0">
                <a:latin typeface="Arial" panose="020B0604020202020204" pitchFamily="34" charset="0"/>
                <a:ea typeface="微软雅黑" panose="020B0503020204020204" pitchFamily="34" charset="-122"/>
                <a:sym typeface="Arial" panose="020B0604020202020204" pitchFamily="34" charset="0"/>
              </a:rPr>
              <a:t>在园区内、停车场内，</a:t>
            </a:r>
            <a:r>
              <a:rPr lang="en-US" altLang="zh-CN" sz="1400" dirty="0">
                <a:latin typeface="Arial" panose="020B0604020202020204" pitchFamily="34" charset="0"/>
                <a:ea typeface="微软雅黑" panose="020B0503020204020204" pitchFamily="34" charset="-122"/>
                <a:sym typeface="Arial" panose="020B0604020202020204" pitchFamily="34" charset="0"/>
              </a:rPr>
              <a:t> </a:t>
            </a:r>
            <a:r>
              <a:rPr lang="zh-CN" altLang="en-US" sz="1400" dirty="0">
                <a:latin typeface="Arial" panose="020B0604020202020204" pitchFamily="34" charset="0"/>
                <a:ea typeface="微软雅黑" panose="020B0503020204020204" pitchFamily="34" charset="-122"/>
                <a:sym typeface="Arial" panose="020B0604020202020204" pitchFamily="34" charset="0"/>
              </a:rPr>
              <a:t>车位内直接开启漫游，</a:t>
            </a:r>
            <a:r>
              <a:rPr kumimoji="1" lang="zh-CN" altLang="en-US" sz="1400" dirty="0">
                <a:latin typeface="Arial" panose="020B0604020202020204" pitchFamily="34" charset="0"/>
                <a:ea typeface="微软雅黑" panose="020B0503020204020204" pitchFamily="34" charset="-122"/>
                <a:sym typeface="Arial" panose="020B0604020202020204" pitchFamily="34" charset="0"/>
              </a:rPr>
              <a:t>按照地面箭头自主行驶，自主寻找可用车位或寻找出口</a:t>
            </a:r>
          </a:p>
        </p:txBody>
      </p:sp>
      <p:sp>
        <p:nvSpPr>
          <p:cNvPr id="22" name="文本框 21">
            <a:extLst>
              <a:ext uri="{FF2B5EF4-FFF2-40B4-BE49-F238E27FC236}">
                <a16:creationId xmlns:a16="http://schemas.microsoft.com/office/drawing/2014/main" id="{CD9B6394-FE8B-7D89-65BE-5D72360A166E}"/>
              </a:ext>
            </a:extLst>
          </p:cNvPr>
          <p:cNvSpPr txBox="1"/>
          <p:nvPr/>
        </p:nvSpPr>
        <p:spPr>
          <a:xfrm>
            <a:off x="6491888" y="4863545"/>
            <a:ext cx="2097622" cy="418128"/>
          </a:xfrm>
          <a:prstGeom prst="rect">
            <a:avLst/>
          </a:prstGeom>
          <a:noFill/>
        </p:spPr>
        <p:txBody>
          <a:bodyPr wrap="square" rtlCol="0">
            <a:spAutoFit/>
          </a:bodyPr>
          <a:lstStyle/>
          <a:p>
            <a:pPr>
              <a:lnSpc>
                <a:spcPct val="150000"/>
              </a:lnSpc>
            </a:pPr>
            <a:r>
              <a:rPr kumimoji="1" lang="zh-CN" altLang="en-US" sz="1600" b="1" dirty="0">
                <a:latin typeface="Arial" panose="020B0604020202020204" pitchFamily="34" charset="0"/>
                <a:ea typeface="微软雅黑" panose="020B0503020204020204" pitchFamily="34" charset="-122"/>
                <a:sym typeface="Arial" panose="020B0604020202020204" pitchFamily="34" charset="0"/>
              </a:rPr>
              <a:t>体验无断点</a:t>
            </a:r>
          </a:p>
        </p:txBody>
      </p:sp>
      <p:sp>
        <p:nvSpPr>
          <p:cNvPr id="23" name="文本框 22">
            <a:extLst>
              <a:ext uri="{FF2B5EF4-FFF2-40B4-BE49-F238E27FC236}">
                <a16:creationId xmlns:a16="http://schemas.microsoft.com/office/drawing/2014/main" id="{7E2ECB5F-0FF2-9900-C123-9FD88BD16D9E}"/>
              </a:ext>
            </a:extLst>
          </p:cNvPr>
          <p:cNvSpPr txBox="1"/>
          <p:nvPr/>
        </p:nvSpPr>
        <p:spPr>
          <a:xfrm>
            <a:off x="6491886" y="5311727"/>
            <a:ext cx="4710013" cy="538994"/>
          </a:xfrm>
          <a:prstGeom prst="rect">
            <a:avLst/>
          </a:prstGeom>
          <a:noFill/>
        </p:spPr>
        <p:txBody>
          <a:bodyPr wrap="square" rtlCol="0">
            <a:spAutoFit/>
          </a:bodyPr>
          <a:lstStyle/>
          <a:p>
            <a:pPr>
              <a:lnSpc>
                <a:spcPts val="1800"/>
              </a:lnSpc>
            </a:pPr>
            <a:r>
              <a:rPr kumimoji="1" lang="en-US" altLang="zh-CN" sz="1400" dirty="0">
                <a:latin typeface="Arial" panose="020B0604020202020204" pitchFamily="34" charset="0"/>
                <a:ea typeface="微软雅黑" panose="020B0503020204020204" pitchFamily="34" charset="-122"/>
                <a:sym typeface="Arial" panose="020B0604020202020204" pitchFamily="34" charset="0"/>
              </a:rPr>
              <a:t>NOA</a:t>
            </a:r>
            <a:r>
              <a:rPr kumimoji="1" lang="zh-CN" altLang="en-US" sz="1400" dirty="0">
                <a:latin typeface="Arial" panose="020B0604020202020204" pitchFamily="34" charset="0"/>
                <a:ea typeface="微软雅黑" panose="020B0503020204020204" pitchFamily="34" charset="-122"/>
                <a:sym typeface="Arial" panose="020B0604020202020204" pitchFamily="34" charset="0"/>
              </a:rPr>
              <a:t>导航到达目的地后衔接漫游，无需模式切换，实现全场景、全时段、全速域的辅助驾驶通行体验</a:t>
            </a:r>
          </a:p>
        </p:txBody>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heme/theme1.xml><?xml version="1.0" encoding="utf-8"?>
<a:theme xmlns:a="http://schemas.openxmlformats.org/drawingml/2006/main" name="Office 主题​​">
  <a:themeElements>
    <a:clrScheme name="自定义 12">
      <a:dk1>
        <a:srgbClr val="131319"/>
      </a:dk1>
      <a:lt1>
        <a:srgbClr val="FFFFFF"/>
      </a:lt1>
      <a:dk2>
        <a:srgbClr val="C2C6CF"/>
      </a:dk2>
      <a:lt2>
        <a:srgbClr val="00CCCC"/>
      </a:lt2>
      <a:accent1>
        <a:srgbClr val="00F0DC"/>
      </a:accent1>
      <a:accent2>
        <a:srgbClr val="9CFA78"/>
      </a:accent2>
      <a:accent3>
        <a:srgbClr val="D8FF0D"/>
      </a:accent3>
      <a:accent4>
        <a:srgbClr val="00DED5"/>
      </a:accent4>
      <a:accent5>
        <a:srgbClr val="00CDFF"/>
      </a:accent5>
      <a:accent6>
        <a:srgbClr val="0059FF"/>
      </a:accent6>
      <a:hlink>
        <a:srgbClr val="7823FF"/>
      </a:hlink>
      <a:folHlink>
        <a:srgbClr val="7030A0"/>
      </a:folHlink>
    </a:clrScheme>
    <a:fontScheme name="font">
      <a:majorFont>
        <a:latin typeface="微软雅黑"/>
        <a:ea typeface="微软雅黑"/>
        <a:cs typeface=""/>
      </a:majorFont>
      <a:minorFont>
        <a:latin typeface="微软雅黑"/>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bg2">
            <a:alpha val="15000"/>
          </a:schemeClr>
        </a:solidFill>
        <a:ln w="12700" cap="flat" cmpd="sng" algn="ctr">
          <a:noFill/>
          <a:prstDash val="solid"/>
          <a:miter lim="800000"/>
        </a:ln>
      </a:spPr>
      <a:bodyPr lIns="0" tIns="0" rIns="0" bIns="0" rtlCol="0" anchor="ctr"/>
      <a:lstStyle>
        <a:defPPr marL="0" marR="0" indent="0" algn="ctr" defTabSz="914400" eaLnBrk="1" fontAlgn="auto" latinLnBrk="0" hangingPunct="1">
          <a:lnSpc>
            <a:spcPct val="100000"/>
          </a:lnSpc>
          <a:spcBef>
            <a:spcPts val="0"/>
          </a:spcBef>
          <a:spcAft>
            <a:spcPts val="0"/>
          </a:spcAft>
          <a:buClrTx/>
          <a:buSzTx/>
          <a:buFontTx/>
          <a:buNone/>
          <a:defRPr kumimoji="0" sz="1200" b="1" i="0" u="none" strike="noStrike" kern="0" cap="none" spc="0" normalizeH="0" baseline="0" noProof="0" dirty="0">
            <a:ln>
              <a:noFill/>
            </a:ln>
            <a:solidFill>
              <a:schemeClr val="bg1"/>
            </a:solidFill>
            <a:effectLst/>
            <a:uLnTx/>
            <a:uFillTx/>
            <a:latin typeface="+mn-ea"/>
          </a:defRPr>
        </a:defPPr>
      </a:lstStyle>
    </a:sp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556</TotalTime>
  <Words>2965</Words>
  <Application>Microsoft Macintosh PowerPoint</Application>
  <PresentationFormat>宽屏</PresentationFormat>
  <Paragraphs>426</Paragraphs>
  <Slides>7</Slides>
  <Notes>7</Notes>
  <HiddenSlides>0</HiddenSlides>
  <MMClips>0</MMClips>
  <ScaleCrop>false</ScaleCrop>
  <HeadingPairs>
    <vt:vector size="8" baseType="variant">
      <vt:variant>
        <vt:lpstr>已用的字体</vt:lpstr>
      </vt:variant>
      <vt:variant>
        <vt:i4>3</vt:i4>
      </vt:variant>
      <vt:variant>
        <vt:lpstr>主题</vt:lpstr>
      </vt:variant>
      <vt:variant>
        <vt:i4>1</vt:i4>
      </vt:variant>
      <vt:variant>
        <vt:lpstr>嵌入 OLE 服务器</vt:lpstr>
      </vt:variant>
      <vt:variant>
        <vt:i4>1</vt:i4>
      </vt:variant>
      <vt:variant>
        <vt:lpstr>幻灯片标题</vt:lpstr>
      </vt:variant>
      <vt:variant>
        <vt:i4>7</vt:i4>
      </vt:variant>
    </vt:vector>
  </HeadingPairs>
  <TitlesOfParts>
    <vt:vector size="12" baseType="lpstr">
      <vt:lpstr>等线</vt:lpstr>
      <vt:lpstr>微软雅黑</vt:lpstr>
      <vt:lpstr>Arial</vt:lpstr>
      <vt:lpstr>Office 主题​​</vt:lpstr>
      <vt:lpstr>think-cell 幻灯片</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liqiong Zhao</dc:creator>
  <cp:lastModifiedBy>liqiong Zhao</cp:lastModifiedBy>
  <cp:revision>37</cp:revision>
  <dcterms:created xsi:type="dcterms:W3CDTF">2025-06-06T06:49:00Z</dcterms:created>
  <dcterms:modified xsi:type="dcterms:W3CDTF">2026-02-10T03:54:34Z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956147304DC74512858FF17B09F9F95A_12</vt:lpwstr>
  </property>
  <property fmtid="{D5CDD505-2E9C-101B-9397-08002B2CF9AE}" pid="3" name="KSOProductBuildVer">
    <vt:lpwstr>2052-12.1.0.21171</vt:lpwstr>
  </property>
</Properties>
</file>