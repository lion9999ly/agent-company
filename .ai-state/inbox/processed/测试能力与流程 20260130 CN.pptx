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  <p:sldMasterId id="2147483681" r:id="rId2"/>
  </p:sldMasterIdLst>
  <p:notesMasterIdLst>
    <p:notesMasterId r:id="rId9"/>
  </p:notesMasterIdLst>
  <p:sldIdLst>
    <p:sldId id="414" r:id="rId3"/>
    <p:sldId id="415" r:id="rId4"/>
    <p:sldId id="16770448" r:id="rId5"/>
    <p:sldId id="16770453" r:id="rId6"/>
    <p:sldId id="16770451" r:id="rId7"/>
    <p:sldId id="16770450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DE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13" autoAdjust="0"/>
    <p:restoredTop sz="93438" autoAdjust="0"/>
  </p:normalViewPr>
  <p:slideViewPr>
    <p:cSldViewPr snapToGrid="0">
      <p:cViewPr varScale="1">
        <p:scale>
          <a:sx n="157" d="100"/>
          <a:sy n="157" d="100"/>
        </p:scale>
        <p:origin x="6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307A1F-0554-4B60-942C-0AD84A0CCC34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1DA44E-032E-41AA-8845-C8BF72F24A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6397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Key points</a:t>
            </a:r>
            <a:r>
              <a:rPr lang="zh-CN" altLang="en-US" dirty="0"/>
              <a:t>：</a:t>
            </a:r>
            <a:endParaRPr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CN" altLang="en-US" dirty="0"/>
              <a:t>数据测试：有两类数据进行返回，一类是全量数据返回，会基于全量数据进行数据挖掘，一类是</a:t>
            </a:r>
            <a:r>
              <a:rPr lang="en-US" altLang="zh-CN" dirty="0"/>
              <a:t>Trigger</a:t>
            </a:r>
            <a:r>
              <a:rPr lang="zh-CN" altLang="en-US" dirty="0"/>
              <a:t>数据返回，主要返回测试过程中的问题数据，经过数据标注</a:t>
            </a:r>
            <a:r>
              <a:rPr lang="en-US" altLang="zh-CN" dirty="0"/>
              <a:t>/</a:t>
            </a:r>
            <a:r>
              <a:rPr lang="zh-CN" altLang="en-US" dirty="0"/>
              <a:t>自动化规则后进行数据测试，数据测试可以达到上万个</a:t>
            </a:r>
            <a:r>
              <a:rPr lang="en-US" altLang="zh-CN" dirty="0"/>
              <a:t>case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CN" altLang="en-US" dirty="0"/>
              <a:t>大规模道路测试：</a:t>
            </a:r>
            <a:r>
              <a:rPr lang="en-US" altLang="zh-CN" dirty="0"/>
              <a:t>AEB</a:t>
            </a:r>
            <a:r>
              <a:rPr lang="zh-CN" altLang="en-US" dirty="0"/>
              <a:t>测试会达到</a:t>
            </a:r>
            <a:r>
              <a:rPr lang="en-US" altLang="zh-CN" dirty="0"/>
              <a:t>30</a:t>
            </a:r>
            <a:r>
              <a:rPr lang="zh-CN" altLang="en-US" dirty="0"/>
              <a:t>万量级，其他功能也会达到</a:t>
            </a:r>
            <a:r>
              <a:rPr lang="en-US" altLang="zh-CN" dirty="0"/>
              <a:t>3</a:t>
            </a:r>
            <a:r>
              <a:rPr lang="zh-CN" altLang="en-US" dirty="0"/>
              <a:t>轮测试，每轮</a:t>
            </a:r>
            <a:r>
              <a:rPr lang="en-US" altLang="zh-CN" dirty="0"/>
              <a:t>20</a:t>
            </a:r>
            <a:r>
              <a:rPr lang="zh-CN" altLang="en-US" dirty="0"/>
              <a:t>万公里，合计</a:t>
            </a:r>
            <a:r>
              <a:rPr lang="en-US" altLang="zh-CN" dirty="0"/>
              <a:t>60</a:t>
            </a:r>
            <a:r>
              <a:rPr lang="zh-CN" altLang="en-US" dirty="0"/>
              <a:t>万公里测试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C99514-72D4-47B2-96C7-3CD8615A4F42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1395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C99514-72D4-47B2-96C7-3CD8615A4F42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1625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FC6F5-941E-4775-9FB8-0F36B01D9C3B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2184-7F47-498D-AC0A-FD2975E42B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0639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FC6F5-941E-4775-9FB8-0F36B01D9C3B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2184-7F47-498D-AC0A-FD2975E42B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096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FC6F5-941E-4775-9FB8-0F36B01D9C3B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2184-7F47-498D-AC0A-FD2975E42B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9471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FC6F5-941E-4775-9FB8-0F36B01D9C3B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2184-7F47-498D-AC0A-FD2975E42B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62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FC6F5-941E-4775-9FB8-0F36B01D9C3B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2184-7F47-498D-AC0A-FD2975E42B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3147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FC6F5-941E-4775-9FB8-0F36B01D9C3B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2184-7F47-498D-AC0A-FD2975E42B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4593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FC6F5-941E-4775-9FB8-0F36B01D9C3B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2184-7F47-498D-AC0A-FD2975E42B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850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FC6F5-941E-4775-9FB8-0F36B01D9C3B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2184-7F47-498D-AC0A-FD2975E42B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506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FC6F5-941E-4775-9FB8-0F36B01D9C3B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2184-7F47-498D-AC0A-FD2975E42B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173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FC6F5-941E-4775-9FB8-0F36B01D9C3B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2184-7F47-498D-AC0A-FD2975E42B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895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FC6F5-941E-4775-9FB8-0F36B01D9C3B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2184-7F47-498D-AC0A-FD2975E42B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75213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3" y="-6096"/>
            <a:ext cx="12283807" cy="686409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5008" y="363008"/>
            <a:ext cx="2031919" cy="263505"/>
          </a:xfrm>
          <a:prstGeom prst="rect">
            <a:avLst/>
          </a:prstGeom>
        </p:spPr>
      </p:pic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970402" y="3086480"/>
            <a:ext cx="7886700" cy="694184"/>
          </a:xfrm>
        </p:spPr>
        <p:txBody>
          <a:bodyPr anchor="b">
            <a:noAutofit/>
          </a:bodyPr>
          <a:lstStyle>
            <a:lvl1pPr>
              <a:defRPr sz="6000" b="1" i="0">
                <a:solidFill>
                  <a:schemeClr val="bg1"/>
                </a:solidFill>
                <a:latin typeface="Microsoft YaHei Regular" charset="0"/>
                <a:ea typeface="Microsoft YaHei Regular" charset="0"/>
              </a:defRPr>
            </a:lvl1pPr>
          </a:lstStyle>
          <a:p>
            <a:r>
              <a:rPr kumimoji="1" lang="zh-CN" altLang="en-US" dirty="0"/>
              <a:t>标题内容写这里</a:t>
            </a:r>
          </a:p>
        </p:txBody>
      </p:sp>
      <p:sp>
        <p:nvSpPr>
          <p:cNvPr id="16" name="正文级别 1…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970402" y="3939468"/>
            <a:ext cx="10515601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FFFFF"/>
                </a:solidFill>
                <a:latin typeface="Microsoft YaHei Regular" charset="0"/>
                <a:ea typeface="PingFang SC Regular" panose="020B0400000000000000" charset="-122"/>
                <a:cs typeface="Microsoft YaHei Regular" charset="0"/>
                <a:sym typeface="PingFang SC Regular" panose="020B0400000000000000" charset="-122"/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FFFFF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PingFang SC Regular" panose="020B0400000000000000" charset="-122"/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FFFFF"/>
                </a:solidFill>
                <a:latin typeface="Microsoft YaHei Regular" charset="0"/>
                <a:ea typeface="PingFang SC Regular" panose="020B0400000000000000" charset="-122"/>
                <a:cs typeface="Microsoft YaHei Regular" charset="0"/>
                <a:sym typeface="PingFang SC Regular" panose="020B0400000000000000" charset="-122"/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FFFFF"/>
                </a:solidFill>
                <a:latin typeface="Microsoft YaHei Regular" charset="0"/>
                <a:ea typeface="PingFang SC Regular" panose="020B0400000000000000" charset="-122"/>
                <a:cs typeface="Microsoft YaHei Regular" charset="0"/>
                <a:sym typeface="PingFang SC Regular" panose="020B0400000000000000" charset="-122"/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FFFFF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PingFang SC Regular" panose="020B0400000000000000" charset="-122"/>
              </a:defRPr>
            </a:lvl5pPr>
          </a:lstStyle>
          <a:p>
            <a:r>
              <a:t>日期/副标题写这里 </a:t>
            </a:r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</p:spTree>
    <p:extLst>
      <p:ext uri="{BB962C8B-B14F-4D97-AF65-F5344CB8AC3E}">
        <p14:creationId xmlns:p14="http://schemas.microsoft.com/office/powerpoint/2010/main" val="7527507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agenda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传感器配置平面图-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365" cy="76200"/>
          </a:xfrm>
          <a:prstGeom prst="rect">
            <a:avLst/>
          </a:prstGeom>
        </p:spPr>
      </p:pic>
      <p:pic>
        <p:nvPicPr>
          <p:cNvPr id="60" name="图片 7" descr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7714" y="6471058"/>
            <a:ext cx="1047402" cy="13583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69832078"/>
      </p:ext>
    </p:extLst>
  </p:cSld>
  <p:clrMapOvr>
    <a:masterClrMapping/>
  </p:clrMapOvr>
  <p:transition spd="med"/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浅色背景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271770"/>
            <a:ext cx="12192000" cy="1586230"/>
          </a:xfrm>
          <a:prstGeom prst="rect">
            <a:avLst/>
          </a:prstGeom>
        </p:spPr>
      </p:pic>
      <p:sp>
        <p:nvSpPr>
          <p:cNvPr id="6" name="日期占位符 1"/>
          <p:cNvSpPr>
            <a:spLocks noGrp="1"/>
          </p:cNvSpPr>
          <p:nvPr>
            <p:ph type="dt" sz="half" idx="10"/>
          </p:nvPr>
        </p:nvSpPr>
        <p:spPr>
          <a:xfrm>
            <a:off x="769620" y="6484620"/>
            <a:ext cx="2743200" cy="365125"/>
          </a:xfrm>
        </p:spPr>
        <p:txBody>
          <a:bodyPr/>
          <a:lstStyle>
            <a:lvl1pPr>
              <a:defRPr sz="800">
                <a:solidFill>
                  <a:srgbClr val="131319"/>
                </a:solidFill>
              </a:defRPr>
            </a:lvl1pPr>
          </a:lstStyle>
          <a:p>
            <a:fld id="{0B4571A7-0608-4CA0-91C4-DD76FEAC2393}" type="datetime1">
              <a:rPr lang="zh-CN" altLang="en-US" smtClean="0"/>
              <a:t>2026/1/30</a:t>
            </a:fld>
            <a:endParaRPr lang="en-US" altLang="en-US" dirty="0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783331" y="6484620"/>
            <a:ext cx="4625339" cy="365125"/>
          </a:xfrm>
        </p:spPr>
        <p:txBody>
          <a:bodyPr/>
          <a:lstStyle>
            <a:lvl1pPr>
              <a:defRPr sz="800">
                <a:solidFill>
                  <a:srgbClr val="131319"/>
                </a:solidFill>
              </a:defRPr>
            </a:lvl1pPr>
          </a:lstStyle>
          <a:p>
            <a:r>
              <a:rPr lang="en-US" altLang="en-US" dirty="0">
                <a:sym typeface="+mn-ea"/>
              </a:rPr>
              <a:t>Horizon Continental Technology Shanghai Co., Ltd -  Confidential Information Under NDA</a:t>
            </a:r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63940" y="6484620"/>
            <a:ext cx="2743200" cy="365125"/>
          </a:xfrm>
        </p:spPr>
        <p:txBody>
          <a:bodyPr/>
          <a:lstStyle>
            <a:lvl1pPr>
              <a:defRPr sz="800">
                <a:solidFill>
                  <a:srgbClr val="131319"/>
                </a:solidFill>
              </a:defRPr>
            </a:lvl1pPr>
          </a:lstStyle>
          <a:p>
            <a:fld id="{9CC13275-6251-4C40-AFE1-85D85DA07171}" type="slidenum">
              <a:rPr lang="en-US" altLang="en-US" smtClean="0"/>
              <a:t>‹#›</a:t>
            </a:fld>
            <a:endParaRPr lang="en-US" altLang="en-US" dirty="0"/>
          </a:p>
        </p:txBody>
      </p:sp>
      <p:pic>
        <p:nvPicPr>
          <p:cNvPr id="3" name="图片 2" descr="/Users/sunyu/Desktop/240918/241112/资源 3.png资源 3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11022330" y="370840"/>
            <a:ext cx="974725" cy="18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4225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/>
          </a:p>
        </p:txBody>
      </p:sp>
      <p:sp>
        <p:nvSpPr>
          <p:cNvPr id="12" name="日期占位符 1"/>
          <p:cNvSpPr>
            <a:spLocks noGrp="1"/>
          </p:cNvSpPr>
          <p:nvPr>
            <p:ph type="dt" sz="half" idx="10"/>
          </p:nvPr>
        </p:nvSpPr>
        <p:spPr>
          <a:xfrm>
            <a:off x="769620" y="6484620"/>
            <a:ext cx="27432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fld id="{0B4571A7-0608-4CA0-91C4-DD76FEAC2393}" type="datetime1">
              <a:rPr lang="zh-CN" altLang="en-US" smtClean="0"/>
              <a:t>2026/1/30</a:t>
            </a:fld>
            <a:endParaRPr lang="en-US" altLang="en-US" dirty="0"/>
          </a:p>
        </p:txBody>
      </p:sp>
      <p:sp>
        <p:nvSpPr>
          <p:cNvPr id="1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484620"/>
            <a:ext cx="41148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altLang="en-US" dirty="0">
                <a:sym typeface="+mn-ea"/>
              </a:rPr>
              <a:t>neueHCT 2024 -  Confidential Information Under NDA</a:t>
            </a:r>
            <a:endParaRPr lang="en-US" altLang="en-US" dirty="0"/>
          </a:p>
        </p:txBody>
      </p:sp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63940" y="6484620"/>
            <a:ext cx="27432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fld id="{9CC13275-6251-4C40-AFE1-85D85DA07171}" type="slidenum">
              <a:rPr lang="en-US" altLang="en-US" smtClean="0"/>
              <a:t>‹#›</a:t>
            </a:fld>
            <a:endParaRPr lang="en-US" altLang="en-US" dirty="0"/>
          </a:p>
        </p:txBody>
      </p:sp>
      <p:pic>
        <p:nvPicPr>
          <p:cNvPr id="2" name="图片 1" descr="/Users/sunyu/Desktop/240918/241112/资源 4.png资源 4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11022330" y="371475"/>
            <a:ext cx="974725" cy="18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495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浅色背景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271770"/>
            <a:ext cx="12192000" cy="1586230"/>
          </a:xfrm>
          <a:prstGeom prst="rect">
            <a:avLst/>
          </a:prstGeom>
        </p:spPr>
      </p:pic>
      <p:sp>
        <p:nvSpPr>
          <p:cNvPr id="6" name="日期占位符 1"/>
          <p:cNvSpPr>
            <a:spLocks noGrp="1"/>
          </p:cNvSpPr>
          <p:nvPr>
            <p:ph type="dt" sz="half" idx="10"/>
          </p:nvPr>
        </p:nvSpPr>
        <p:spPr>
          <a:xfrm>
            <a:off x="769620" y="6484620"/>
            <a:ext cx="2743200" cy="365125"/>
          </a:xfrm>
        </p:spPr>
        <p:txBody>
          <a:bodyPr/>
          <a:lstStyle>
            <a:lvl1pPr>
              <a:defRPr sz="800">
                <a:solidFill>
                  <a:srgbClr val="131319"/>
                </a:solidFill>
              </a:defRPr>
            </a:lvl1pPr>
          </a:lstStyle>
          <a:p>
            <a:fld id="{0B4571A7-0608-4CA0-91C4-DD76FEAC2393}" type="datetime1">
              <a:rPr lang="zh-CN" altLang="en-US" smtClean="0"/>
              <a:t>2026/1/30</a:t>
            </a:fld>
            <a:endParaRPr lang="en-US" altLang="en-US" dirty="0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783331" y="6484620"/>
            <a:ext cx="4625339" cy="365125"/>
          </a:xfrm>
        </p:spPr>
        <p:txBody>
          <a:bodyPr/>
          <a:lstStyle>
            <a:lvl1pPr>
              <a:defRPr sz="800">
                <a:solidFill>
                  <a:srgbClr val="131319"/>
                </a:solidFill>
              </a:defRPr>
            </a:lvl1pPr>
          </a:lstStyle>
          <a:p>
            <a:r>
              <a:rPr lang="en-US" altLang="en-US" dirty="0">
                <a:sym typeface="+mn-ea"/>
              </a:rPr>
              <a:t>Horizon Continental Technology Shanghai Co., Ltd -  Confidential Information Under NDA</a:t>
            </a:r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63940" y="6484620"/>
            <a:ext cx="2743200" cy="365125"/>
          </a:xfrm>
        </p:spPr>
        <p:txBody>
          <a:bodyPr/>
          <a:lstStyle>
            <a:lvl1pPr>
              <a:defRPr sz="800">
                <a:solidFill>
                  <a:srgbClr val="131319"/>
                </a:solidFill>
              </a:defRPr>
            </a:lvl1pPr>
          </a:lstStyle>
          <a:p>
            <a:fld id="{9CC13275-6251-4C40-AFE1-85D85DA07171}" type="slidenum">
              <a:rPr lang="en-US" altLang="en-US" smtClean="0"/>
              <a:t>‹#›</a:t>
            </a:fld>
            <a:endParaRPr lang="en-US" altLang="en-US" dirty="0"/>
          </a:p>
        </p:txBody>
      </p:sp>
      <p:pic>
        <p:nvPicPr>
          <p:cNvPr id="3" name="图片 2" descr="/Users/sunyu/Desktop/240918/241112/资源 3.png资源 3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11022330" y="370840"/>
            <a:ext cx="974725" cy="18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5713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浅色背景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/>
          <p:cNvSpPr>
            <a:spLocks noGrp="1"/>
          </p:cNvSpPr>
          <p:nvPr>
            <p:ph type="dt" sz="half" idx="10"/>
          </p:nvPr>
        </p:nvSpPr>
        <p:spPr>
          <a:xfrm>
            <a:off x="769620" y="6484620"/>
            <a:ext cx="2743200" cy="365125"/>
          </a:xfrm>
        </p:spPr>
        <p:txBody>
          <a:bodyPr/>
          <a:lstStyle>
            <a:lvl1pPr>
              <a:defRPr sz="800">
                <a:solidFill>
                  <a:srgbClr val="131319"/>
                </a:solidFill>
              </a:defRPr>
            </a:lvl1pPr>
          </a:lstStyle>
          <a:p>
            <a:fld id="{0B4571A7-0608-4CA0-91C4-DD76FEAC2393}" type="datetime1">
              <a:rPr lang="zh-CN" altLang="en-US" smtClean="0"/>
              <a:t>2026/1/30</a:t>
            </a:fld>
            <a:endParaRPr lang="en-US" altLang="en-US" dirty="0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775709" y="6484620"/>
            <a:ext cx="4640582" cy="365125"/>
          </a:xfrm>
        </p:spPr>
        <p:txBody>
          <a:bodyPr/>
          <a:lstStyle>
            <a:lvl1pPr>
              <a:defRPr sz="800">
                <a:solidFill>
                  <a:srgbClr val="131319"/>
                </a:solidFill>
              </a:defRPr>
            </a:lvl1pPr>
          </a:lstStyle>
          <a:p>
            <a:r>
              <a:rPr lang="en-US" altLang="en-US" dirty="0">
                <a:sym typeface="+mn-ea"/>
              </a:rPr>
              <a:t>Horizon Continental Technology Shanghai Co., Ltd -  Confidential Information Under NDA</a:t>
            </a:r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63940" y="6484620"/>
            <a:ext cx="2743200" cy="365125"/>
          </a:xfrm>
        </p:spPr>
        <p:txBody>
          <a:bodyPr/>
          <a:lstStyle>
            <a:lvl1pPr>
              <a:defRPr sz="800">
                <a:solidFill>
                  <a:srgbClr val="131319"/>
                </a:solidFill>
              </a:defRPr>
            </a:lvl1pPr>
          </a:lstStyle>
          <a:p>
            <a:fld id="{9CC13275-6251-4C40-AFE1-85D85DA07171}" type="slidenum">
              <a:rPr lang="en-US" altLang="en-US" smtClean="0"/>
              <a:t>‹#›</a:t>
            </a:fld>
            <a:endParaRPr lang="en-US" altLang="en-US" dirty="0"/>
          </a:p>
        </p:txBody>
      </p:sp>
      <p:pic>
        <p:nvPicPr>
          <p:cNvPr id="3" name="图片 2" descr="/Users/sunyu/Desktop/240918/241112/资源 3.png资源 3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11022330" y="370840"/>
            <a:ext cx="974725" cy="18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6035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深色背景">
    <p:bg>
      <p:bgPr>
        <a:solidFill>
          <a:srgbClr val="131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/>
          <p:cNvSpPr>
            <a:spLocks noGrp="1"/>
          </p:cNvSpPr>
          <p:nvPr>
            <p:ph type="dt" sz="half" idx="10"/>
          </p:nvPr>
        </p:nvSpPr>
        <p:spPr>
          <a:xfrm>
            <a:off x="769620" y="6484620"/>
            <a:ext cx="27432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fld id="{0B4571A7-0608-4CA0-91C4-DD76FEAC2393}" type="datetime1">
              <a:rPr lang="zh-CN" altLang="en-US" smtClean="0"/>
              <a:t>2026/1/30</a:t>
            </a:fld>
            <a:endParaRPr lang="en-US" altLang="en-US" dirty="0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775709" y="6484620"/>
            <a:ext cx="4640582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altLang="en-US" dirty="0">
                <a:sym typeface="+mn-ea"/>
              </a:rPr>
              <a:t>Horizon Continental Technology Shanghai Co., Ltd -  Confidential Information Under NDA</a:t>
            </a:r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63940" y="6484620"/>
            <a:ext cx="27432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fld id="{9CC13275-6251-4C40-AFE1-85D85DA07171}" type="slidenum">
              <a:rPr lang="en-US" altLang="en-US" smtClean="0"/>
              <a:t>‹#›</a:t>
            </a:fld>
            <a:endParaRPr lang="en-US" altLang="en-US" dirty="0"/>
          </a:p>
        </p:txBody>
      </p:sp>
      <p:pic>
        <p:nvPicPr>
          <p:cNvPr id="3" name="图片 2" descr="/Users/sunyu/Desktop/240918/241112/资源 4.png资源 4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11035665" y="365125"/>
            <a:ext cx="948055" cy="17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944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17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tags" Target="../tags/tag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D12C0CF-F5BF-BC8B-D4D5-FEF90F9BD12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20896256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7" imgW="395" imgH="394" progId="TCLayout.ActiveDocument.1">
                  <p:embed/>
                </p:oleObj>
              </mc:Choice>
              <mc:Fallback>
                <p:oleObj name="think-cell 幻灯片" r:id="rId17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4FC6F5-941E-4775-9FB8-0F36B01D9C3B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7A2184-7F47-498D-AC0A-FD2975E42B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8591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9" r:id="rId13"/>
    <p:sldLayoutId id="2147483686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F39C06A-DFE7-482C-D90C-99E7844BF21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4822812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7" imgW="473" imgH="473" progId="TCLayout.ActiveDocument.1">
                  <p:embed/>
                </p:oleObj>
              </mc:Choice>
              <mc:Fallback>
                <p:oleObj name="think-cell 幻灯片" r:id="rId7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39C06A-DFE7-482C-D90C-99E7844BF2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F50D6-00DE-438E-96D7-E8522205D1AB}" type="datetime1">
              <a:rPr lang="zh-CN" altLang="en-US" smtClean="0"/>
              <a:t>2026/1/30</a:t>
            </a:fld>
            <a:endParaRPr lang="en-US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en-US" dirty="0" err="1"/>
              <a:t>neue</a:t>
            </a:r>
            <a:r>
              <a:rPr lang="en-US" altLang="en-US" dirty="0"/>
              <a:t> HCT 2024 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C13275-6251-4C40-AFE1-85D85DA07171}" type="slidenum">
              <a:rPr lang="en-US" altLang="en-US" smtClean="0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5186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Relationship Id="rId5" Type="http://schemas.openxmlformats.org/officeDocument/2006/relationships/image" Target="../media/image11.jpeg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0BC848F-9B21-45E2-B4D1-C1550E76D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4571A7-0608-4CA0-91C4-DD76FEAC2393}" type="datetime1">
              <a:rPr kumimoji="0" lang="zh-CN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2026/1/30</a:t>
            </a:fld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5FBBD32-0660-7235-9BAE-FEA4C3449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Horizon Continental Technology Shanghai Co., Ltd -  Confidential Information Under NDA</a:t>
            </a:r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44757E-40E0-B1A1-B4D9-EB1967A84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13275-6251-4C40-AFE1-85D85DA07171}" type="slidenum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7CA2FE1-7B57-E54F-194B-99F8A2331127}"/>
              </a:ext>
            </a:extLst>
          </p:cNvPr>
          <p:cNvSpPr txBox="1"/>
          <p:nvPr/>
        </p:nvSpPr>
        <p:spPr>
          <a:xfrm>
            <a:off x="777240" y="487045"/>
            <a:ext cx="1063752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600" b="0" spc="300">
                <a:solidFill>
                  <a:srgbClr val="001432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行业领先的测试体系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4C8EB76-4080-8505-C772-907E036D47EE}"/>
              </a:ext>
            </a:extLst>
          </p:cNvPr>
          <p:cNvSpPr txBox="1"/>
          <p:nvPr/>
        </p:nvSpPr>
        <p:spPr>
          <a:xfrm>
            <a:off x="777240" y="978218"/>
            <a:ext cx="106375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600" b="1" spc="300"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srgbClr val="00CCCC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实现内场到外场的测试闭环，构建完整的系统评价能力和验收体系，客户需求覆盖度</a:t>
            </a:r>
            <a:r>
              <a:rPr kumimoji="0" lang="en-US" altLang="zh-CN" sz="1600" b="0" i="0" u="none" strike="noStrike" kern="1200" cap="none" spc="300" normalizeH="0" baseline="0" noProof="0" dirty="0">
                <a:ln>
                  <a:noFill/>
                </a:ln>
                <a:solidFill>
                  <a:srgbClr val="00CCCC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100%</a:t>
            </a:r>
          </a:p>
        </p:txBody>
      </p:sp>
      <p:sp>
        <p:nvSpPr>
          <p:cNvPr id="7" name="箭头: 五边形 6">
            <a:extLst>
              <a:ext uri="{FF2B5EF4-FFF2-40B4-BE49-F238E27FC236}">
                <a16:creationId xmlns:a16="http://schemas.microsoft.com/office/drawing/2014/main" id="{CF592294-AC8E-5762-6560-7EF2AD92B8E2}"/>
              </a:ext>
            </a:extLst>
          </p:cNvPr>
          <p:cNvSpPr/>
          <p:nvPr/>
        </p:nvSpPr>
        <p:spPr>
          <a:xfrm>
            <a:off x="551998" y="1486859"/>
            <a:ext cx="11088000" cy="360000"/>
          </a:xfrm>
          <a:prstGeom prst="homePlate">
            <a:avLst/>
          </a:prstGeom>
          <a:solidFill>
            <a:srgbClr val="FFFFFF">
              <a:lumMod val="95000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CCCC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内场到外场的软件闭环</a:t>
            </a:r>
          </a:p>
        </p:txBody>
      </p:sp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F855826E-1587-A34D-946D-2833CBEA830A}"/>
              </a:ext>
            </a:extLst>
          </p:cNvPr>
          <p:cNvSpPr/>
          <p:nvPr/>
        </p:nvSpPr>
        <p:spPr>
          <a:xfrm rot="10800000">
            <a:off x="551998" y="6094605"/>
            <a:ext cx="11088000" cy="360000"/>
          </a:xfrm>
          <a:prstGeom prst="homePlate">
            <a:avLst/>
          </a:prstGeom>
          <a:solidFill>
            <a:srgbClr val="FFFFFF">
              <a:lumMod val="95000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005A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5B754CA-079D-49FA-4B8C-DB7743664972}"/>
              </a:ext>
            </a:extLst>
          </p:cNvPr>
          <p:cNvSpPr txBox="1"/>
          <p:nvPr/>
        </p:nvSpPr>
        <p:spPr>
          <a:xfrm>
            <a:off x="3047998" y="6120717"/>
            <a:ext cx="6096000" cy="307777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CCCC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车端到云端的数据闭环</a:t>
            </a:r>
          </a:p>
        </p:txBody>
      </p:sp>
      <p:sp>
        <p:nvSpPr>
          <p:cNvPr id="10" name="矩形: 圆角 55">
            <a:extLst>
              <a:ext uri="{FF2B5EF4-FFF2-40B4-BE49-F238E27FC236}">
                <a16:creationId xmlns:a16="http://schemas.microsoft.com/office/drawing/2014/main" id="{70B5A426-A9D1-32F7-C728-42F1FF6E0C3E}"/>
              </a:ext>
            </a:extLst>
          </p:cNvPr>
          <p:cNvSpPr/>
          <p:nvPr/>
        </p:nvSpPr>
        <p:spPr>
          <a:xfrm>
            <a:off x="551998" y="1989399"/>
            <a:ext cx="6763202" cy="1908000"/>
          </a:xfrm>
          <a:prstGeom prst="roundRect">
            <a:avLst>
              <a:gd name="adj" fmla="val 15831"/>
            </a:avLst>
          </a:prstGeom>
          <a:noFill/>
          <a:ln w="6350" cap="flat" cmpd="sng" algn="ctr">
            <a:solidFill>
              <a:schemeClr val="bg2"/>
            </a:solidFill>
            <a:prstDash val="dash"/>
            <a:miter lim="800000"/>
          </a:ln>
          <a:effectLst>
            <a:outerShdw blurRad="419100" dist="165100" dir="5400000" sx="92000" sy="92000" algn="t" rotWithShape="0">
              <a:srgbClr val="000000">
                <a:lumMod val="75000"/>
                <a:lumOff val="25000"/>
                <a:alpha val="27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CCCC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内场测试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CCCC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CCCC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CCCC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CCCC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CCCC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CCCC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CCCC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00CCCC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1" name="矩形: 圆角 55">
            <a:extLst>
              <a:ext uri="{FF2B5EF4-FFF2-40B4-BE49-F238E27FC236}">
                <a16:creationId xmlns:a16="http://schemas.microsoft.com/office/drawing/2014/main" id="{A1FB8131-8BB8-69B8-A918-D1E24B7B4964}"/>
              </a:ext>
            </a:extLst>
          </p:cNvPr>
          <p:cNvSpPr/>
          <p:nvPr/>
        </p:nvSpPr>
        <p:spPr>
          <a:xfrm>
            <a:off x="7571998" y="1989397"/>
            <a:ext cx="4068000" cy="1908000"/>
          </a:xfrm>
          <a:prstGeom prst="roundRect">
            <a:avLst>
              <a:gd name="adj" fmla="val 17305"/>
            </a:avLst>
          </a:prstGeom>
          <a:noFill/>
          <a:ln w="6350" cap="flat" cmpd="sng" algn="ctr">
            <a:solidFill>
              <a:schemeClr val="bg2"/>
            </a:solidFill>
            <a:prstDash val="dash"/>
            <a:miter lim="800000"/>
          </a:ln>
          <a:effectLst>
            <a:outerShdw blurRad="419100" dist="165100" dir="5400000" sx="92000" sy="92000" algn="t" rotWithShape="0">
              <a:srgbClr val="000000">
                <a:lumMod val="75000"/>
                <a:lumOff val="25000"/>
                <a:alpha val="27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CCCC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外场测试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CCCC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CCCC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CCCC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CCCC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CCCC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CCCC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CCCC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00CCCC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2DBB419-B05A-E807-12AD-7C8C036340AC}"/>
              </a:ext>
            </a:extLst>
          </p:cNvPr>
          <p:cNvSpPr txBox="1"/>
          <p:nvPr/>
        </p:nvSpPr>
        <p:spPr>
          <a:xfrm>
            <a:off x="862304" y="2441488"/>
            <a:ext cx="2664000" cy="259200"/>
          </a:xfrm>
          <a:prstGeom prst="roundRect">
            <a:avLst>
              <a:gd name="adj" fmla="val 9460"/>
            </a:avLst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defPPr>
              <a:defRPr lang="zh-Hans-HK"/>
            </a:defPPr>
            <a:lvl1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00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模型评测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2C1321F-7E7B-2C22-D796-8BB74C725CB4}"/>
              </a:ext>
            </a:extLst>
          </p:cNvPr>
          <p:cNvSpPr txBox="1"/>
          <p:nvPr/>
        </p:nvSpPr>
        <p:spPr>
          <a:xfrm>
            <a:off x="862304" y="2913197"/>
            <a:ext cx="2664000" cy="259200"/>
          </a:xfrm>
          <a:prstGeom prst="roundRect">
            <a:avLst>
              <a:gd name="adj" fmla="val 9460"/>
            </a:avLst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defPPr>
              <a:defRPr lang="zh-Hans-HK"/>
            </a:defPPr>
            <a:lvl1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00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软件评测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A68B0C2-2455-5C92-702F-C092E003D8B5}"/>
              </a:ext>
            </a:extLst>
          </p:cNvPr>
          <p:cNvSpPr txBox="1"/>
          <p:nvPr/>
        </p:nvSpPr>
        <p:spPr>
          <a:xfrm>
            <a:off x="4182332" y="2441488"/>
            <a:ext cx="2664000" cy="259200"/>
          </a:xfrm>
          <a:prstGeom prst="roundRect">
            <a:avLst>
              <a:gd name="adj" fmla="val 9460"/>
            </a:avLst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defPPr>
              <a:defRPr lang="zh-Hans-HK"/>
            </a:defPPr>
            <a:lvl1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00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Segoe UI" panose="020B0502040204020203" pitchFamily="34" charset="0"/>
              </a:defRPr>
            </a:lvl1pPr>
          </a:lstStyle>
          <a:p>
            <a:pPr lvl="0">
              <a:defRPr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软件集成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/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合格性测试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AB366FD-B0FC-8F6E-0647-88EA0061E468}"/>
              </a:ext>
            </a:extLst>
          </p:cNvPr>
          <p:cNvSpPr txBox="1"/>
          <p:nvPr/>
        </p:nvSpPr>
        <p:spPr>
          <a:xfrm>
            <a:off x="862304" y="3384905"/>
            <a:ext cx="2664000" cy="259200"/>
          </a:xfrm>
          <a:prstGeom prst="roundRect">
            <a:avLst>
              <a:gd name="adj" fmla="val 9460"/>
            </a:avLst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defPPr>
              <a:defRPr lang="zh-Hans-HK"/>
            </a:defPPr>
            <a:lvl1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00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数据测试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0AAE58F-971C-9AE6-8363-E2DE02895CF6}"/>
              </a:ext>
            </a:extLst>
          </p:cNvPr>
          <p:cNvSpPr txBox="1"/>
          <p:nvPr/>
        </p:nvSpPr>
        <p:spPr>
          <a:xfrm>
            <a:off x="4182332" y="3384905"/>
            <a:ext cx="2664000" cy="259200"/>
          </a:xfrm>
          <a:prstGeom prst="roundRect">
            <a:avLst>
              <a:gd name="adj" fmla="val 9460"/>
            </a:avLst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defPPr>
              <a:defRPr lang="zh-Hans-HK"/>
            </a:defPPr>
            <a:lvl1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00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硬件测试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73E78F6-BAE0-1464-F3D9-1EF232144B5E}"/>
              </a:ext>
            </a:extLst>
          </p:cNvPr>
          <p:cNvSpPr txBox="1"/>
          <p:nvPr/>
        </p:nvSpPr>
        <p:spPr>
          <a:xfrm>
            <a:off x="8006440" y="2441488"/>
            <a:ext cx="3240000" cy="259200"/>
          </a:xfrm>
          <a:prstGeom prst="roundRect">
            <a:avLst>
              <a:gd name="adj" fmla="val 9460"/>
            </a:avLst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defPPr>
              <a:defRPr lang="zh-Hans-HK"/>
            </a:defPPr>
            <a:lvl1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00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封闭场地测试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A678350-BC8B-254C-A35A-6ABFC1162FDF}"/>
              </a:ext>
            </a:extLst>
          </p:cNvPr>
          <p:cNvSpPr txBox="1"/>
          <p:nvPr/>
        </p:nvSpPr>
        <p:spPr>
          <a:xfrm>
            <a:off x="8006440" y="2784974"/>
            <a:ext cx="3240000" cy="259200"/>
          </a:xfrm>
          <a:prstGeom prst="roundRect">
            <a:avLst>
              <a:gd name="adj" fmla="val 9460"/>
            </a:avLst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defPPr>
              <a:defRPr lang="zh-Hans-HK"/>
            </a:defPPr>
            <a:lvl1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00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限定区域测试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4FD920D-316E-E040-927C-1C6CFBED2BB2}"/>
              </a:ext>
            </a:extLst>
          </p:cNvPr>
          <p:cNvSpPr txBox="1"/>
          <p:nvPr/>
        </p:nvSpPr>
        <p:spPr>
          <a:xfrm>
            <a:off x="8006440" y="3128460"/>
            <a:ext cx="3240000" cy="259200"/>
          </a:xfrm>
          <a:prstGeom prst="roundRect">
            <a:avLst>
              <a:gd name="adj" fmla="val 9460"/>
            </a:avLst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defPPr>
              <a:defRPr lang="zh-Hans-HK"/>
            </a:defPPr>
            <a:lvl1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00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公开道路测试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CF59B0E-2EA7-0898-D8EA-3DBD77EBF006}"/>
              </a:ext>
            </a:extLst>
          </p:cNvPr>
          <p:cNvSpPr/>
          <p:nvPr/>
        </p:nvSpPr>
        <p:spPr>
          <a:xfrm>
            <a:off x="8546440" y="4283719"/>
            <a:ext cx="2160000" cy="25995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路测数据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FB23FBE-F1CB-603A-7651-435012F16A66}"/>
              </a:ext>
            </a:extLst>
          </p:cNvPr>
          <p:cNvSpPr/>
          <p:nvPr/>
        </p:nvSpPr>
        <p:spPr>
          <a:xfrm>
            <a:off x="5985062" y="4283719"/>
            <a:ext cx="2160000" cy="25995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数据挖掘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0528E0A-6671-CBBA-6276-41F000F3385E}"/>
              </a:ext>
            </a:extLst>
          </p:cNvPr>
          <p:cNvSpPr/>
          <p:nvPr/>
        </p:nvSpPr>
        <p:spPr>
          <a:xfrm>
            <a:off x="5985062" y="4740396"/>
            <a:ext cx="2160000" cy="25995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Trigger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F3FB10A-E744-1E49-FFE7-E00221D6BA02}"/>
              </a:ext>
            </a:extLst>
          </p:cNvPr>
          <p:cNvSpPr/>
          <p:nvPr/>
        </p:nvSpPr>
        <p:spPr>
          <a:xfrm>
            <a:off x="3423683" y="4283719"/>
            <a:ext cx="2160000" cy="25995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场景数据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882C420-834B-668F-71B5-C6FA4B24A9E6}"/>
              </a:ext>
            </a:extLst>
          </p:cNvPr>
          <p:cNvSpPr/>
          <p:nvPr/>
        </p:nvSpPr>
        <p:spPr>
          <a:xfrm>
            <a:off x="3423683" y="4740396"/>
            <a:ext cx="2160000" cy="25995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Badcase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50C3261-A79F-0433-A1D8-785CFC9DB5C2}"/>
              </a:ext>
            </a:extLst>
          </p:cNvPr>
          <p:cNvSpPr/>
          <p:nvPr/>
        </p:nvSpPr>
        <p:spPr>
          <a:xfrm>
            <a:off x="862304" y="4283719"/>
            <a:ext cx="2160000" cy="25995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数据标注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8A497BD-6AC6-0F1B-E23F-905F18F97490}"/>
              </a:ext>
            </a:extLst>
          </p:cNvPr>
          <p:cNvSpPr/>
          <p:nvPr/>
        </p:nvSpPr>
        <p:spPr>
          <a:xfrm>
            <a:off x="862304" y="4740396"/>
            <a:ext cx="2160000" cy="25995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自动化规则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F88C6FD4-EE31-4541-68A3-817F8464CF3C}"/>
              </a:ext>
            </a:extLst>
          </p:cNvPr>
          <p:cNvCxnSpPr>
            <a:stCxn id="20" idx="1"/>
            <a:endCxn id="21" idx="3"/>
          </p:cNvCxnSpPr>
          <p:nvPr/>
        </p:nvCxnSpPr>
        <p:spPr>
          <a:xfrm flipH="1">
            <a:off x="8145062" y="4413694"/>
            <a:ext cx="401378" cy="0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8" name="连接符: 肘形 27">
            <a:extLst>
              <a:ext uri="{FF2B5EF4-FFF2-40B4-BE49-F238E27FC236}">
                <a16:creationId xmlns:a16="http://schemas.microsoft.com/office/drawing/2014/main" id="{4C061387-0965-5256-4C73-71B12FA90A8B}"/>
              </a:ext>
            </a:extLst>
          </p:cNvPr>
          <p:cNvCxnSpPr>
            <a:cxnSpLocks/>
            <a:stCxn id="20" idx="1"/>
            <a:endCxn id="22" idx="3"/>
          </p:cNvCxnSpPr>
          <p:nvPr/>
        </p:nvCxnSpPr>
        <p:spPr>
          <a:xfrm rot="10800000" flipV="1">
            <a:off x="8145062" y="4413693"/>
            <a:ext cx="401378" cy="456677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925F7BEC-2733-EA52-E9A6-853A739E88B0}"/>
              </a:ext>
            </a:extLst>
          </p:cNvPr>
          <p:cNvCxnSpPr>
            <a:stCxn id="21" idx="1"/>
            <a:endCxn id="23" idx="3"/>
          </p:cNvCxnSpPr>
          <p:nvPr/>
        </p:nvCxnSpPr>
        <p:spPr>
          <a:xfrm flipH="1">
            <a:off x="5583683" y="4413694"/>
            <a:ext cx="401379" cy="0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8E9D1C39-EF9E-2DAD-5084-673DC4324AFA}"/>
              </a:ext>
            </a:extLst>
          </p:cNvPr>
          <p:cNvCxnSpPr>
            <a:stCxn id="23" idx="1"/>
            <a:endCxn id="25" idx="3"/>
          </p:cNvCxnSpPr>
          <p:nvPr/>
        </p:nvCxnSpPr>
        <p:spPr>
          <a:xfrm flipH="1">
            <a:off x="3022304" y="4413694"/>
            <a:ext cx="401379" cy="0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57676FA3-5463-D844-2992-B08D1BDE2F7E}"/>
              </a:ext>
            </a:extLst>
          </p:cNvPr>
          <p:cNvCxnSpPr>
            <a:stCxn id="22" idx="1"/>
            <a:endCxn id="24" idx="3"/>
          </p:cNvCxnSpPr>
          <p:nvPr/>
        </p:nvCxnSpPr>
        <p:spPr>
          <a:xfrm flipH="1">
            <a:off x="5583683" y="4870371"/>
            <a:ext cx="401379" cy="0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2" name="连接符: 肘形 31">
            <a:extLst>
              <a:ext uri="{FF2B5EF4-FFF2-40B4-BE49-F238E27FC236}">
                <a16:creationId xmlns:a16="http://schemas.microsoft.com/office/drawing/2014/main" id="{3D49313A-D715-5BA4-902D-A02314539F67}"/>
              </a:ext>
            </a:extLst>
          </p:cNvPr>
          <p:cNvCxnSpPr>
            <a:stCxn id="22" idx="1"/>
            <a:endCxn id="23" idx="3"/>
          </p:cNvCxnSpPr>
          <p:nvPr/>
        </p:nvCxnSpPr>
        <p:spPr>
          <a:xfrm rot="10800000">
            <a:off x="5583684" y="4413695"/>
            <a:ext cx="401379" cy="456677"/>
          </a:xfrm>
          <a:prstGeom prst="bentConnector3">
            <a:avLst/>
          </a:prstGeom>
          <a:noFill/>
          <a:ln w="63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D3D79D2C-74D7-1747-B9D2-717C5E99EA09}"/>
              </a:ext>
            </a:extLst>
          </p:cNvPr>
          <p:cNvCxnSpPr>
            <a:cxnSpLocks/>
            <a:stCxn id="24" idx="1"/>
            <a:endCxn id="26" idx="3"/>
          </p:cNvCxnSpPr>
          <p:nvPr/>
        </p:nvCxnSpPr>
        <p:spPr>
          <a:xfrm flipH="1">
            <a:off x="3022304" y="4870371"/>
            <a:ext cx="401379" cy="0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4" name="连接符: 肘形 33">
            <a:extLst>
              <a:ext uri="{FF2B5EF4-FFF2-40B4-BE49-F238E27FC236}">
                <a16:creationId xmlns:a16="http://schemas.microsoft.com/office/drawing/2014/main" id="{AB9D3E77-7EEC-20A0-535B-3F936BEA8C72}"/>
              </a:ext>
            </a:extLst>
          </p:cNvPr>
          <p:cNvCxnSpPr>
            <a:cxnSpLocks/>
            <a:stCxn id="25" idx="1"/>
            <a:endCxn id="15" idx="1"/>
          </p:cNvCxnSpPr>
          <p:nvPr/>
        </p:nvCxnSpPr>
        <p:spPr>
          <a:xfrm rot="10800000">
            <a:off x="862304" y="3514506"/>
            <a:ext cx="12700" cy="899189"/>
          </a:xfrm>
          <a:prstGeom prst="bentConnector3">
            <a:avLst>
              <a:gd name="adj1" fmla="val 1800000"/>
            </a:avLst>
          </a:prstGeom>
          <a:noFill/>
          <a:ln w="63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5" name="连接符: 肘形 34">
            <a:extLst>
              <a:ext uri="{FF2B5EF4-FFF2-40B4-BE49-F238E27FC236}">
                <a16:creationId xmlns:a16="http://schemas.microsoft.com/office/drawing/2014/main" id="{222218A5-3977-2F9B-957C-CAF3B10F0040}"/>
              </a:ext>
            </a:extLst>
          </p:cNvPr>
          <p:cNvCxnSpPr>
            <a:cxnSpLocks/>
            <a:stCxn id="26" idx="1"/>
            <a:endCxn id="15" idx="1"/>
          </p:cNvCxnSpPr>
          <p:nvPr/>
        </p:nvCxnSpPr>
        <p:spPr>
          <a:xfrm rot="10800000">
            <a:off x="862304" y="3514505"/>
            <a:ext cx="12700" cy="1355866"/>
          </a:xfrm>
          <a:prstGeom prst="bentConnector3">
            <a:avLst>
              <a:gd name="adj1" fmla="val 1800000"/>
            </a:avLst>
          </a:prstGeom>
          <a:noFill/>
          <a:ln w="63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FF0D0AAF-B88C-0737-AC6D-4ACAE39B3F70}"/>
              </a:ext>
            </a:extLst>
          </p:cNvPr>
          <p:cNvCxnSpPr>
            <a:cxnSpLocks/>
          </p:cNvCxnSpPr>
          <p:nvPr/>
        </p:nvCxnSpPr>
        <p:spPr>
          <a:xfrm>
            <a:off x="9626440" y="3908285"/>
            <a:ext cx="0" cy="375434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7" name="矩形: 圆角 55">
            <a:extLst>
              <a:ext uri="{FF2B5EF4-FFF2-40B4-BE49-F238E27FC236}">
                <a16:creationId xmlns:a16="http://schemas.microsoft.com/office/drawing/2014/main" id="{1110B08F-7604-B114-7719-8A382D432387}"/>
              </a:ext>
            </a:extLst>
          </p:cNvPr>
          <p:cNvSpPr/>
          <p:nvPr/>
        </p:nvSpPr>
        <p:spPr>
          <a:xfrm>
            <a:off x="551998" y="4169230"/>
            <a:ext cx="11088000" cy="977419"/>
          </a:xfrm>
          <a:prstGeom prst="roundRect">
            <a:avLst>
              <a:gd name="adj" fmla="val 15831"/>
            </a:avLst>
          </a:prstGeom>
          <a:noFill/>
          <a:ln w="6350" cap="flat" cmpd="sng" algn="ctr">
            <a:solidFill>
              <a:schemeClr val="bg2"/>
            </a:solidFill>
            <a:prstDash val="dash"/>
            <a:miter lim="800000"/>
          </a:ln>
          <a:effectLst>
            <a:outerShdw blurRad="419100" dist="165100" dir="5400000" sx="92000" sy="92000" algn="t" rotWithShape="0">
              <a:srgbClr val="000000">
                <a:lumMod val="75000"/>
                <a:lumOff val="25000"/>
                <a:alpha val="27000"/>
              </a:srgb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5A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5A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005A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8" name="矩形: 圆角 55">
            <a:extLst>
              <a:ext uri="{FF2B5EF4-FFF2-40B4-BE49-F238E27FC236}">
                <a16:creationId xmlns:a16="http://schemas.microsoft.com/office/drawing/2014/main" id="{9A559094-3E1F-98E7-DFA1-3CCAD4093C28}"/>
              </a:ext>
            </a:extLst>
          </p:cNvPr>
          <p:cNvSpPr/>
          <p:nvPr/>
        </p:nvSpPr>
        <p:spPr>
          <a:xfrm>
            <a:off x="551998" y="5412092"/>
            <a:ext cx="11088000" cy="612000"/>
          </a:xfrm>
          <a:prstGeom prst="roundRect">
            <a:avLst>
              <a:gd name="adj" fmla="val 15831"/>
            </a:avLst>
          </a:prstGeom>
          <a:noFill/>
          <a:ln w="6350" cap="flat" cmpd="sng" algn="ctr">
            <a:solidFill>
              <a:schemeClr val="bg2"/>
            </a:solidFill>
            <a:prstDash val="dash"/>
            <a:miter lim="800000"/>
          </a:ln>
          <a:effectLst>
            <a:outerShdw blurRad="419100" dist="165100" dir="5400000" sx="92000" sy="92000" algn="t" rotWithShape="0">
              <a:srgbClr val="000000">
                <a:lumMod val="75000"/>
                <a:lumOff val="25000"/>
                <a:alpha val="27000"/>
              </a:srgb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5A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5A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005A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7E1824C-9A73-BDFF-3065-74944E8B4F32}"/>
              </a:ext>
            </a:extLst>
          </p:cNvPr>
          <p:cNvSpPr/>
          <p:nvPr/>
        </p:nvSpPr>
        <p:spPr>
          <a:xfrm>
            <a:off x="862304" y="5525584"/>
            <a:ext cx="4716000" cy="385016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评价指标体系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B26A859-C203-5419-2197-873F4CB032E7}"/>
              </a:ext>
            </a:extLst>
          </p:cNvPr>
          <p:cNvSpPr/>
          <p:nvPr/>
        </p:nvSpPr>
        <p:spPr>
          <a:xfrm>
            <a:off x="6623015" y="5525584"/>
            <a:ext cx="4716000" cy="385016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自动驾驶场景库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75FCCDAE-5222-660F-5322-796651AEA7F8}"/>
              </a:ext>
            </a:extLst>
          </p:cNvPr>
          <p:cNvCxnSpPr>
            <a:cxnSpLocks/>
            <a:stCxn id="38" idx="0"/>
            <a:endCxn id="37" idx="2"/>
          </p:cNvCxnSpPr>
          <p:nvPr/>
        </p:nvCxnSpPr>
        <p:spPr>
          <a:xfrm flipV="1">
            <a:off x="6095998" y="5146649"/>
            <a:ext cx="0" cy="265443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miter lim="800000"/>
            <a:headEnd type="triangle"/>
            <a:tailEnd type="triangle"/>
          </a:ln>
          <a:effectLst/>
        </p:spPr>
      </p:cxnSp>
      <p:cxnSp>
        <p:nvCxnSpPr>
          <p:cNvPr id="42" name="连接符: 肘形 41">
            <a:extLst>
              <a:ext uri="{FF2B5EF4-FFF2-40B4-BE49-F238E27FC236}">
                <a16:creationId xmlns:a16="http://schemas.microsoft.com/office/drawing/2014/main" id="{97C9C20A-8353-29FD-CE99-6436DA7CF6B1}"/>
              </a:ext>
            </a:extLst>
          </p:cNvPr>
          <p:cNvCxnSpPr>
            <a:cxnSpLocks/>
            <a:stCxn id="38" idx="1"/>
            <a:endCxn id="10" idx="1"/>
          </p:cNvCxnSpPr>
          <p:nvPr/>
        </p:nvCxnSpPr>
        <p:spPr>
          <a:xfrm rot="10800000">
            <a:off x="551998" y="2943400"/>
            <a:ext cx="12700" cy="2774693"/>
          </a:xfrm>
          <a:prstGeom prst="bentConnector3">
            <a:avLst>
              <a:gd name="adj1" fmla="val 1800000"/>
            </a:avLst>
          </a:prstGeom>
          <a:noFill/>
          <a:ln w="63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2073866E-F9C8-BB5D-0C92-F442B5E4D605}"/>
              </a:ext>
            </a:extLst>
          </p:cNvPr>
          <p:cNvCxnSpPr>
            <a:cxnSpLocks/>
            <a:stCxn id="38" idx="3"/>
            <a:endCxn id="11" idx="3"/>
          </p:cNvCxnSpPr>
          <p:nvPr/>
        </p:nvCxnSpPr>
        <p:spPr>
          <a:xfrm flipV="1">
            <a:off x="11639998" y="2943397"/>
            <a:ext cx="12700" cy="2774695"/>
          </a:xfrm>
          <a:prstGeom prst="bentConnector3">
            <a:avLst>
              <a:gd name="adj1" fmla="val 1800000"/>
            </a:avLst>
          </a:prstGeom>
          <a:noFill/>
          <a:ln w="63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71046B51-CF1C-2968-3505-1751B7EE1E72}"/>
              </a:ext>
            </a:extLst>
          </p:cNvPr>
          <p:cNvSpPr txBox="1"/>
          <p:nvPr/>
        </p:nvSpPr>
        <p:spPr>
          <a:xfrm>
            <a:off x="4182332" y="2913196"/>
            <a:ext cx="2664000" cy="259200"/>
          </a:xfrm>
          <a:prstGeom prst="roundRect">
            <a:avLst>
              <a:gd name="adj" fmla="val 9460"/>
            </a:avLst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defPPr>
              <a:defRPr lang="zh-Hans-HK"/>
            </a:defPPr>
            <a:lvl1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00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系统集成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/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合格性测试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F1E4E6BC-E89D-6F9A-67B7-471716703229}"/>
              </a:ext>
            </a:extLst>
          </p:cNvPr>
          <p:cNvSpPr txBox="1"/>
          <p:nvPr/>
        </p:nvSpPr>
        <p:spPr>
          <a:xfrm>
            <a:off x="8006440" y="3515433"/>
            <a:ext cx="3240000" cy="259200"/>
          </a:xfrm>
          <a:prstGeom prst="roundRect">
            <a:avLst>
              <a:gd name="adj" fmla="val 9460"/>
            </a:avLst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defPPr>
              <a:defRPr lang="zh-Hans-HK"/>
            </a:defPPr>
            <a:lvl1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00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大规模道路测试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4983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4DAA5C3-6BBF-DDE0-AC0D-B0483C70B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7675BB0-3066-DF80-188D-E8F66AF95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4571A7-0608-4CA0-91C4-DD76FEAC2393}" type="datetime1">
              <a:rPr kumimoji="0" lang="zh-CN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2026/1/30</a:t>
            </a:fld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23D1C33-BCB5-B578-714C-05A158677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Horizon Continental Technology Shanghai Co., Ltd -  Confidential Information Under NDA</a:t>
            </a:r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F0DDD8-9768-64A6-6EA9-0227637B7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13275-6251-4C40-AFE1-85D85DA07171}" type="slidenum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8099714-CB17-79A1-A33F-D3341A845053}"/>
              </a:ext>
            </a:extLst>
          </p:cNvPr>
          <p:cNvSpPr txBox="1"/>
          <p:nvPr/>
        </p:nvSpPr>
        <p:spPr>
          <a:xfrm>
            <a:off x="777240" y="487045"/>
            <a:ext cx="1063752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600" b="0" spc="300">
                <a:solidFill>
                  <a:srgbClr val="001432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完善的测试流程</a:t>
            </a:r>
          </a:p>
        </p:txBody>
      </p:sp>
      <p:sp>
        <p:nvSpPr>
          <p:cNvPr id="7" name="矩形: 圆角 55">
            <a:extLst>
              <a:ext uri="{FF2B5EF4-FFF2-40B4-BE49-F238E27FC236}">
                <a16:creationId xmlns:a16="http://schemas.microsoft.com/office/drawing/2014/main" id="{A45FC29C-ADBC-94DB-2A44-D07A82C49D91}"/>
              </a:ext>
            </a:extLst>
          </p:cNvPr>
          <p:cNvSpPr/>
          <p:nvPr/>
        </p:nvSpPr>
        <p:spPr>
          <a:xfrm>
            <a:off x="4703121" y="2122991"/>
            <a:ext cx="1008000" cy="2905229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635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研发自测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000" kern="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000" kern="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000" kern="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000" kern="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9" name="矩形: 圆角 55">
            <a:extLst>
              <a:ext uri="{FF2B5EF4-FFF2-40B4-BE49-F238E27FC236}">
                <a16:creationId xmlns:a16="http://schemas.microsoft.com/office/drawing/2014/main" id="{3B00C86A-D68B-CCD8-CB92-3370067AF8D1}"/>
              </a:ext>
            </a:extLst>
          </p:cNvPr>
          <p:cNvSpPr/>
          <p:nvPr/>
        </p:nvSpPr>
        <p:spPr>
          <a:xfrm>
            <a:off x="982047" y="1340248"/>
            <a:ext cx="3780000" cy="18000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635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研发分支版本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10" name="矩形: 圆角 55">
            <a:extLst>
              <a:ext uri="{FF2B5EF4-FFF2-40B4-BE49-F238E27FC236}">
                <a16:creationId xmlns:a16="http://schemas.microsoft.com/office/drawing/2014/main" id="{81D5CBF4-8C1D-7605-82B3-7C006EF3A29C}"/>
              </a:ext>
            </a:extLst>
          </p:cNvPr>
          <p:cNvSpPr/>
          <p:nvPr/>
        </p:nvSpPr>
        <p:spPr>
          <a:xfrm>
            <a:off x="4703121" y="1408678"/>
            <a:ext cx="2232000" cy="177882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635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Daily</a:t>
            </a:r>
            <a:r>
              <a:rPr lang="zh-CN" altLang="en-US" sz="1200" kern="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版本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11" name="矩形: 圆角 55">
            <a:extLst>
              <a:ext uri="{FF2B5EF4-FFF2-40B4-BE49-F238E27FC236}">
                <a16:creationId xmlns:a16="http://schemas.microsoft.com/office/drawing/2014/main" id="{8386F466-2C09-FD82-88AD-03A38710B693}"/>
              </a:ext>
            </a:extLst>
          </p:cNvPr>
          <p:cNvSpPr/>
          <p:nvPr/>
        </p:nvSpPr>
        <p:spPr>
          <a:xfrm>
            <a:off x="9315443" y="1477107"/>
            <a:ext cx="2348749" cy="177879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635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发布版本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1EABFC2-0967-6AFE-12BC-DA03A4FF16C3}"/>
              </a:ext>
            </a:extLst>
          </p:cNvPr>
          <p:cNvSpPr/>
          <p:nvPr/>
        </p:nvSpPr>
        <p:spPr>
          <a:xfrm>
            <a:off x="982047" y="1742340"/>
            <a:ext cx="1080000" cy="25995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需求和开发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43C8902-9FFB-85E9-75E3-B86D35D24868}"/>
              </a:ext>
            </a:extLst>
          </p:cNvPr>
          <p:cNvSpPr/>
          <p:nvPr/>
        </p:nvSpPr>
        <p:spPr>
          <a:xfrm>
            <a:off x="2222405" y="1742340"/>
            <a:ext cx="1080000" cy="25995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单元测试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6EABAA2-EC4E-D2CC-A0B1-D3BE961B2392}"/>
              </a:ext>
            </a:extLst>
          </p:cNvPr>
          <p:cNvSpPr/>
          <p:nvPr/>
        </p:nvSpPr>
        <p:spPr>
          <a:xfrm>
            <a:off x="3462763" y="1742340"/>
            <a:ext cx="1080000" cy="25995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模块测试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2B73524-EC9F-1974-12C6-185C61A6F8FA}"/>
              </a:ext>
            </a:extLst>
          </p:cNvPr>
          <p:cNvSpPr/>
          <p:nvPr/>
        </p:nvSpPr>
        <p:spPr>
          <a:xfrm>
            <a:off x="4703121" y="1742340"/>
            <a:ext cx="2156550" cy="25995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软件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集成测试（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Daily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）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04F7A50-F93E-FB45-0277-F73CA895D1B1}"/>
              </a:ext>
            </a:extLst>
          </p:cNvPr>
          <p:cNvSpPr/>
          <p:nvPr/>
        </p:nvSpPr>
        <p:spPr>
          <a:xfrm>
            <a:off x="9343837" y="1742340"/>
            <a:ext cx="1080000" cy="25995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合格性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测试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26B09FA-A77C-ADE3-F8C9-F1D7D7DDF80F}"/>
              </a:ext>
            </a:extLst>
          </p:cNvPr>
          <p:cNvSpPr/>
          <p:nvPr/>
        </p:nvSpPr>
        <p:spPr>
          <a:xfrm>
            <a:off x="10584193" y="1742340"/>
            <a:ext cx="1080000" cy="25995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软件发布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C31188E-5C80-6D0A-78C0-3C7731180E2D}"/>
              </a:ext>
            </a:extLst>
          </p:cNvPr>
          <p:cNvSpPr txBox="1"/>
          <p:nvPr/>
        </p:nvSpPr>
        <p:spPr>
          <a:xfrm>
            <a:off x="982047" y="2418145"/>
            <a:ext cx="1080000" cy="396000"/>
          </a:xfrm>
          <a:prstGeom prst="roundRect">
            <a:avLst>
              <a:gd name="adj" fmla="val 946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wrap="square" rtlCol="0" anchor="ctr" anchorCtr="1">
            <a:spAutoFit/>
          </a:bodyPr>
          <a:lstStyle>
            <a:defPPr>
              <a:defRPr lang="zh-CN"/>
            </a:defPPr>
            <a:lvl1pPr marR="0" lvl="0" indent="0" fontAlgn="auto">
              <a:spcBef>
                <a:spcPts val="0"/>
              </a:spcBef>
              <a:spcAft>
                <a:spcPts val="400"/>
              </a:spcAft>
              <a:buClr>
                <a:srgbClr val="4472C4"/>
              </a:buClr>
              <a:buSzTx/>
              <a:buFontTx/>
              <a:buNone/>
              <a:defRPr kumimoji="0" sz="1100" b="1" i="0" u="none" strike="noStrike" kern="0" cap="none" spc="0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需求分析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61E6F8B-FABB-77EB-1990-A86F85F371C4}"/>
              </a:ext>
            </a:extLst>
          </p:cNvPr>
          <p:cNvSpPr txBox="1"/>
          <p:nvPr/>
        </p:nvSpPr>
        <p:spPr>
          <a:xfrm>
            <a:off x="982047" y="3450514"/>
            <a:ext cx="1080000" cy="396000"/>
          </a:xfrm>
          <a:prstGeom prst="roundRect">
            <a:avLst>
              <a:gd name="adj" fmla="val 946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wrap="square" rtlCol="0" anchor="ctr" anchorCtr="1">
            <a:spAutoFit/>
          </a:bodyPr>
          <a:lstStyle>
            <a:defPPr>
              <a:defRPr lang="zh-CN"/>
            </a:defPPr>
            <a:lvl1pPr marR="0" lvl="0" indent="0" fontAlgn="auto">
              <a:spcBef>
                <a:spcPts val="0"/>
              </a:spcBef>
              <a:spcAft>
                <a:spcPts val="400"/>
              </a:spcAft>
              <a:buClr>
                <a:srgbClr val="4472C4"/>
              </a:buClr>
              <a:buSzTx/>
              <a:buFontTx/>
              <a:buNone/>
              <a:defRPr kumimoji="0" sz="1100" b="1" i="0" u="none" strike="noStrike" kern="0" cap="none" spc="0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设计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2DD26F8-958B-229B-CC0D-380BB63CBA8E}"/>
              </a:ext>
            </a:extLst>
          </p:cNvPr>
          <p:cNvSpPr txBox="1"/>
          <p:nvPr/>
        </p:nvSpPr>
        <p:spPr>
          <a:xfrm>
            <a:off x="982047" y="4482883"/>
            <a:ext cx="1080000" cy="396000"/>
          </a:xfrm>
          <a:prstGeom prst="roundRect">
            <a:avLst>
              <a:gd name="adj" fmla="val 946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wrap="square" rtlCol="0" anchor="ctr" anchorCtr="1">
            <a:spAutoFit/>
          </a:bodyPr>
          <a:lstStyle>
            <a:defPPr>
              <a:defRPr lang="zh-CN"/>
            </a:defPPr>
            <a:lvl1pPr marR="0" lvl="0" indent="0" fontAlgn="auto">
              <a:spcBef>
                <a:spcPts val="0"/>
              </a:spcBef>
              <a:spcAft>
                <a:spcPts val="400"/>
              </a:spcAft>
              <a:buClr>
                <a:srgbClr val="4472C4"/>
              </a:buClr>
              <a:buSzTx/>
              <a:buFontTx/>
              <a:buNone/>
              <a:defRPr kumimoji="0" sz="1100" b="1" i="0" u="none" strike="noStrike" kern="0" cap="none" spc="0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开发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A18FB2C-586C-3A37-D84D-0EBD3C4021C3}"/>
              </a:ext>
            </a:extLst>
          </p:cNvPr>
          <p:cNvSpPr txBox="1"/>
          <p:nvPr/>
        </p:nvSpPr>
        <p:spPr>
          <a:xfrm>
            <a:off x="2222405" y="2418145"/>
            <a:ext cx="1080000" cy="396000"/>
          </a:xfrm>
          <a:prstGeom prst="roundRect">
            <a:avLst>
              <a:gd name="adj" fmla="val 946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wrap="square" rtlCol="0" anchor="ctr" anchorCtr="1">
            <a:spAutoFit/>
          </a:bodyPr>
          <a:lstStyle>
            <a:defPPr>
              <a:defRPr lang="zh-CN"/>
            </a:defPPr>
            <a:lvl1pPr marR="0" lvl="0" indent="0" fontAlgn="auto">
              <a:spcBef>
                <a:spcPts val="0"/>
              </a:spcBef>
              <a:spcAft>
                <a:spcPts val="400"/>
              </a:spcAft>
              <a:buClr>
                <a:srgbClr val="4472C4"/>
              </a:buClr>
              <a:buSzTx/>
              <a:buFontTx/>
              <a:buNone/>
              <a:defRPr kumimoji="0" sz="1100" b="1" i="0" u="none" strike="noStrike" kern="0" cap="none" spc="0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代码静态扫描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E7687BD-AED1-E086-E86D-26A6C749D878}"/>
              </a:ext>
            </a:extLst>
          </p:cNvPr>
          <p:cNvSpPr txBox="1"/>
          <p:nvPr/>
        </p:nvSpPr>
        <p:spPr>
          <a:xfrm>
            <a:off x="2222405" y="3450514"/>
            <a:ext cx="1080000" cy="396000"/>
          </a:xfrm>
          <a:prstGeom prst="roundRect">
            <a:avLst>
              <a:gd name="adj" fmla="val 946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wrap="square" rtlCol="0" anchor="ctr" anchorCtr="1">
            <a:spAutoFit/>
          </a:bodyPr>
          <a:lstStyle>
            <a:defPPr>
              <a:defRPr lang="zh-CN"/>
            </a:defPPr>
            <a:lvl1pPr marR="0" lvl="0" indent="0" fontAlgn="auto">
              <a:spcBef>
                <a:spcPts val="0"/>
              </a:spcBef>
              <a:spcAft>
                <a:spcPts val="400"/>
              </a:spcAft>
              <a:buClr>
                <a:srgbClr val="4472C4"/>
              </a:buClr>
              <a:buSzTx/>
              <a:buFontTx/>
              <a:buNone/>
              <a:defRPr kumimoji="0" sz="1100" b="1" i="0" u="none" strike="noStrike" kern="0" cap="none" spc="0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单元测试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8B6EBA4-4459-C648-9B37-DE5AB031B7C7}"/>
              </a:ext>
            </a:extLst>
          </p:cNvPr>
          <p:cNvSpPr txBox="1"/>
          <p:nvPr/>
        </p:nvSpPr>
        <p:spPr>
          <a:xfrm>
            <a:off x="2222405" y="4482883"/>
            <a:ext cx="1080000" cy="396000"/>
          </a:xfrm>
          <a:prstGeom prst="roundRect">
            <a:avLst>
              <a:gd name="adj" fmla="val 946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wrap="square" rtlCol="0" anchor="ctr" anchorCtr="1">
            <a:spAutoFit/>
          </a:bodyPr>
          <a:lstStyle>
            <a:defPPr>
              <a:defRPr lang="zh-CN"/>
            </a:defPPr>
            <a:lvl1pPr marR="0" lvl="0" indent="0" fontAlgn="auto">
              <a:spcBef>
                <a:spcPts val="0"/>
              </a:spcBef>
              <a:spcAft>
                <a:spcPts val="400"/>
              </a:spcAft>
              <a:buClr>
                <a:srgbClr val="4472C4"/>
              </a:buClr>
              <a:buSzTx/>
              <a:buFontTx/>
              <a:buNone/>
              <a:defRPr kumimoji="0" sz="1100" b="1" i="0" u="none" strike="noStrike" kern="0" cap="none" spc="0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MIL</a:t>
            </a: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评测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C8D6972-6C58-D6A7-1394-832DD7E737E0}"/>
              </a:ext>
            </a:extLst>
          </p:cNvPr>
          <p:cNvSpPr txBox="1"/>
          <p:nvPr/>
        </p:nvSpPr>
        <p:spPr>
          <a:xfrm>
            <a:off x="3462763" y="2418145"/>
            <a:ext cx="1080000" cy="396000"/>
          </a:xfrm>
          <a:prstGeom prst="roundRect">
            <a:avLst>
              <a:gd name="adj" fmla="val 946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wrap="square" rtlCol="0" anchor="ctr" anchorCtr="1">
            <a:spAutoFit/>
          </a:bodyPr>
          <a:lstStyle>
            <a:defPPr>
              <a:defRPr lang="zh-CN"/>
            </a:defPPr>
            <a:lvl1pPr marR="0" lvl="0" indent="0" fontAlgn="auto">
              <a:spcBef>
                <a:spcPts val="0"/>
              </a:spcBef>
              <a:spcAft>
                <a:spcPts val="400"/>
              </a:spcAft>
              <a:buClr>
                <a:srgbClr val="4472C4"/>
              </a:buClr>
              <a:buSzTx/>
              <a:buFontTx/>
              <a:buNone/>
              <a:defRPr kumimoji="0" sz="1100" b="1" i="0" u="none" strike="noStrike" kern="0" cap="none" spc="0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模块</a:t>
            </a: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Benchmark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7BA1318-1436-706F-2FE9-2F61B887254D}"/>
              </a:ext>
            </a:extLst>
          </p:cNvPr>
          <p:cNvSpPr txBox="1"/>
          <p:nvPr/>
        </p:nvSpPr>
        <p:spPr>
          <a:xfrm>
            <a:off x="3462763" y="3450514"/>
            <a:ext cx="1080000" cy="396000"/>
          </a:xfrm>
          <a:prstGeom prst="roundRect">
            <a:avLst>
              <a:gd name="adj" fmla="val 946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wrap="square" rtlCol="0" anchor="ctr" anchorCtr="1">
            <a:spAutoFit/>
          </a:bodyPr>
          <a:lstStyle>
            <a:defPPr>
              <a:defRPr lang="zh-CN"/>
            </a:defPPr>
            <a:lvl1pPr marR="0" lvl="0" indent="0" fontAlgn="auto">
              <a:spcBef>
                <a:spcPts val="0"/>
              </a:spcBef>
              <a:spcAft>
                <a:spcPts val="400"/>
              </a:spcAft>
              <a:buClr>
                <a:srgbClr val="4472C4"/>
              </a:buClr>
              <a:buSzTx/>
              <a:buFontTx/>
              <a:buNone/>
              <a:defRPr kumimoji="0" sz="1100" b="1" i="0" u="none" strike="noStrike" kern="0" cap="none" spc="0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SIL</a:t>
            </a: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回归测试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325742C-A915-6FBE-7823-030E624232C4}"/>
              </a:ext>
            </a:extLst>
          </p:cNvPr>
          <p:cNvSpPr txBox="1"/>
          <p:nvPr/>
        </p:nvSpPr>
        <p:spPr>
          <a:xfrm>
            <a:off x="3462763" y="4482883"/>
            <a:ext cx="1080000" cy="396000"/>
          </a:xfrm>
          <a:prstGeom prst="roundRect">
            <a:avLst>
              <a:gd name="adj" fmla="val 946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wrap="square" rtlCol="0" anchor="ctr" anchorCtr="1">
            <a:spAutoFit/>
          </a:bodyPr>
          <a:lstStyle>
            <a:defPPr>
              <a:defRPr lang="zh-CN"/>
            </a:defPPr>
            <a:lvl1pPr marR="0" lvl="0" indent="0" fontAlgn="auto">
              <a:spcBef>
                <a:spcPts val="0"/>
              </a:spcBef>
              <a:spcAft>
                <a:spcPts val="400"/>
              </a:spcAft>
              <a:buClr>
                <a:srgbClr val="4472C4"/>
              </a:buClr>
              <a:buSzTx/>
              <a:buFontTx/>
              <a:buNone/>
              <a:defRPr kumimoji="0" sz="1100" b="1" i="0" u="none" strike="noStrike" kern="0" cap="none" spc="0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小样本量实车测试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37A4BEC-F3B2-8F6B-C3BB-5C91992BF21F}"/>
              </a:ext>
            </a:extLst>
          </p:cNvPr>
          <p:cNvSpPr txBox="1"/>
          <p:nvPr/>
        </p:nvSpPr>
        <p:spPr>
          <a:xfrm>
            <a:off x="4757121" y="2418145"/>
            <a:ext cx="900000" cy="396000"/>
          </a:xfrm>
          <a:prstGeom prst="roundRect">
            <a:avLst>
              <a:gd name="adj" fmla="val 946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 rtlCol="0" anchor="ctr" anchorCtr="1">
            <a:spAutoFit/>
          </a:bodyPr>
          <a:lstStyle>
            <a:defPPr>
              <a:defRPr lang="zh-CN"/>
            </a:defPPr>
            <a:lvl1pPr marR="0" lvl="0" indent="0" fontAlgn="auto">
              <a:spcBef>
                <a:spcPts val="0"/>
              </a:spcBef>
              <a:spcAft>
                <a:spcPts val="400"/>
              </a:spcAft>
              <a:buClr>
                <a:srgbClr val="4472C4"/>
              </a:buClr>
              <a:buSzTx/>
              <a:buFontTx/>
              <a:buNone/>
              <a:defRPr kumimoji="0" sz="1100" b="1" i="0" u="none" strike="noStrike" kern="0" cap="none" spc="0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SIL</a:t>
            </a: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评测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B573B05-30DF-56AA-AA47-3CA7F404403D}"/>
              </a:ext>
            </a:extLst>
          </p:cNvPr>
          <p:cNvSpPr txBox="1"/>
          <p:nvPr/>
        </p:nvSpPr>
        <p:spPr>
          <a:xfrm>
            <a:off x="4757121" y="3450514"/>
            <a:ext cx="900000" cy="396000"/>
          </a:xfrm>
          <a:prstGeom prst="roundRect">
            <a:avLst>
              <a:gd name="adj" fmla="val 946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 rtlCol="0" anchor="ctr" anchorCtr="1">
            <a:spAutoFit/>
          </a:bodyPr>
          <a:lstStyle>
            <a:defPPr>
              <a:defRPr lang="zh-CN"/>
            </a:defPPr>
            <a:lvl1pPr marR="0" lvl="0" indent="0" fontAlgn="auto">
              <a:spcBef>
                <a:spcPts val="0"/>
              </a:spcBef>
              <a:spcAft>
                <a:spcPts val="400"/>
              </a:spcAft>
              <a:buClr>
                <a:srgbClr val="4472C4"/>
              </a:buClr>
              <a:buSzTx/>
              <a:buFontTx/>
              <a:buNone/>
              <a:defRPr kumimoji="0" sz="1100" b="1" i="0" u="none" strike="noStrike" kern="0" cap="none" spc="0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HIL</a:t>
            </a: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评测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BB41001-9892-0917-51AB-B49E60529904}"/>
              </a:ext>
            </a:extLst>
          </p:cNvPr>
          <p:cNvSpPr txBox="1"/>
          <p:nvPr/>
        </p:nvSpPr>
        <p:spPr>
          <a:xfrm>
            <a:off x="4757121" y="4482883"/>
            <a:ext cx="900000" cy="396000"/>
          </a:xfrm>
          <a:prstGeom prst="roundRect">
            <a:avLst>
              <a:gd name="adj" fmla="val 946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 rtlCol="0" anchor="ctr" anchorCtr="1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Arial" panose="020B0604020202020204" pitchFamily="34" charset="0"/>
              </a:rPr>
              <a:t>小样本量</a:t>
            </a:r>
            <a:endParaRPr lang="en-US" altLang="zh-CN" dirty="0">
              <a:sym typeface="Arial" panose="020B0604020202020204" pitchFamily="34" charset="0"/>
            </a:endParaRPr>
          </a:p>
          <a:p>
            <a:r>
              <a:rPr lang="zh-CN" altLang="en-US" dirty="0">
                <a:sym typeface="Arial" panose="020B0604020202020204" pitchFamily="34" charset="0"/>
              </a:rPr>
              <a:t>实车测试</a:t>
            </a:r>
            <a:endParaRPr lang="en-US" altLang="zh-CN" dirty="0">
              <a:sym typeface="Arial" panose="020B0604020202020204" pitchFamily="34" charset="0"/>
            </a:endParaRPr>
          </a:p>
        </p:txBody>
      </p:sp>
      <p:sp>
        <p:nvSpPr>
          <p:cNvPr id="31" name="矩形: 圆角 55">
            <a:extLst>
              <a:ext uri="{FF2B5EF4-FFF2-40B4-BE49-F238E27FC236}">
                <a16:creationId xmlns:a16="http://schemas.microsoft.com/office/drawing/2014/main" id="{96696A7B-CBE8-4786-5560-E1C0E79B9883}"/>
              </a:ext>
            </a:extLst>
          </p:cNvPr>
          <p:cNvSpPr/>
          <p:nvPr/>
        </p:nvSpPr>
        <p:spPr>
          <a:xfrm>
            <a:off x="5851671" y="2122990"/>
            <a:ext cx="1008000" cy="2905233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635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Daily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测试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000" kern="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47E85EA-6FA2-7321-D129-B3421639088F}"/>
              </a:ext>
            </a:extLst>
          </p:cNvPr>
          <p:cNvSpPr txBox="1"/>
          <p:nvPr/>
        </p:nvSpPr>
        <p:spPr>
          <a:xfrm>
            <a:off x="5905671" y="2418145"/>
            <a:ext cx="900000" cy="396000"/>
          </a:xfrm>
          <a:prstGeom prst="roundRect">
            <a:avLst>
              <a:gd name="adj" fmla="val 946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 rtlCol="0" anchor="ctr" anchorCtr="1">
            <a:spAutoFit/>
          </a:bodyPr>
          <a:lstStyle>
            <a:defPPr>
              <a:defRPr lang="zh-CN"/>
            </a:defPPr>
            <a:lvl1pPr marR="0" lvl="0" indent="0" fontAlgn="auto">
              <a:spcBef>
                <a:spcPts val="0"/>
              </a:spcBef>
              <a:spcAft>
                <a:spcPts val="400"/>
              </a:spcAft>
              <a:buClr>
                <a:srgbClr val="4472C4"/>
              </a:buClr>
              <a:buSzTx/>
              <a:buFontTx/>
              <a:buNone/>
              <a:defRPr kumimoji="0" sz="1100" b="1" i="0" u="none" strike="noStrike" kern="0" cap="none" spc="0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SIL/HIL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功能测试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B8E6DAB-7579-6D00-C405-728D7232FDCC}"/>
              </a:ext>
            </a:extLst>
          </p:cNvPr>
          <p:cNvSpPr txBox="1"/>
          <p:nvPr/>
        </p:nvSpPr>
        <p:spPr>
          <a:xfrm>
            <a:off x="5905671" y="2934330"/>
            <a:ext cx="900000" cy="396000"/>
          </a:xfrm>
          <a:prstGeom prst="roundRect">
            <a:avLst>
              <a:gd name="adj" fmla="val 946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 rtlCol="0" anchor="ctr" anchorCtr="1">
            <a:spAutoFit/>
          </a:bodyPr>
          <a:lstStyle>
            <a:defPPr>
              <a:defRPr lang="zh-CN"/>
            </a:defPPr>
            <a:lvl1pPr marR="0" lvl="0" indent="0" fontAlgn="auto">
              <a:spcBef>
                <a:spcPts val="0"/>
              </a:spcBef>
              <a:spcAft>
                <a:spcPts val="400"/>
              </a:spcAft>
              <a:buClr>
                <a:srgbClr val="4472C4"/>
              </a:buClr>
              <a:buSzTx/>
              <a:buFontTx/>
              <a:buNone/>
              <a:defRPr kumimoji="0" sz="1100" b="1" i="0" u="none" strike="noStrike" kern="0" cap="none" spc="0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HIL</a:t>
            </a: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性能测试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A01DF52-1378-C2DE-B3C3-C8E23C5C4A53}"/>
              </a:ext>
            </a:extLst>
          </p:cNvPr>
          <p:cNvSpPr txBox="1"/>
          <p:nvPr/>
        </p:nvSpPr>
        <p:spPr>
          <a:xfrm>
            <a:off x="5905671" y="3450515"/>
            <a:ext cx="900000" cy="396000"/>
          </a:xfrm>
          <a:prstGeom prst="roundRect">
            <a:avLst>
              <a:gd name="adj" fmla="val 946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 rtlCol="0" anchor="ctr" anchorCtr="1">
            <a:spAutoFit/>
          </a:bodyPr>
          <a:lstStyle>
            <a:defPPr>
              <a:defRPr lang="zh-CN"/>
            </a:defPPr>
            <a:lvl1pPr marR="0" lvl="0" indent="0" fontAlgn="auto">
              <a:spcBef>
                <a:spcPts val="0"/>
              </a:spcBef>
              <a:spcAft>
                <a:spcPts val="400"/>
              </a:spcAft>
              <a:buClr>
                <a:srgbClr val="4472C4"/>
              </a:buClr>
              <a:buSzTx/>
              <a:buFontTx/>
              <a:buNone/>
              <a:defRPr kumimoji="0" sz="1100" b="1" i="0" u="none" strike="noStrike" kern="0" cap="none" spc="0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HIL</a:t>
            </a: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稳定性测试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DCB78CD-2BE7-EDD1-E675-3632CC17F40C}"/>
              </a:ext>
            </a:extLst>
          </p:cNvPr>
          <p:cNvSpPr txBox="1"/>
          <p:nvPr/>
        </p:nvSpPr>
        <p:spPr>
          <a:xfrm>
            <a:off x="5905671" y="3966700"/>
            <a:ext cx="900000" cy="396000"/>
          </a:xfrm>
          <a:prstGeom prst="roundRect">
            <a:avLst>
              <a:gd name="adj" fmla="val 946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 rtlCol="0" anchor="ctr" anchorCtr="1">
            <a:spAutoFit/>
          </a:bodyPr>
          <a:lstStyle>
            <a:defPPr>
              <a:defRPr lang="zh-CN"/>
            </a:defPPr>
            <a:lvl1pPr marR="0" lvl="0" indent="0" fontAlgn="auto">
              <a:spcBef>
                <a:spcPts val="0"/>
              </a:spcBef>
              <a:spcAft>
                <a:spcPts val="400"/>
              </a:spcAft>
              <a:buClr>
                <a:srgbClr val="4472C4"/>
              </a:buClr>
              <a:buSzTx/>
              <a:buFontTx/>
              <a:buNone/>
              <a:defRPr kumimoji="0" sz="1100" b="1" i="0" u="none" strike="noStrike" kern="0" cap="none" spc="0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HIL</a:t>
            </a: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故障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注入测试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292FBD7-8699-38FA-AAE9-6E04962C6B43}"/>
              </a:ext>
            </a:extLst>
          </p:cNvPr>
          <p:cNvSpPr txBox="1"/>
          <p:nvPr/>
        </p:nvSpPr>
        <p:spPr>
          <a:xfrm>
            <a:off x="5905671" y="4482883"/>
            <a:ext cx="900000" cy="396000"/>
          </a:xfrm>
          <a:prstGeom prst="roundRect">
            <a:avLst>
              <a:gd name="adj" fmla="val 946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 rtlCol="0" anchor="ctr" anchorCtr="1">
            <a:spAutoFit/>
          </a:bodyPr>
          <a:lstStyle>
            <a:defPPr>
              <a:defRPr lang="zh-CN"/>
            </a:defPPr>
            <a:lvl1pPr marR="0" lvl="0" indent="0" fontAlgn="auto">
              <a:spcBef>
                <a:spcPts val="0"/>
              </a:spcBef>
              <a:spcAft>
                <a:spcPts val="400"/>
              </a:spcAft>
              <a:buClr>
                <a:srgbClr val="4472C4"/>
              </a:buClr>
              <a:buSzTx/>
              <a:buFontTx/>
              <a:buNone/>
              <a:defRPr kumimoji="0" sz="1100" b="1" i="0" u="none" strike="noStrike" kern="0" cap="none" spc="0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固定路线测试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7" name="矩形: 圆角 55">
            <a:extLst>
              <a:ext uri="{FF2B5EF4-FFF2-40B4-BE49-F238E27FC236}">
                <a16:creationId xmlns:a16="http://schemas.microsoft.com/office/drawing/2014/main" id="{C999EF81-B662-7D12-4F67-70AD5DD8E013}"/>
              </a:ext>
            </a:extLst>
          </p:cNvPr>
          <p:cNvSpPr/>
          <p:nvPr/>
        </p:nvSpPr>
        <p:spPr>
          <a:xfrm>
            <a:off x="6980893" y="2136146"/>
            <a:ext cx="2258228" cy="2892073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635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软件测试 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        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         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 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实</a:t>
            </a:r>
            <a:r>
              <a:rPr lang="zh-CN" altLang="en-US" sz="1000" kern="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车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测试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000" kern="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000" kern="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000" kern="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35BAE78-0D99-D961-0677-7A8CCA7C8BB2}"/>
              </a:ext>
            </a:extLst>
          </p:cNvPr>
          <p:cNvSpPr txBox="1"/>
          <p:nvPr/>
        </p:nvSpPr>
        <p:spPr>
          <a:xfrm>
            <a:off x="7080929" y="2418145"/>
            <a:ext cx="900000" cy="396000"/>
          </a:xfrm>
          <a:prstGeom prst="roundRect">
            <a:avLst>
              <a:gd name="adj" fmla="val 946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 rtlCol="0" anchor="ctr" anchorCtr="1">
            <a:spAutoFit/>
          </a:bodyPr>
          <a:lstStyle>
            <a:defPPr>
              <a:defRPr lang="zh-CN"/>
            </a:defPPr>
            <a:lvl1pPr marR="0" lvl="0" indent="0" fontAlgn="auto">
              <a:spcBef>
                <a:spcPts val="0"/>
              </a:spcBef>
              <a:spcAft>
                <a:spcPts val="400"/>
              </a:spcAft>
              <a:buClr>
                <a:srgbClr val="4472C4"/>
              </a:buClr>
              <a:buSzTx/>
              <a:buFontTx/>
              <a:buNone/>
              <a:defRPr kumimoji="0" sz="1100" b="1" i="0" u="none" strike="noStrike" kern="0" cap="none" spc="0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SIL/HIL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功能测试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53175DD-5FFD-41F8-683D-3EBF534E0307}"/>
              </a:ext>
            </a:extLst>
          </p:cNvPr>
          <p:cNvSpPr txBox="1"/>
          <p:nvPr/>
        </p:nvSpPr>
        <p:spPr>
          <a:xfrm>
            <a:off x="7080929" y="3106391"/>
            <a:ext cx="900000" cy="396000"/>
          </a:xfrm>
          <a:prstGeom prst="roundRect">
            <a:avLst>
              <a:gd name="adj" fmla="val 946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 rtlCol="0" anchor="ctr" anchorCtr="1">
            <a:spAutoFit/>
          </a:bodyPr>
          <a:lstStyle>
            <a:defPPr>
              <a:defRPr lang="zh-CN"/>
            </a:defPPr>
            <a:lvl1pPr marR="0" lvl="0" indent="0" fontAlgn="auto">
              <a:spcBef>
                <a:spcPts val="0"/>
              </a:spcBef>
              <a:spcAft>
                <a:spcPts val="400"/>
              </a:spcAft>
              <a:buClr>
                <a:srgbClr val="4472C4"/>
              </a:buClr>
              <a:buSzTx/>
              <a:buFontTx/>
              <a:buNone/>
              <a:defRPr kumimoji="0" sz="1100" b="1" i="0" u="none" strike="noStrike" kern="0" cap="none" spc="0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HIL</a:t>
            </a: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性能测试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09C1CFA-C654-C888-FB8E-F65A8EFFB5F2}"/>
              </a:ext>
            </a:extLst>
          </p:cNvPr>
          <p:cNvSpPr txBox="1"/>
          <p:nvPr/>
        </p:nvSpPr>
        <p:spPr>
          <a:xfrm>
            <a:off x="7080929" y="3794637"/>
            <a:ext cx="900000" cy="396000"/>
          </a:xfrm>
          <a:prstGeom prst="roundRect">
            <a:avLst>
              <a:gd name="adj" fmla="val 946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 rtlCol="0" anchor="ctr" anchorCtr="1">
            <a:spAutoFit/>
          </a:bodyPr>
          <a:lstStyle>
            <a:defPPr>
              <a:defRPr lang="zh-CN"/>
            </a:defPPr>
            <a:lvl1pPr marR="0" lvl="0" indent="0" fontAlgn="auto">
              <a:spcBef>
                <a:spcPts val="0"/>
              </a:spcBef>
              <a:spcAft>
                <a:spcPts val="400"/>
              </a:spcAft>
              <a:buClr>
                <a:srgbClr val="4472C4"/>
              </a:buClr>
              <a:buSzTx/>
              <a:buFontTx/>
              <a:buNone/>
              <a:defRPr kumimoji="0" sz="1100" b="1" i="0" u="none" strike="noStrike" kern="0" cap="none" spc="0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HIL</a:t>
            </a: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稳定性测试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ED1B2CE-3BEF-5C2B-2906-B40716A2F340}"/>
              </a:ext>
            </a:extLst>
          </p:cNvPr>
          <p:cNvSpPr txBox="1"/>
          <p:nvPr/>
        </p:nvSpPr>
        <p:spPr>
          <a:xfrm>
            <a:off x="8229479" y="2418145"/>
            <a:ext cx="900000" cy="396000"/>
          </a:xfrm>
          <a:prstGeom prst="roundRect">
            <a:avLst>
              <a:gd name="adj" fmla="val 946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wrap="square" rtlCol="0" anchor="ctr" anchorCtr="1">
            <a:spAutoFit/>
          </a:bodyPr>
          <a:lstStyle>
            <a:defPPr>
              <a:defRPr lang="zh-CN"/>
            </a:defPPr>
            <a:lvl1pPr marR="0" lvl="0" indent="0" fontAlgn="auto">
              <a:spcBef>
                <a:spcPts val="0"/>
              </a:spcBef>
              <a:spcAft>
                <a:spcPts val="400"/>
              </a:spcAft>
              <a:buClr>
                <a:srgbClr val="4472C4"/>
              </a:buClr>
              <a:buSzTx/>
              <a:buFontTx/>
              <a:buNone/>
              <a:defRPr kumimoji="0" sz="1100" b="1" i="0" u="none" strike="noStrike" kern="0" cap="none" spc="0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实车专项功能验证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D74F844-AC5C-84C3-0C82-79B0D88FB57C}"/>
              </a:ext>
            </a:extLst>
          </p:cNvPr>
          <p:cNvSpPr txBox="1"/>
          <p:nvPr/>
        </p:nvSpPr>
        <p:spPr>
          <a:xfrm>
            <a:off x="8229479" y="3106391"/>
            <a:ext cx="899999" cy="396000"/>
          </a:xfrm>
          <a:prstGeom prst="roundRect">
            <a:avLst>
              <a:gd name="adj" fmla="val 946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wrap="square" rtlCol="0" anchor="ctr" anchorCtr="1">
            <a:noAutofit/>
          </a:bodyPr>
          <a:lstStyle>
            <a:defPPr>
              <a:defRPr lang="zh-CN"/>
            </a:defPPr>
            <a:lvl1pPr marR="0" lvl="0" indent="0" fontAlgn="auto">
              <a:spcBef>
                <a:spcPts val="0"/>
              </a:spcBef>
              <a:spcAft>
                <a:spcPts val="400"/>
              </a:spcAft>
              <a:buClr>
                <a:srgbClr val="4472C4"/>
              </a:buClr>
              <a:buSzTx/>
              <a:buFontTx/>
              <a:buNone/>
              <a:defRPr kumimoji="0" sz="1100" b="1" i="0" u="none" strike="noStrike" kern="0" cap="none" spc="0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实车固定路线测试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7D23786-834A-C2D8-EB96-8717F08B4EA3}"/>
              </a:ext>
            </a:extLst>
          </p:cNvPr>
          <p:cNvSpPr txBox="1"/>
          <p:nvPr/>
        </p:nvSpPr>
        <p:spPr>
          <a:xfrm>
            <a:off x="8229479" y="3794637"/>
            <a:ext cx="900000" cy="396000"/>
          </a:xfrm>
          <a:prstGeom prst="roundRect">
            <a:avLst>
              <a:gd name="adj" fmla="val 946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wrap="square" rtlCol="0" anchor="ctr" anchorCtr="1">
            <a:spAutoFit/>
          </a:bodyPr>
          <a:lstStyle>
            <a:defPPr>
              <a:defRPr lang="zh-CN"/>
            </a:defPPr>
            <a:lvl1pPr marR="0" lvl="0" indent="0" fontAlgn="auto">
              <a:spcBef>
                <a:spcPts val="0"/>
              </a:spcBef>
              <a:spcAft>
                <a:spcPts val="400"/>
              </a:spcAft>
              <a:buClr>
                <a:srgbClr val="4472C4"/>
              </a:buClr>
              <a:buSzTx/>
              <a:buFontTx/>
              <a:buNone/>
              <a:defRPr kumimoji="0" sz="1100" b="1" i="0" u="none" strike="noStrike" kern="0" cap="none" spc="0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实车回归测试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B7376F1-8244-78C4-4C03-8FB17177881D}"/>
              </a:ext>
            </a:extLst>
          </p:cNvPr>
          <p:cNvSpPr txBox="1"/>
          <p:nvPr/>
        </p:nvSpPr>
        <p:spPr>
          <a:xfrm>
            <a:off x="8229479" y="4482883"/>
            <a:ext cx="900000" cy="396000"/>
          </a:xfrm>
          <a:prstGeom prst="roundRect">
            <a:avLst>
              <a:gd name="adj" fmla="val 946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wrap="square" rtlCol="0" anchor="ctr" anchorCtr="1">
            <a:spAutoFit/>
          </a:bodyPr>
          <a:lstStyle>
            <a:defPPr>
              <a:defRPr lang="zh-CN"/>
            </a:defPPr>
            <a:lvl1pPr marR="0" lvl="0" indent="0" fontAlgn="auto">
              <a:spcBef>
                <a:spcPts val="0"/>
              </a:spcBef>
              <a:spcAft>
                <a:spcPts val="400"/>
              </a:spcAft>
              <a:buClr>
                <a:srgbClr val="4472C4"/>
              </a:buClr>
              <a:buSzTx/>
              <a:buFontTx/>
              <a:buNone/>
              <a:defRPr kumimoji="0" sz="1100" b="1" i="0" u="none" strike="noStrike" kern="0" cap="none" spc="0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实车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稳定性测试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2CD65631-8307-021E-50F4-977719D3364B}"/>
              </a:ext>
            </a:extLst>
          </p:cNvPr>
          <p:cNvSpPr txBox="1"/>
          <p:nvPr/>
        </p:nvSpPr>
        <p:spPr>
          <a:xfrm>
            <a:off x="7080929" y="4482883"/>
            <a:ext cx="900000" cy="396000"/>
          </a:xfrm>
          <a:prstGeom prst="roundRect">
            <a:avLst>
              <a:gd name="adj" fmla="val 946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 rtlCol="0" anchor="ctr" anchorCtr="1">
            <a:spAutoFit/>
          </a:bodyPr>
          <a:lstStyle>
            <a:defPPr>
              <a:defRPr lang="zh-CN"/>
            </a:defPPr>
            <a:lvl1pPr marR="0" lvl="0" indent="0" fontAlgn="auto">
              <a:spcBef>
                <a:spcPts val="0"/>
              </a:spcBef>
              <a:spcAft>
                <a:spcPts val="400"/>
              </a:spcAft>
              <a:buClr>
                <a:srgbClr val="4472C4"/>
              </a:buClr>
              <a:buSzTx/>
              <a:buFontTx/>
              <a:buNone/>
              <a:defRPr kumimoji="0" sz="1100" b="1" i="0" u="none" strike="noStrike" kern="0" cap="none" spc="0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HIL</a:t>
            </a: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故障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注入测试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C73B964D-44C4-E16B-FB7A-1A2ED4F20124}"/>
              </a:ext>
            </a:extLst>
          </p:cNvPr>
          <p:cNvSpPr txBox="1"/>
          <p:nvPr/>
        </p:nvSpPr>
        <p:spPr>
          <a:xfrm>
            <a:off x="281690" y="2417276"/>
            <a:ext cx="592265" cy="396869"/>
          </a:xfrm>
          <a:prstGeom prst="roundRect">
            <a:avLst>
              <a:gd name="adj" fmla="val 946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wrap="square" rtlCol="0" anchor="ctr" anchorCtr="1">
            <a:spAutoFit/>
          </a:bodyPr>
          <a:lstStyle>
            <a:defPPr>
              <a:defRPr lang="zh-CN"/>
            </a:defPPr>
            <a:lvl1pPr marR="0" lvl="0" indent="0" fontAlgn="auto">
              <a:spcBef>
                <a:spcPts val="0"/>
              </a:spcBef>
              <a:spcAft>
                <a:spcPts val="400"/>
              </a:spcAft>
              <a:buClr>
                <a:srgbClr val="4472C4"/>
              </a:buClr>
              <a:buSzTx/>
              <a:buFontTx/>
              <a:buNone/>
              <a:defRPr kumimoji="0" sz="1100" b="1" i="0" u="none" strike="noStrike" kern="0" cap="none" spc="0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Issue/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版本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6DC4F60-1825-63AA-7C1B-7CF9D9C62A32}"/>
              </a:ext>
            </a:extLst>
          </p:cNvPr>
          <p:cNvSpPr txBox="1"/>
          <p:nvPr/>
        </p:nvSpPr>
        <p:spPr>
          <a:xfrm>
            <a:off x="9393158" y="3450513"/>
            <a:ext cx="972000" cy="396000"/>
          </a:xfrm>
          <a:prstGeom prst="roundRect">
            <a:avLst>
              <a:gd name="adj" fmla="val 946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wrap="square" rtlCol="0" anchor="ctr" anchorCtr="1">
            <a:spAutoFit/>
          </a:bodyPr>
          <a:lstStyle>
            <a:defPPr>
              <a:defRPr lang="zh-CN"/>
            </a:defPPr>
            <a:lvl1pPr marR="0" lvl="0" indent="0" fontAlgn="auto">
              <a:spcBef>
                <a:spcPts val="0"/>
              </a:spcBef>
              <a:spcAft>
                <a:spcPts val="400"/>
              </a:spcAft>
              <a:buClr>
                <a:srgbClr val="4472C4"/>
              </a:buClr>
              <a:buSzTx/>
              <a:buFontTx/>
              <a:buNone/>
              <a:defRPr kumimoji="0" sz="1100" b="1" i="0" u="none" strike="noStrike" kern="0" cap="none" spc="0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系统合格性测试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697A1F5E-C137-6235-D7AD-EB13226BD8C6}"/>
              </a:ext>
            </a:extLst>
          </p:cNvPr>
          <p:cNvSpPr txBox="1"/>
          <p:nvPr/>
        </p:nvSpPr>
        <p:spPr>
          <a:xfrm>
            <a:off x="9393158" y="2934329"/>
            <a:ext cx="972000" cy="396000"/>
          </a:xfrm>
          <a:prstGeom prst="roundRect">
            <a:avLst>
              <a:gd name="adj" fmla="val 946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wrap="square" rtlCol="0" anchor="ctr" anchorCtr="1">
            <a:spAutoFit/>
          </a:bodyPr>
          <a:lstStyle>
            <a:defPPr>
              <a:defRPr lang="zh-CN"/>
            </a:defPPr>
            <a:lvl1pPr marR="0" lvl="0" indent="0" fontAlgn="auto">
              <a:spcBef>
                <a:spcPts val="0"/>
              </a:spcBef>
              <a:spcAft>
                <a:spcPts val="400"/>
              </a:spcAft>
              <a:buClr>
                <a:srgbClr val="4472C4"/>
              </a:buClr>
              <a:buSzTx/>
              <a:buFontTx/>
              <a:buNone/>
              <a:defRPr kumimoji="0" sz="1100" b="1" i="0" u="none" strike="noStrike" kern="0" cap="none" spc="0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系统集成测试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705DF277-632C-5E75-73A6-F723ABB62BDD}"/>
              </a:ext>
            </a:extLst>
          </p:cNvPr>
          <p:cNvSpPr txBox="1"/>
          <p:nvPr/>
        </p:nvSpPr>
        <p:spPr>
          <a:xfrm>
            <a:off x="9393158" y="2418145"/>
            <a:ext cx="972000" cy="396000"/>
          </a:xfrm>
          <a:prstGeom prst="roundRect">
            <a:avLst>
              <a:gd name="adj" fmla="val 946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wrap="square" rtlCol="0" anchor="ctr" anchorCtr="1">
            <a:spAutoFit/>
          </a:bodyPr>
          <a:lstStyle>
            <a:defPPr>
              <a:defRPr lang="zh-CN"/>
            </a:defPPr>
            <a:lvl1pPr marR="0" lvl="0" indent="0" fontAlgn="auto">
              <a:spcBef>
                <a:spcPts val="0"/>
              </a:spcBef>
              <a:spcAft>
                <a:spcPts val="400"/>
              </a:spcAft>
              <a:buClr>
                <a:srgbClr val="4472C4"/>
              </a:buClr>
              <a:buSzTx/>
              <a:buFontTx/>
              <a:buNone/>
              <a:defRPr kumimoji="0" sz="1100" b="1" i="0" u="none" strike="noStrike" kern="0" cap="none" spc="0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软件合格性测试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634ACED-E64B-FB38-8474-DA56AEE77AAD}"/>
              </a:ext>
            </a:extLst>
          </p:cNvPr>
          <p:cNvSpPr txBox="1"/>
          <p:nvPr/>
        </p:nvSpPr>
        <p:spPr>
          <a:xfrm>
            <a:off x="9393158" y="3966697"/>
            <a:ext cx="972000" cy="396869"/>
          </a:xfrm>
          <a:prstGeom prst="roundRect">
            <a:avLst>
              <a:gd name="adj" fmla="val 946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wrap="square" rtlCol="0" anchor="ctr" anchorCtr="1">
            <a:spAutoFit/>
          </a:bodyPr>
          <a:lstStyle>
            <a:defPPr>
              <a:defRPr lang="zh-CN"/>
            </a:defPPr>
            <a:lvl1pPr marR="0" lvl="0" indent="0" fontAlgn="auto">
              <a:spcBef>
                <a:spcPts val="0"/>
              </a:spcBef>
              <a:spcAft>
                <a:spcPts val="400"/>
              </a:spcAft>
              <a:buClr>
                <a:srgbClr val="4472C4"/>
              </a:buClr>
              <a:buSzTx/>
              <a:buFontTx/>
              <a:buNone/>
              <a:defRPr kumimoji="0" sz="1100" b="1" i="0" u="none" strike="noStrike" kern="0" cap="none" spc="0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固定路线</a:t>
            </a: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/</a:t>
            </a: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大里程测试</a:t>
            </a: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/</a:t>
            </a: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泛化测试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BB16F64B-A41B-7DB8-C7D5-49841E079AB5}"/>
              </a:ext>
            </a:extLst>
          </p:cNvPr>
          <p:cNvSpPr txBox="1"/>
          <p:nvPr/>
        </p:nvSpPr>
        <p:spPr>
          <a:xfrm>
            <a:off x="9393158" y="4483752"/>
            <a:ext cx="972000" cy="396000"/>
          </a:xfrm>
          <a:prstGeom prst="roundRect">
            <a:avLst>
              <a:gd name="adj" fmla="val 946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wrap="square" rtlCol="0" anchor="ctr" anchorCtr="1">
            <a:spAutoFit/>
          </a:bodyPr>
          <a:lstStyle>
            <a:defPPr>
              <a:defRPr lang="zh-CN"/>
            </a:defPPr>
            <a:lvl1pPr marR="0" lvl="0" indent="0" fontAlgn="auto">
              <a:spcBef>
                <a:spcPts val="0"/>
              </a:spcBef>
              <a:spcAft>
                <a:spcPts val="400"/>
              </a:spcAft>
              <a:buClr>
                <a:srgbClr val="4472C4"/>
              </a:buClr>
              <a:buSzTx/>
              <a:buFontTx/>
              <a:buNone/>
              <a:defRPr kumimoji="0" sz="1100" b="1" i="0" u="none" strike="noStrike" kern="0" cap="none" spc="0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客户验收测试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5F129715-663A-1312-27E4-FDF4AF0AB638}"/>
              </a:ext>
            </a:extLst>
          </p:cNvPr>
          <p:cNvSpPr txBox="1"/>
          <p:nvPr/>
        </p:nvSpPr>
        <p:spPr>
          <a:xfrm>
            <a:off x="10584193" y="2418145"/>
            <a:ext cx="1080000" cy="396869"/>
          </a:xfrm>
          <a:prstGeom prst="roundRect">
            <a:avLst>
              <a:gd name="adj" fmla="val 946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wrap="square" rtlCol="0" anchor="ctr" anchorCtr="1">
            <a:spAutoFit/>
          </a:bodyPr>
          <a:lstStyle>
            <a:defPPr>
              <a:defRPr lang="zh-CN"/>
            </a:defPPr>
            <a:lvl1pPr marR="0" lvl="0" indent="0" fontAlgn="auto">
              <a:spcBef>
                <a:spcPts val="0"/>
              </a:spcBef>
              <a:spcAft>
                <a:spcPts val="400"/>
              </a:spcAft>
              <a:buClr>
                <a:srgbClr val="4472C4"/>
              </a:buClr>
              <a:buSzTx/>
              <a:buFontTx/>
              <a:buNone/>
              <a:defRPr kumimoji="0" sz="1100" b="1" i="0" u="none" strike="noStrike" kern="0" cap="none" spc="0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SOP/OTA/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集成迭代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3" name="矩形: 圆角 55">
            <a:extLst>
              <a:ext uri="{FF2B5EF4-FFF2-40B4-BE49-F238E27FC236}">
                <a16:creationId xmlns:a16="http://schemas.microsoft.com/office/drawing/2014/main" id="{AF94E3AE-769B-4D29-38CB-ECE8D482D1C7}"/>
              </a:ext>
            </a:extLst>
          </p:cNvPr>
          <p:cNvSpPr/>
          <p:nvPr/>
        </p:nvSpPr>
        <p:spPr>
          <a:xfrm>
            <a:off x="9339158" y="2133878"/>
            <a:ext cx="1080001" cy="2892073"/>
          </a:xfrm>
          <a:prstGeom prst="roundRect">
            <a:avLst>
              <a:gd name="adj" fmla="val 1584"/>
            </a:avLst>
          </a:prstGeom>
          <a:noFill/>
          <a:ln w="635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By Version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000" kern="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F2F8616A-757C-8706-31F9-4FE9AC766382}"/>
              </a:ext>
            </a:extLst>
          </p:cNvPr>
          <p:cNvCxnSpPr>
            <a:cxnSpLocks/>
          </p:cNvCxnSpPr>
          <p:nvPr/>
        </p:nvCxnSpPr>
        <p:spPr>
          <a:xfrm>
            <a:off x="873955" y="2813711"/>
            <a:ext cx="108092" cy="434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652B5D8C-3D78-5930-2454-229078855EC4}"/>
              </a:ext>
            </a:extLst>
          </p:cNvPr>
          <p:cNvCxnSpPr>
            <a:stCxn id="19" idx="2"/>
            <a:endCxn id="20" idx="0"/>
          </p:cNvCxnSpPr>
          <p:nvPr/>
        </p:nvCxnSpPr>
        <p:spPr>
          <a:xfrm>
            <a:off x="1522047" y="2814145"/>
            <a:ext cx="0" cy="636369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2806BE09-D877-A306-1525-C0D0DBE8AE6A}"/>
              </a:ext>
            </a:extLst>
          </p:cNvPr>
          <p:cNvCxnSpPr>
            <a:stCxn id="20" idx="2"/>
            <a:endCxn id="21" idx="0"/>
          </p:cNvCxnSpPr>
          <p:nvPr/>
        </p:nvCxnSpPr>
        <p:spPr>
          <a:xfrm>
            <a:off x="1522047" y="3846514"/>
            <a:ext cx="0" cy="636369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7" name="连接符: 肘形 56">
            <a:extLst>
              <a:ext uri="{FF2B5EF4-FFF2-40B4-BE49-F238E27FC236}">
                <a16:creationId xmlns:a16="http://schemas.microsoft.com/office/drawing/2014/main" id="{81F2BACA-E661-13B1-CE80-028410A8CE4A}"/>
              </a:ext>
            </a:extLst>
          </p:cNvPr>
          <p:cNvCxnSpPr>
            <a:stCxn id="21" idx="3"/>
            <a:endCxn id="22" idx="0"/>
          </p:cNvCxnSpPr>
          <p:nvPr/>
        </p:nvCxnSpPr>
        <p:spPr>
          <a:xfrm flipV="1">
            <a:off x="2062047" y="2418145"/>
            <a:ext cx="700358" cy="2262738"/>
          </a:xfrm>
          <a:prstGeom prst="bentConnector4">
            <a:avLst>
              <a:gd name="adj1" fmla="val 11448"/>
              <a:gd name="adj2" fmla="val 110103"/>
            </a:avLst>
          </a:prstGeom>
          <a:noFill/>
          <a:ln w="63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D183F5C5-11D1-7188-B0D5-6B4AA00FF569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>
            <a:off x="2762405" y="2814145"/>
            <a:ext cx="0" cy="636369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E6D278A7-686F-B6A1-4357-0C7B4C29451F}"/>
              </a:ext>
            </a:extLst>
          </p:cNvPr>
          <p:cNvCxnSpPr>
            <a:stCxn id="23" idx="2"/>
            <a:endCxn id="24" idx="0"/>
          </p:cNvCxnSpPr>
          <p:nvPr/>
        </p:nvCxnSpPr>
        <p:spPr>
          <a:xfrm>
            <a:off x="2762405" y="3846514"/>
            <a:ext cx="0" cy="636369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0" name="连接符: 肘形 59">
            <a:extLst>
              <a:ext uri="{FF2B5EF4-FFF2-40B4-BE49-F238E27FC236}">
                <a16:creationId xmlns:a16="http://schemas.microsoft.com/office/drawing/2014/main" id="{FAF9928C-237E-D86F-5E53-BC0560E218BF}"/>
              </a:ext>
            </a:extLst>
          </p:cNvPr>
          <p:cNvCxnSpPr>
            <a:stCxn id="24" idx="2"/>
            <a:endCxn id="25" idx="0"/>
          </p:cNvCxnSpPr>
          <p:nvPr/>
        </p:nvCxnSpPr>
        <p:spPr>
          <a:xfrm rot="5400000" flipH="1" flipV="1">
            <a:off x="2152215" y="3028335"/>
            <a:ext cx="2460738" cy="1240358"/>
          </a:xfrm>
          <a:prstGeom prst="bentConnector5">
            <a:avLst>
              <a:gd name="adj1" fmla="val -9290"/>
              <a:gd name="adj2" fmla="val 50000"/>
              <a:gd name="adj3" fmla="val 109290"/>
            </a:avLst>
          </a:prstGeom>
          <a:noFill/>
          <a:ln w="63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51997963-8360-DEE1-4D01-B5DEC82552BE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>
          <a:xfrm>
            <a:off x="4002763" y="2814145"/>
            <a:ext cx="0" cy="636369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421EF82B-0CEE-5675-70CC-0FDD308F9BBB}"/>
              </a:ext>
            </a:extLst>
          </p:cNvPr>
          <p:cNvCxnSpPr>
            <a:stCxn id="26" idx="2"/>
            <a:endCxn id="27" idx="0"/>
          </p:cNvCxnSpPr>
          <p:nvPr/>
        </p:nvCxnSpPr>
        <p:spPr>
          <a:xfrm>
            <a:off x="4002763" y="3846514"/>
            <a:ext cx="0" cy="636369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3" name="连接符: 肘形 62">
            <a:extLst>
              <a:ext uri="{FF2B5EF4-FFF2-40B4-BE49-F238E27FC236}">
                <a16:creationId xmlns:a16="http://schemas.microsoft.com/office/drawing/2014/main" id="{1AEE1B90-1C89-6876-92B2-61DDE406DE2F}"/>
              </a:ext>
            </a:extLst>
          </p:cNvPr>
          <p:cNvCxnSpPr>
            <a:cxnSpLocks/>
            <a:stCxn id="27" idx="2"/>
            <a:endCxn id="7" idx="1"/>
          </p:cNvCxnSpPr>
          <p:nvPr/>
        </p:nvCxnSpPr>
        <p:spPr>
          <a:xfrm rot="5400000" flipH="1" flipV="1">
            <a:off x="3701303" y="3877066"/>
            <a:ext cx="1303277" cy="700358"/>
          </a:xfrm>
          <a:prstGeom prst="bentConnector4">
            <a:avLst>
              <a:gd name="adj1" fmla="val -17540"/>
              <a:gd name="adj2" fmla="val 88552"/>
            </a:avLst>
          </a:prstGeom>
          <a:noFill/>
          <a:ln w="63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FA51358B-F9C5-A613-295A-5001CC3B6F68}"/>
              </a:ext>
            </a:extLst>
          </p:cNvPr>
          <p:cNvCxnSpPr>
            <a:cxnSpLocks/>
          </p:cNvCxnSpPr>
          <p:nvPr/>
        </p:nvCxnSpPr>
        <p:spPr>
          <a:xfrm>
            <a:off x="5711121" y="2716993"/>
            <a:ext cx="144000" cy="0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5" name="矩形 64">
            <a:extLst>
              <a:ext uri="{FF2B5EF4-FFF2-40B4-BE49-F238E27FC236}">
                <a16:creationId xmlns:a16="http://schemas.microsoft.com/office/drawing/2014/main" id="{FD97FAD2-7144-682B-859E-208CD01BE81D}"/>
              </a:ext>
            </a:extLst>
          </p:cNvPr>
          <p:cNvSpPr/>
          <p:nvPr/>
        </p:nvSpPr>
        <p:spPr>
          <a:xfrm>
            <a:off x="4626921" y="5691434"/>
            <a:ext cx="2160000" cy="25995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Issue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库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3EDAF5F0-96CF-4FCB-B5AF-CF3455A6982D}"/>
              </a:ext>
            </a:extLst>
          </p:cNvPr>
          <p:cNvSpPr txBox="1"/>
          <p:nvPr/>
        </p:nvSpPr>
        <p:spPr>
          <a:xfrm>
            <a:off x="2222405" y="5656496"/>
            <a:ext cx="1080000" cy="310644"/>
          </a:xfrm>
          <a:prstGeom prst="roundRect">
            <a:avLst>
              <a:gd name="adj" fmla="val 946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wrap="square" rtlCol="0" anchor="ctr" anchorCtr="1">
            <a:spAutoFit/>
          </a:bodyPr>
          <a:lstStyle>
            <a:defPPr>
              <a:defRPr lang="zh-CN"/>
            </a:defPPr>
            <a:lvl1pPr marR="0" lvl="0" indent="0" fontAlgn="auto">
              <a:spcBef>
                <a:spcPts val="0"/>
              </a:spcBef>
              <a:spcAft>
                <a:spcPts val="400"/>
              </a:spcAft>
              <a:buClr>
                <a:srgbClr val="4472C4"/>
              </a:buClr>
              <a:buSzTx/>
              <a:buFontTx/>
              <a:buNone/>
              <a:defRPr kumimoji="0" sz="1100" b="1" i="0" u="none" strike="noStrike" kern="0" cap="none" spc="0" normalizeH="0" baseline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Triage</a:t>
            </a:r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4F84B11A-14A3-63B5-05C4-92FCD150A114}"/>
              </a:ext>
            </a:extLst>
          </p:cNvPr>
          <p:cNvCxnSpPr>
            <a:cxnSpLocks/>
          </p:cNvCxnSpPr>
          <p:nvPr/>
        </p:nvCxnSpPr>
        <p:spPr>
          <a:xfrm>
            <a:off x="6869319" y="2716993"/>
            <a:ext cx="144000" cy="0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482579E2-6F76-4913-8863-56FAA47060E3}"/>
              </a:ext>
            </a:extLst>
          </p:cNvPr>
          <p:cNvCxnSpPr>
            <a:cxnSpLocks/>
          </p:cNvCxnSpPr>
          <p:nvPr/>
        </p:nvCxnSpPr>
        <p:spPr>
          <a:xfrm>
            <a:off x="9213958" y="2716993"/>
            <a:ext cx="144000" cy="0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3A9C20E0-8959-89B4-4D75-CAFE89CA9D32}"/>
              </a:ext>
            </a:extLst>
          </p:cNvPr>
          <p:cNvCxnSpPr>
            <a:cxnSpLocks/>
            <a:endCxn id="52" idx="1"/>
          </p:cNvCxnSpPr>
          <p:nvPr/>
        </p:nvCxnSpPr>
        <p:spPr>
          <a:xfrm>
            <a:off x="10419159" y="2616580"/>
            <a:ext cx="165034" cy="0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0" name="连接符: 肘形 69">
            <a:extLst>
              <a:ext uri="{FF2B5EF4-FFF2-40B4-BE49-F238E27FC236}">
                <a16:creationId xmlns:a16="http://schemas.microsoft.com/office/drawing/2014/main" id="{B4305064-BAEF-E99F-1CEE-CEAB7DF54FE2}"/>
              </a:ext>
            </a:extLst>
          </p:cNvPr>
          <p:cNvCxnSpPr>
            <a:stCxn id="52" idx="2"/>
            <a:endCxn id="65" idx="3"/>
          </p:cNvCxnSpPr>
          <p:nvPr/>
        </p:nvCxnSpPr>
        <p:spPr>
          <a:xfrm rot="5400000">
            <a:off x="7452360" y="2149575"/>
            <a:ext cx="3006395" cy="4337272"/>
          </a:xfrm>
          <a:prstGeom prst="bentConnector2">
            <a:avLst/>
          </a:prstGeom>
          <a:noFill/>
          <a:ln w="63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1" name="连接符: 肘形 70">
            <a:extLst>
              <a:ext uri="{FF2B5EF4-FFF2-40B4-BE49-F238E27FC236}">
                <a16:creationId xmlns:a16="http://schemas.microsoft.com/office/drawing/2014/main" id="{00235BE3-5AAA-FA1A-D917-13A2D1A22759}"/>
              </a:ext>
            </a:extLst>
          </p:cNvPr>
          <p:cNvCxnSpPr>
            <a:cxnSpLocks/>
            <a:stCxn id="31" idx="2"/>
            <a:endCxn id="65" idx="0"/>
          </p:cNvCxnSpPr>
          <p:nvPr/>
        </p:nvCxnSpPr>
        <p:spPr>
          <a:xfrm rot="5400000">
            <a:off x="5699691" y="5035453"/>
            <a:ext cx="663211" cy="648750"/>
          </a:xfrm>
          <a:prstGeom prst="bentConnector3">
            <a:avLst/>
          </a:prstGeom>
          <a:noFill/>
          <a:ln w="63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75D9740E-7E61-6700-CC8E-54A173AB57E3}"/>
              </a:ext>
            </a:extLst>
          </p:cNvPr>
          <p:cNvCxnSpPr>
            <a:cxnSpLocks/>
            <a:stCxn id="7" idx="2"/>
            <a:endCxn id="65" idx="0"/>
          </p:cNvCxnSpPr>
          <p:nvPr/>
        </p:nvCxnSpPr>
        <p:spPr>
          <a:xfrm rot="16200000" flipH="1">
            <a:off x="5125414" y="5109927"/>
            <a:ext cx="663214" cy="4998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FA92577A-D080-B7CB-CB19-F5FF1EF024CF}"/>
              </a:ext>
            </a:extLst>
          </p:cNvPr>
          <p:cNvCxnSpPr>
            <a:cxnSpLocks/>
            <a:stCxn id="65" idx="1"/>
            <a:endCxn id="66" idx="3"/>
          </p:cNvCxnSpPr>
          <p:nvPr/>
        </p:nvCxnSpPr>
        <p:spPr>
          <a:xfrm flipH="1" flipV="1">
            <a:off x="3302405" y="5811818"/>
            <a:ext cx="1324516" cy="9591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4" name="连接符: 肘形 73">
            <a:extLst>
              <a:ext uri="{FF2B5EF4-FFF2-40B4-BE49-F238E27FC236}">
                <a16:creationId xmlns:a16="http://schemas.microsoft.com/office/drawing/2014/main" id="{649876B1-485D-7672-B784-532A7AD5AFF3}"/>
              </a:ext>
            </a:extLst>
          </p:cNvPr>
          <p:cNvCxnSpPr>
            <a:cxnSpLocks/>
            <a:stCxn id="66" idx="1"/>
            <a:endCxn id="46" idx="2"/>
          </p:cNvCxnSpPr>
          <p:nvPr/>
        </p:nvCxnSpPr>
        <p:spPr>
          <a:xfrm rot="10800000">
            <a:off x="577823" y="2814146"/>
            <a:ext cx="1644582" cy="2997673"/>
          </a:xfrm>
          <a:prstGeom prst="bentConnector2">
            <a:avLst/>
          </a:prstGeom>
          <a:noFill/>
          <a:ln w="63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5" name="连接符: 肘形 74">
            <a:extLst>
              <a:ext uri="{FF2B5EF4-FFF2-40B4-BE49-F238E27FC236}">
                <a16:creationId xmlns:a16="http://schemas.microsoft.com/office/drawing/2014/main" id="{B2D0FD9F-22C2-8D37-435F-39FE90D17271}"/>
              </a:ext>
            </a:extLst>
          </p:cNvPr>
          <p:cNvCxnSpPr>
            <a:cxnSpLocks/>
            <a:stCxn id="12" idx="1"/>
            <a:endCxn id="46" idx="0"/>
          </p:cNvCxnSpPr>
          <p:nvPr/>
        </p:nvCxnSpPr>
        <p:spPr>
          <a:xfrm rot="10800000" flipV="1">
            <a:off x="577823" y="1872314"/>
            <a:ext cx="404224" cy="544961"/>
          </a:xfrm>
          <a:prstGeom prst="bentConnector2">
            <a:avLst/>
          </a:prstGeom>
          <a:noFill/>
          <a:ln w="63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6" name="连接符: 肘形 75">
            <a:extLst>
              <a:ext uri="{FF2B5EF4-FFF2-40B4-BE49-F238E27FC236}">
                <a16:creationId xmlns:a16="http://schemas.microsoft.com/office/drawing/2014/main" id="{5A6D2220-7CE0-1F6A-7300-FBDCB6BACDF0}"/>
              </a:ext>
            </a:extLst>
          </p:cNvPr>
          <p:cNvCxnSpPr>
            <a:cxnSpLocks/>
            <a:stCxn id="37" idx="2"/>
            <a:endCxn id="65" idx="3"/>
          </p:cNvCxnSpPr>
          <p:nvPr/>
        </p:nvCxnSpPr>
        <p:spPr>
          <a:xfrm rot="5400000">
            <a:off x="7051869" y="4763271"/>
            <a:ext cx="793190" cy="1323086"/>
          </a:xfrm>
          <a:prstGeom prst="bentConnector2">
            <a:avLst/>
          </a:prstGeom>
          <a:noFill/>
          <a:ln w="63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7" name="连接符: 肘形 76">
            <a:extLst>
              <a:ext uri="{FF2B5EF4-FFF2-40B4-BE49-F238E27FC236}">
                <a16:creationId xmlns:a16="http://schemas.microsoft.com/office/drawing/2014/main" id="{FE0D990E-DDFA-0FFA-1F28-E93D4E5DF2F0}"/>
              </a:ext>
            </a:extLst>
          </p:cNvPr>
          <p:cNvCxnSpPr>
            <a:cxnSpLocks/>
            <a:stCxn id="53" idx="2"/>
            <a:endCxn id="65" idx="3"/>
          </p:cNvCxnSpPr>
          <p:nvPr/>
        </p:nvCxnSpPr>
        <p:spPr>
          <a:xfrm rot="5400000">
            <a:off x="7935311" y="3877561"/>
            <a:ext cx="795458" cy="3092238"/>
          </a:xfrm>
          <a:prstGeom prst="bentConnector2">
            <a:avLst/>
          </a:prstGeom>
          <a:noFill/>
          <a:ln w="63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9" name="矩形 78">
            <a:extLst>
              <a:ext uri="{FF2B5EF4-FFF2-40B4-BE49-F238E27FC236}">
                <a16:creationId xmlns:a16="http://schemas.microsoft.com/office/drawing/2014/main" id="{EB44DD2A-F3C7-58E2-6046-5DEEAA5DA733}"/>
              </a:ext>
            </a:extLst>
          </p:cNvPr>
          <p:cNvSpPr/>
          <p:nvPr/>
        </p:nvSpPr>
        <p:spPr>
          <a:xfrm>
            <a:off x="6980893" y="1738423"/>
            <a:ext cx="2258228" cy="25995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软件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集成测试（</a:t>
            </a:r>
            <a:r>
              <a:rPr lang="en-US" altLang="zh-CN" sz="1200" kern="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Weekly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）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80" name="矩形: 圆角 55">
            <a:extLst>
              <a:ext uri="{FF2B5EF4-FFF2-40B4-BE49-F238E27FC236}">
                <a16:creationId xmlns:a16="http://schemas.microsoft.com/office/drawing/2014/main" id="{9DE43A47-CBA0-FAE5-D7A0-6AE56EE2B7C6}"/>
              </a:ext>
            </a:extLst>
          </p:cNvPr>
          <p:cNvSpPr/>
          <p:nvPr/>
        </p:nvSpPr>
        <p:spPr>
          <a:xfrm>
            <a:off x="6930091" y="1487507"/>
            <a:ext cx="2412000" cy="177878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635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Weekly</a:t>
            </a:r>
            <a:r>
              <a:rPr lang="zh-CN" altLang="en-US" sz="1200" kern="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Segoe UI" panose="020B0502040204020203" pitchFamily="34" charset="0"/>
                <a:sym typeface="Arial" panose="020B0604020202020204" pitchFamily="34" charset="0"/>
              </a:rPr>
              <a:t>版本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797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7A0D4-F027-53CF-3114-66BA0C35C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DBFD23A0-A88A-07C8-C16C-F3E54C1EB2E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060757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95" imgH="394" progId="TCLayout.ActiveDocument.1">
                  <p:embed/>
                </p:oleObj>
              </mc:Choice>
              <mc:Fallback>
                <p:oleObj name="think-cell 幻灯片" r:id="rId3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45B72CC-9C75-4D8A-8752-6C93C5AC9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571A7-0608-4CA0-91C4-DD76FEAC2393}" type="datetime1">
              <a:rPr lang="zh-CN" altLang="en-US" smtClean="0"/>
              <a:t>2026/1/30</a:t>
            </a:fld>
            <a:endParaRPr lang="en-US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3A1963B-12BF-4E4D-9157-F547091D5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>
                <a:sym typeface="+mn-ea"/>
              </a:rPr>
              <a:t>Horizon Continental Technology Shanghai Co., Ltd -  Confidential Information Under NDA</a:t>
            </a:r>
            <a:endParaRPr lang="en-US" altLang="en-US" dirty="0">
              <a:sym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F7D910-F77B-E3DB-7BCC-61428A265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13275-6251-4C40-AFE1-85D85DA07171}" type="slidenum">
              <a:rPr lang="en-US" altLang="en-US" smtClean="0"/>
              <a:t>3</a:t>
            </a:fld>
            <a:endParaRPr lang="en-US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397DCD6-C69B-9557-BF1C-5883835A0F1A}"/>
              </a:ext>
            </a:extLst>
          </p:cNvPr>
          <p:cNvSpPr txBox="1"/>
          <p:nvPr/>
        </p:nvSpPr>
        <p:spPr>
          <a:xfrm>
            <a:off x="777240" y="487045"/>
            <a:ext cx="1063752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600" b="0" spc="300">
                <a:solidFill>
                  <a:srgbClr val="001432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测试方法</a:t>
            </a:r>
            <a:r>
              <a:rPr kumimoji="0" lang="en-US" altLang="zh-CN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-</a:t>
            </a:r>
            <a:r>
              <a:rPr kumimoji="0" lang="zh-CN" altLang="en-US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软件台架测试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A458667-1A40-6BF1-0656-0C34323F6937}"/>
              </a:ext>
            </a:extLst>
          </p:cNvPr>
          <p:cNvSpPr/>
          <p:nvPr/>
        </p:nvSpPr>
        <p:spPr>
          <a:xfrm>
            <a:off x="624000" y="1141176"/>
            <a:ext cx="11124000" cy="1295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1600" b="1" dirty="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</a:rPr>
              <a:t>软件台架测试包含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+mn-cs"/>
              </a:rPr>
              <a:t>稳定性、压力、功能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+mn-cs"/>
              </a:rPr>
              <a:t>3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+mn-cs"/>
              </a:rPr>
              <a:t>类测试台架，依托于测试工具链支持，覆盖“需求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+mn-cs"/>
              </a:rPr>
              <a:t>-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+mn-cs"/>
              </a:rPr>
              <a:t>开发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+mn-cs"/>
              </a:rPr>
              <a:t>-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+mn-cs"/>
              </a:rPr>
              <a:t>测试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+mn-cs"/>
              </a:rPr>
              <a:t>-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+mn-cs"/>
              </a:rPr>
              <a:t>验收”全链路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charset="-122"/>
              <a:ea typeface="Microsoft YaHei" panose="020B050302020402020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sz="800" dirty="0">
              <a:solidFill>
                <a:prstClr val="black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marR="0" lvl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CN" sz="1600" dirty="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</a:rPr>
              <a:t>【</a:t>
            </a:r>
            <a:r>
              <a:rPr lang="zh-CN" altLang="en-US" sz="1600" dirty="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</a:rPr>
              <a:t>稳定性测试</a:t>
            </a:r>
            <a:r>
              <a:rPr lang="en-US" altLang="zh-CN" sz="1600" dirty="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</a:rPr>
              <a:t>】</a:t>
            </a:r>
            <a:r>
              <a:rPr lang="zh-CN" altLang="en-US" sz="1600" dirty="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</a:rPr>
              <a:t>验证系统在长时间、正常负载下持续稳定运行的能力，确保各项性能指标符合预期</a:t>
            </a:r>
            <a:endParaRPr lang="en-US" altLang="zh-CN" sz="1600" dirty="0">
              <a:solidFill>
                <a:prstClr val="black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lnSpc>
                <a:spcPts val="2000"/>
              </a:lnSpc>
              <a:defRPr/>
            </a:pPr>
            <a:r>
              <a:rPr lang="en-US" altLang="zh-CN" sz="1600" dirty="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</a:rPr>
              <a:t>【</a:t>
            </a:r>
            <a:r>
              <a:rPr lang="zh-CN" altLang="en-US" sz="1600" dirty="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</a:rPr>
              <a:t>准出标准</a:t>
            </a:r>
            <a:r>
              <a:rPr lang="en-US" altLang="zh-CN" sz="1600" dirty="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</a:rPr>
              <a:t>】5*96h</a:t>
            </a:r>
            <a:r>
              <a:rPr lang="zh-CN" altLang="en-US" sz="1600" dirty="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</a:rPr>
              <a:t>无异常功能，且软件性能满足指标要求</a:t>
            </a:r>
            <a:endParaRPr lang="en-US" altLang="zh-CN" sz="1600" dirty="0">
              <a:solidFill>
                <a:prstClr val="black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lnSpc>
                <a:spcPts val="2000"/>
              </a:lnSpc>
              <a:defRPr/>
            </a:pPr>
            <a:r>
              <a:rPr lang="en-US" altLang="zh-CN" sz="1600" dirty="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</a:rPr>
              <a:t>【</a:t>
            </a:r>
            <a:r>
              <a:rPr lang="zh-CN" altLang="en-US" sz="1600" dirty="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</a:rPr>
              <a:t>测试亮点</a:t>
            </a:r>
            <a:r>
              <a:rPr lang="en-US" altLang="zh-CN" sz="1600" dirty="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</a:rPr>
              <a:t>】</a:t>
            </a:r>
            <a:r>
              <a:rPr lang="zh-CN" altLang="en-US" sz="1600" dirty="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</a:rPr>
              <a:t>可模拟实车场景压力，可支持长时间稳定性压测</a:t>
            </a:r>
          </a:p>
        </p:txBody>
      </p:sp>
      <p:pic>
        <p:nvPicPr>
          <p:cNvPr id="10" name="图片 9" descr="图示&#10;&#10;AI 生成的内容可能不正确。">
            <a:extLst>
              <a:ext uri="{FF2B5EF4-FFF2-40B4-BE49-F238E27FC236}">
                <a16:creationId xmlns:a16="http://schemas.microsoft.com/office/drawing/2014/main" id="{457550FE-3F04-FD7C-575E-8566BFC31F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7530" y="2743213"/>
            <a:ext cx="3152273" cy="3228363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BBEB59E-4C81-0E32-4800-E7387D399052}"/>
              </a:ext>
            </a:extLst>
          </p:cNvPr>
          <p:cNvSpPr txBox="1"/>
          <p:nvPr/>
        </p:nvSpPr>
        <p:spPr>
          <a:xfrm>
            <a:off x="7913666" y="6011502"/>
            <a:ext cx="1800000" cy="3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200" dirty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Noto Sans SC"/>
              </a:rPr>
              <a:t>全链路回灌长稳</a:t>
            </a: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1FA54012-CA30-CC0E-EC0E-9E20932C03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480" y="2909941"/>
            <a:ext cx="5237258" cy="2894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D784EA8-28D5-C1B4-1654-52B7D286DD02}"/>
              </a:ext>
            </a:extLst>
          </p:cNvPr>
          <p:cNvSpPr txBox="1"/>
          <p:nvPr/>
        </p:nvSpPr>
        <p:spPr>
          <a:xfrm>
            <a:off x="2595562" y="6011502"/>
            <a:ext cx="1883095" cy="3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200" dirty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Noto Sans SC"/>
              </a:rPr>
              <a:t>拍屏长稳（行车</a:t>
            </a:r>
            <a:r>
              <a:rPr lang="en-US" altLang="zh-CN" sz="1200" dirty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Noto Sans SC"/>
              </a:rPr>
              <a:t>+</a:t>
            </a:r>
            <a:r>
              <a:rPr lang="zh-CN" altLang="en-US" sz="1200" dirty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Noto Sans SC"/>
              </a:rPr>
              <a:t>泊车）</a:t>
            </a: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1218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253FD-BC58-7EE3-7FAC-6293C125A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12C70453-2D50-99E6-765F-FB2AA94FADC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95" imgH="394" progId="TCLayout.ActiveDocument.1">
                  <p:embed/>
                </p:oleObj>
              </mc:Choice>
              <mc:Fallback>
                <p:oleObj name="think-cell 幻灯片" r:id="rId3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4AFBFB5-B664-5A34-C650-8BAE138D87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8311394-2B8A-D155-278D-D4EA24744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571A7-0608-4CA0-91C4-DD76FEAC2393}" type="datetime1">
              <a:rPr lang="zh-CN" altLang="en-US" smtClean="0"/>
              <a:t>2026/1/30</a:t>
            </a:fld>
            <a:endParaRPr lang="en-US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88E1DD6-38A1-FE3A-409B-0889BE0C3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>
                <a:sym typeface="+mn-ea"/>
              </a:rPr>
              <a:t>Horizon Continental Technology Shanghai Co., Ltd -  Confidential Information Under NDA</a:t>
            </a:r>
            <a:endParaRPr lang="en-US" altLang="en-US" dirty="0">
              <a:sym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83FEA9-B503-87C4-DEFC-5DAC51D3F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13275-6251-4C40-AFE1-85D85DA07171}" type="slidenum">
              <a:rPr lang="en-US" altLang="en-US" smtClean="0"/>
              <a:t>4</a:t>
            </a:fld>
            <a:endParaRPr lang="en-US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83C0678-5F29-FE40-5F7C-759E51A522CD}"/>
              </a:ext>
            </a:extLst>
          </p:cNvPr>
          <p:cNvSpPr txBox="1"/>
          <p:nvPr/>
        </p:nvSpPr>
        <p:spPr>
          <a:xfrm>
            <a:off x="777240" y="487045"/>
            <a:ext cx="1063752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600" b="0" spc="300">
                <a:solidFill>
                  <a:srgbClr val="001432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测试方法</a:t>
            </a:r>
            <a:r>
              <a:rPr kumimoji="0" lang="en-US" altLang="zh-CN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-</a:t>
            </a:r>
            <a:r>
              <a:rPr kumimoji="0" lang="zh-CN" altLang="en-US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软件台架测试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4BE546E-C4B9-7A30-35DE-B2D471E47FD8}"/>
              </a:ext>
            </a:extLst>
          </p:cNvPr>
          <p:cNvSpPr/>
          <p:nvPr/>
        </p:nvSpPr>
        <p:spPr>
          <a:xfrm>
            <a:off x="624000" y="1141176"/>
            <a:ext cx="11124000" cy="846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/>
            </a:pPr>
            <a:r>
              <a:rPr lang="en-US" altLang="zh-CN" sz="1600" dirty="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</a:rPr>
              <a:t>【</a:t>
            </a:r>
            <a:r>
              <a:rPr lang="zh-CN" altLang="en-US" sz="1600" dirty="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</a:rPr>
              <a:t>功能测试</a:t>
            </a:r>
            <a:r>
              <a:rPr lang="en-US" altLang="zh-CN" sz="1600" dirty="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</a:rPr>
              <a:t>】</a:t>
            </a:r>
            <a:r>
              <a:rPr lang="zh-CN" altLang="en-US" sz="1600" dirty="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</a:rPr>
              <a:t>在台加上通过回放传感器输入</a:t>
            </a:r>
            <a:r>
              <a:rPr lang="en-US" altLang="zh-CN" sz="1600" dirty="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</a:rPr>
              <a:t>+</a:t>
            </a:r>
            <a:r>
              <a:rPr lang="zh-CN" altLang="en-US" sz="1600" dirty="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</a:rPr>
              <a:t>真实</a:t>
            </a:r>
            <a:r>
              <a:rPr lang="en-US" altLang="zh-CN" sz="1600" dirty="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</a:rPr>
              <a:t>/</a:t>
            </a:r>
            <a:r>
              <a:rPr lang="zh-CN" altLang="en-US" sz="1600" dirty="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</a:rPr>
              <a:t>仿真场景回灌等测试手段，覆盖软件功能需求，验证功能逻辑有效性</a:t>
            </a:r>
            <a:endParaRPr lang="en-US" altLang="zh-CN" sz="1600" dirty="0">
              <a:solidFill>
                <a:prstClr val="black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lnSpc>
                <a:spcPts val="2000"/>
              </a:lnSpc>
              <a:defRPr/>
            </a:pPr>
            <a:r>
              <a:rPr lang="en-US" altLang="zh-CN" sz="1600" dirty="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</a:rPr>
              <a:t>【</a:t>
            </a:r>
            <a:r>
              <a:rPr lang="zh-CN" altLang="en-US" sz="1600" dirty="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</a:rPr>
              <a:t>准出标准</a:t>
            </a:r>
            <a:r>
              <a:rPr lang="en-US" altLang="zh-CN" sz="1600" dirty="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</a:rPr>
              <a:t>】CT</a:t>
            </a:r>
            <a:r>
              <a:rPr lang="zh-CN" altLang="en-US" sz="1600" dirty="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</a:rPr>
              <a:t>任务正常执行，软件功能满足需求，系统负载运行稳定</a:t>
            </a:r>
          </a:p>
          <a:p>
            <a:pPr marR="0" lvl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+mn-cs"/>
              </a:rPr>
              <a:t>【</a:t>
            </a:r>
            <a:r>
              <a:rPr lang="zh-CN" altLang="en-US" sz="1600" dirty="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</a:rPr>
              <a:t>测试亮点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+mn-cs"/>
              </a:rPr>
              <a:t>】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+mn-cs"/>
              </a:rPr>
              <a:t>通过建设流水线一键触发，所有测试环境同步执行测试任务，小时级结果反馈</a:t>
            </a:r>
          </a:p>
        </p:txBody>
      </p:sp>
      <p:pic>
        <p:nvPicPr>
          <p:cNvPr id="12" name="Picture 5">
            <a:extLst>
              <a:ext uri="{FF2B5EF4-FFF2-40B4-BE49-F238E27FC236}">
                <a16:creationId xmlns:a16="http://schemas.microsoft.com/office/drawing/2014/main" id="{57277840-6EC6-09C9-BE5C-FF286ED50B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7680" y="2554647"/>
            <a:ext cx="3592105" cy="2694078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F2444AAD-2ACE-4FBE-A103-8698CF942232}"/>
              </a:ext>
            </a:extLst>
          </p:cNvPr>
          <p:cNvSpPr txBox="1"/>
          <p:nvPr/>
        </p:nvSpPr>
        <p:spPr>
          <a:xfrm>
            <a:off x="1361522" y="5475465"/>
            <a:ext cx="5400000" cy="3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200" dirty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覆盖范围：</a:t>
            </a:r>
            <a:r>
              <a:rPr lang="en-US" altLang="zh-CN" sz="1200" i="0" u="none" strike="noStrike" dirty="0" err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支持根据不同测试需求对不同模块覆盖测试</a:t>
            </a: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51F8C0A6-4613-1883-8D77-2A0F3CEADA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863240"/>
              </p:ext>
            </p:extLst>
          </p:nvPr>
        </p:nvGraphicFramePr>
        <p:xfrm>
          <a:off x="826021" y="2974586"/>
          <a:ext cx="6471003" cy="1854200"/>
        </p:xfrm>
        <a:graphic>
          <a:graphicData uri="http://schemas.openxmlformats.org/drawingml/2006/table">
            <a:tbl>
              <a:tblPr firstRow="1" bandRow="1"/>
              <a:tblGrid>
                <a:gridCol w="2026550">
                  <a:extLst>
                    <a:ext uri="{9D8B030D-6E8A-4147-A177-3AD203B41FA5}">
                      <a16:colId xmlns:a16="http://schemas.microsoft.com/office/drawing/2014/main" val="853310309"/>
                    </a:ext>
                  </a:extLst>
                </a:gridCol>
                <a:gridCol w="4444453">
                  <a:extLst>
                    <a:ext uri="{9D8B030D-6E8A-4147-A177-3AD203B41FA5}">
                      <a16:colId xmlns:a16="http://schemas.microsoft.com/office/drawing/2014/main" val="2305918534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zh-CN" altLang="en-US" sz="1400" dirty="0"/>
                        <a:t>测试内容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ED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zh-CN" altLang="en-US" sz="1400" dirty="0"/>
                        <a:t>详细模块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169214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zh-CN" altLang="en-US" sz="1400" dirty="0"/>
                        <a:t>基础软件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zh-CN" altLang="en-US" sz="1400" dirty="0"/>
                        <a:t>底软、中间件、</a:t>
                      </a:r>
                      <a:r>
                        <a:rPr lang="en-US" altLang="zh-CN" sz="1400" dirty="0"/>
                        <a:t>OTA</a:t>
                      </a:r>
                      <a:r>
                        <a:rPr lang="zh-CN" altLang="en-US" sz="1400" dirty="0"/>
                        <a:t>、诊断、功能安全、信息安全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4611884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zh-CN" altLang="en-US" sz="1400" dirty="0"/>
                        <a:t>应用软件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zh-CN" altLang="en-US" sz="1400" dirty="0"/>
                        <a:t>版本检查、数据闭环、状态机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5137236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zh-CN" altLang="en-US" sz="1400" dirty="0"/>
                        <a:t>感知</a:t>
                      </a:r>
                      <a:r>
                        <a:rPr lang="en-US" altLang="zh-CN" sz="1400" dirty="0"/>
                        <a:t>/</a:t>
                      </a:r>
                      <a:r>
                        <a:rPr lang="zh-CN" altLang="en-US" sz="1400" dirty="0"/>
                        <a:t>规控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zh-CN" altLang="en-US" sz="1400" dirty="0"/>
                        <a:t>感知功能、建模功能、规控功能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05234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/>
                        <a:t>BaseTech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zh-CN" altLang="en-US" sz="1400" dirty="0"/>
                        <a:t>标定、</a:t>
                      </a:r>
                      <a:r>
                        <a:rPr lang="en-US" altLang="zh-CN" sz="1400" dirty="0"/>
                        <a:t>Vehicle IO/</a:t>
                      </a:r>
                      <a:r>
                        <a:rPr lang="zh-CN" altLang="en-US" sz="1400" dirty="0"/>
                        <a:t>配置字管理、通讯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1831252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DF5D26DA-327A-22B3-D125-475D6E1A0A93}"/>
              </a:ext>
            </a:extLst>
          </p:cNvPr>
          <p:cNvSpPr txBox="1"/>
          <p:nvPr/>
        </p:nvSpPr>
        <p:spPr>
          <a:xfrm>
            <a:off x="9003732" y="5475465"/>
            <a:ext cx="1800000" cy="3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200" dirty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Noto Sans SC"/>
              </a:rPr>
              <a:t>功能测试台架</a:t>
            </a: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90645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EF4CE-2E02-2B2D-C312-BB5D98791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0835AFF-DE39-E710-DA22-2753B4685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571A7-0608-4CA0-91C4-DD76FEAC2393}" type="datetime1">
              <a:rPr lang="zh-CN" altLang="en-US" smtClean="0"/>
              <a:t>2026/1/30</a:t>
            </a:fld>
            <a:endParaRPr lang="en-US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6EB1FAA-901C-187C-CF9E-6596919BA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>
                <a:sym typeface="+mn-ea"/>
              </a:rPr>
              <a:t>Horizon Continental Technology Shanghai Co., Ltd -  Confidential Information Under NDA</a:t>
            </a:r>
            <a:endParaRPr lang="en-US" altLang="en-US" dirty="0">
              <a:sym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680ED4-671D-684C-4AA4-E6AF3E6A4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13275-6251-4C40-AFE1-85D85DA07171}" type="slidenum">
              <a:rPr lang="en-US" altLang="en-US" smtClean="0"/>
              <a:t>5</a:t>
            </a:fld>
            <a:endParaRPr lang="en-US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62A9506-010C-3DCB-2B16-5A39CD3E8E7B}"/>
              </a:ext>
            </a:extLst>
          </p:cNvPr>
          <p:cNvSpPr txBox="1"/>
          <p:nvPr/>
        </p:nvSpPr>
        <p:spPr>
          <a:xfrm>
            <a:off x="777240" y="487045"/>
            <a:ext cx="1063752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600" b="0" spc="300">
                <a:solidFill>
                  <a:srgbClr val="001432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测试方法</a:t>
            </a:r>
            <a:r>
              <a:rPr kumimoji="0" lang="en-US" altLang="zh-CN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-</a:t>
            </a:r>
            <a:r>
              <a:rPr kumimoji="0" lang="zh-CN" altLang="en-US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数据测试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0FC86D-DE0E-38A7-78F1-A8707294A1EB}"/>
              </a:ext>
            </a:extLst>
          </p:cNvPr>
          <p:cNvSpPr/>
          <p:nvPr/>
        </p:nvSpPr>
        <p:spPr>
          <a:xfrm>
            <a:off x="624000" y="1141176"/>
            <a:ext cx="11124000" cy="846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/>
            </a:pPr>
            <a:r>
              <a:rPr lang="en-US" altLang="zh-CN" sz="1600" dirty="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</a:rPr>
              <a:t>【</a:t>
            </a:r>
            <a:r>
              <a:rPr lang="zh-CN" altLang="en-US" sz="1600" dirty="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</a:rPr>
              <a:t>数据测试</a:t>
            </a:r>
            <a:r>
              <a:rPr lang="en-US" altLang="zh-CN" sz="1600" dirty="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</a:rPr>
              <a:t>】</a:t>
            </a:r>
            <a:r>
              <a:rPr lang="zh-CN" altLang="en-US" sz="1600" dirty="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</a:rPr>
              <a:t>基于实车获取的大量数据，依托回灌、</a:t>
            </a:r>
            <a:r>
              <a:rPr lang="en-US" altLang="zh-CN" sz="1600" dirty="0" err="1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</a:rPr>
              <a:t>Logsim</a:t>
            </a:r>
            <a:r>
              <a:rPr lang="zh-CN" altLang="en-US" sz="1600" dirty="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</a:rPr>
              <a:t>等仿真手段，测试数据在新版本下的表现，从而对</a:t>
            </a:r>
            <a:r>
              <a:rPr lang="en-US" altLang="zh-CN" sz="1600" dirty="0" err="1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</a:rPr>
              <a:t>Badcase</a:t>
            </a:r>
            <a:r>
              <a:rPr lang="zh-CN" altLang="en-US" sz="1600" dirty="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</a:rPr>
              <a:t>进行跟进以及对各类场景下整体指标效果进行评估</a:t>
            </a:r>
            <a:endParaRPr lang="en-US" altLang="zh-CN" sz="1600" dirty="0">
              <a:solidFill>
                <a:prstClr val="black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lnSpc>
                <a:spcPts val="2000"/>
              </a:lnSpc>
              <a:defRPr/>
            </a:pPr>
            <a:r>
              <a:rPr lang="en-US" altLang="zh-CN" sz="1600" dirty="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</a:rPr>
              <a:t>【</a:t>
            </a:r>
            <a:r>
              <a:rPr lang="zh-CN" altLang="en-US" sz="1600" dirty="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</a:rPr>
              <a:t>准出标准</a:t>
            </a:r>
            <a:r>
              <a:rPr lang="en-US" altLang="zh-CN" sz="1600" dirty="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</a:rPr>
              <a:t>】</a:t>
            </a:r>
            <a:r>
              <a:rPr lang="zh-CN" altLang="en-US" sz="1600" dirty="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</a:rPr>
              <a:t>基于各模块测试指标评价版本性能是否达到产品目标，版本优化效果及回退风险</a:t>
            </a:r>
            <a:endParaRPr lang="en-US" altLang="zh-CN" sz="1600" dirty="0">
              <a:solidFill>
                <a:prstClr val="black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13" name="图片 12" descr="图示&#10;&#10;AI 生成的内容可能不正确。">
            <a:extLst>
              <a:ext uri="{FF2B5EF4-FFF2-40B4-BE49-F238E27FC236}">
                <a16:creationId xmlns:a16="http://schemas.microsoft.com/office/drawing/2014/main" id="{83D95868-78D6-8F94-D09A-C4598DE1F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75" y="3118072"/>
            <a:ext cx="5806959" cy="200598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F704C39-B369-9615-E4E6-745DC955090C}"/>
              </a:ext>
            </a:extLst>
          </p:cNvPr>
          <p:cNvSpPr txBox="1"/>
          <p:nvPr/>
        </p:nvSpPr>
        <p:spPr>
          <a:xfrm>
            <a:off x="2166194" y="5411228"/>
            <a:ext cx="1800000" cy="3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200" dirty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数据测试流程</a:t>
            </a: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1AF2262F-EC64-5089-EABD-ED4E05603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5954" y="3054456"/>
            <a:ext cx="5519171" cy="2133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0AD563B7-BA54-81BF-029D-C5BEE562D032}"/>
              </a:ext>
            </a:extLst>
          </p:cNvPr>
          <p:cNvSpPr txBox="1"/>
          <p:nvPr/>
        </p:nvSpPr>
        <p:spPr>
          <a:xfrm>
            <a:off x="8185539" y="5411228"/>
            <a:ext cx="1800000" cy="3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200" dirty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数据测试指标</a:t>
            </a: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1327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CD689-70F0-AB4A-165B-470A50D1E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375591A-A920-4AB4-8B86-884D6AF58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571A7-0608-4CA0-91C4-DD76FEAC2393}" type="datetime1">
              <a:rPr lang="zh-CN" altLang="en-US" smtClean="0"/>
              <a:t>2026/1/30</a:t>
            </a:fld>
            <a:endParaRPr lang="en-US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5B31B57-EDC2-21E6-1A1E-DDC580037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>
                <a:sym typeface="+mn-ea"/>
              </a:rPr>
              <a:t>Horizon Continental Technology Shanghai Co., Ltd -  Confidential Information Under NDA</a:t>
            </a:r>
            <a:endParaRPr lang="en-US" altLang="en-US" dirty="0">
              <a:sym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2DB79A-AF69-92D9-A8CB-FAA413BFE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13275-6251-4C40-AFE1-85D85DA07171}" type="slidenum">
              <a:rPr lang="en-US" altLang="en-US" smtClean="0"/>
              <a:t>6</a:t>
            </a:fld>
            <a:endParaRPr lang="en-US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4449491-3EE0-D67A-3A54-B4DCB358CD4A}"/>
              </a:ext>
            </a:extLst>
          </p:cNvPr>
          <p:cNvSpPr txBox="1"/>
          <p:nvPr/>
        </p:nvSpPr>
        <p:spPr>
          <a:xfrm>
            <a:off x="777240" y="487045"/>
            <a:ext cx="1063752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600" b="0" spc="300">
                <a:solidFill>
                  <a:srgbClr val="001432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测试方法</a:t>
            </a:r>
            <a:r>
              <a:rPr kumimoji="0" lang="en-US" altLang="zh-CN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-</a:t>
            </a:r>
            <a:r>
              <a:rPr lang="zh-CN" altLang="en-US" dirty="0">
                <a:solidFill>
                  <a:srgbClr val="131319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实车</a:t>
            </a:r>
            <a:r>
              <a:rPr kumimoji="0" lang="zh-CN" altLang="en-US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测试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E0D6E17-FFEA-E7B8-CFD0-A4E267996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236193"/>
              </p:ext>
            </p:extLst>
          </p:nvPr>
        </p:nvGraphicFramePr>
        <p:xfrm>
          <a:off x="624000" y="2104505"/>
          <a:ext cx="6584874" cy="3534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6227">
                  <a:extLst>
                    <a:ext uri="{9D8B030D-6E8A-4147-A177-3AD203B41FA5}">
                      <a16:colId xmlns:a16="http://schemas.microsoft.com/office/drawing/2014/main" val="283116131"/>
                    </a:ext>
                  </a:extLst>
                </a:gridCol>
                <a:gridCol w="1456661">
                  <a:extLst>
                    <a:ext uri="{9D8B030D-6E8A-4147-A177-3AD203B41FA5}">
                      <a16:colId xmlns:a16="http://schemas.microsoft.com/office/drawing/2014/main" val="468352808"/>
                    </a:ext>
                  </a:extLst>
                </a:gridCol>
                <a:gridCol w="2615600">
                  <a:extLst>
                    <a:ext uri="{9D8B030D-6E8A-4147-A177-3AD203B41FA5}">
                      <a16:colId xmlns:a16="http://schemas.microsoft.com/office/drawing/2014/main" val="3499151066"/>
                    </a:ext>
                  </a:extLst>
                </a:gridCol>
                <a:gridCol w="1416386">
                  <a:extLst>
                    <a:ext uri="{9D8B030D-6E8A-4147-A177-3AD203B41FA5}">
                      <a16:colId xmlns:a16="http://schemas.microsoft.com/office/drawing/2014/main" val="4177991101"/>
                    </a:ext>
                  </a:extLst>
                </a:gridCol>
              </a:tblGrid>
              <a:tr h="322990">
                <a:tc gridSpan="3"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>
                          <a:solidFill>
                            <a:schemeClr val="bg1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场景类型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E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zh-CN" altLang="en-US" sz="1200" dirty="0">
                        <a:solidFill>
                          <a:schemeClr val="bg1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ED5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>
                          <a:solidFill>
                            <a:schemeClr val="bg1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累计里程</a:t>
                      </a:r>
                      <a:r>
                        <a:rPr lang="en-US" altLang="zh-CN" sz="1200" dirty="0">
                          <a:solidFill>
                            <a:schemeClr val="bg1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/</a:t>
                      </a:r>
                      <a:r>
                        <a:rPr lang="zh-CN" altLang="en-US" sz="1200" dirty="0">
                          <a:solidFill>
                            <a:schemeClr val="bg1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数量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049264"/>
                  </a:ext>
                </a:extLst>
              </a:tr>
              <a:tr h="322990">
                <a:tc rowSpan="5"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行车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道路类型</a:t>
                      </a:r>
                      <a:endParaRPr lang="en-US" altLang="zh-CN" sz="1200" dirty="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高速高架</a:t>
                      </a:r>
                      <a:r>
                        <a:rPr lang="en-US" altLang="zh-CN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/</a:t>
                      </a:r>
                      <a:r>
                        <a:rPr lang="zh-CN" altLang="en-US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城快</a:t>
                      </a:r>
                      <a:r>
                        <a:rPr lang="en-US" altLang="zh-CN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/</a:t>
                      </a:r>
                      <a:r>
                        <a:rPr lang="zh-CN" altLang="en-US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城区</a:t>
                      </a:r>
                      <a:r>
                        <a:rPr lang="en-US" altLang="zh-CN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…</a:t>
                      </a:r>
                      <a:endParaRPr lang="zh-CN" altLang="en-US" sz="1200" dirty="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&gt;130</a:t>
                      </a:r>
                      <a:r>
                        <a:rPr lang="zh-CN" altLang="en-US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万</a:t>
                      </a:r>
                      <a:r>
                        <a:rPr lang="en-US" altLang="zh-CN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km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982904"/>
                  </a:ext>
                </a:extLst>
              </a:tr>
              <a:tr h="3744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交通流类型</a:t>
                      </a:r>
                      <a:endParaRPr lang="en-US" altLang="zh-CN" sz="1200" dirty="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严重拥堵</a:t>
                      </a:r>
                      <a:r>
                        <a:rPr lang="en-US" altLang="zh-CN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/</a:t>
                      </a:r>
                      <a:r>
                        <a:rPr lang="zh-CN" altLang="en-US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中度拥堵</a:t>
                      </a:r>
                      <a:r>
                        <a:rPr lang="en-US" altLang="zh-CN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/</a:t>
                      </a:r>
                      <a:r>
                        <a:rPr lang="zh-CN" altLang="en-US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轻度拥堵</a:t>
                      </a:r>
                      <a:r>
                        <a:rPr lang="en-US" altLang="zh-CN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/</a:t>
                      </a:r>
                      <a:r>
                        <a:rPr lang="zh-CN" altLang="en-US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畅通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455699"/>
                  </a:ext>
                </a:extLst>
              </a:tr>
              <a:tr h="32299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天气类型</a:t>
                      </a:r>
                      <a:endParaRPr lang="en-US" altLang="zh-CN" sz="1200" dirty="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晴天</a:t>
                      </a:r>
                      <a:r>
                        <a:rPr lang="en-US" altLang="zh-CN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/</a:t>
                      </a:r>
                      <a:r>
                        <a:rPr lang="zh-CN" altLang="en-US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雾天</a:t>
                      </a:r>
                      <a:r>
                        <a:rPr lang="en-US" altLang="zh-CN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/</a:t>
                      </a:r>
                      <a:r>
                        <a:rPr lang="zh-CN" altLang="en-US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雨天</a:t>
                      </a:r>
                      <a:r>
                        <a:rPr lang="en-US" altLang="zh-CN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/</a:t>
                      </a:r>
                      <a:r>
                        <a:rPr lang="zh-CN" altLang="en-US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雪天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7004332"/>
                  </a:ext>
                </a:extLst>
              </a:tr>
              <a:tr h="32299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时间类型</a:t>
                      </a:r>
                      <a:endParaRPr lang="en-US" altLang="zh-CN" sz="1200" dirty="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zh-CN" altLang="en-US" sz="120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白天</a:t>
                      </a:r>
                      <a:r>
                        <a:rPr lang="en-US" altLang="zh-CN" sz="120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/</a:t>
                      </a:r>
                      <a:r>
                        <a:rPr lang="zh-CN" altLang="en-US" sz="120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夜晚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4915070"/>
                  </a:ext>
                </a:extLst>
              </a:tr>
              <a:tr h="32299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辖区类型</a:t>
                      </a:r>
                      <a:endParaRPr lang="en-US" altLang="zh-CN" sz="1200" dirty="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省份</a:t>
                      </a:r>
                      <a:r>
                        <a:rPr lang="en-US" altLang="zh-CN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/</a:t>
                      </a:r>
                      <a:r>
                        <a:rPr lang="zh-CN" altLang="en-US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城市</a:t>
                      </a:r>
                      <a:r>
                        <a:rPr lang="en-US" altLang="zh-CN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/</a:t>
                      </a:r>
                      <a:r>
                        <a:rPr lang="zh-CN" altLang="en-US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区县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7336526"/>
                  </a:ext>
                </a:extLst>
              </a:tr>
              <a:tr h="322990">
                <a:tc rowSpan="2"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泊车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车位类型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垂直</a:t>
                      </a:r>
                      <a:r>
                        <a:rPr lang="en-US" altLang="zh-CN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/</a:t>
                      </a:r>
                      <a:r>
                        <a:rPr lang="zh-CN" altLang="en-US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水平</a:t>
                      </a:r>
                      <a:r>
                        <a:rPr lang="en-US" altLang="zh-CN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/</a:t>
                      </a:r>
                      <a:r>
                        <a:rPr lang="zh-CN" altLang="en-US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斜列</a:t>
                      </a:r>
                      <a:r>
                        <a:rPr lang="en-US" altLang="zh-CN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/</a:t>
                      </a:r>
                      <a:r>
                        <a:rPr lang="zh-CN" altLang="en-US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画线</a:t>
                      </a:r>
                      <a:r>
                        <a:rPr lang="en-US" altLang="zh-CN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/</a:t>
                      </a:r>
                      <a:r>
                        <a:rPr lang="zh-CN" altLang="en-US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弧形</a:t>
                      </a:r>
                      <a:r>
                        <a:rPr lang="en-US" altLang="zh-CN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&gt;5</a:t>
                      </a:r>
                      <a:r>
                        <a:rPr lang="zh-CN" altLang="en-US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万个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395705"/>
                  </a:ext>
                </a:extLst>
              </a:tr>
              <a:tr h="32299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地面材质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水泥</a:t>
                      </a:r>
                      <a:r>
                        <a:rPr lang="en-US" altLang="zh-CN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/</a:t>
                      </a:r>
                      <a:r>
                        <a:rPr lang="zh-CN" altLang="en-US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地砖</a:t>
                      </a:r>
                      <a:r>
                        <a:rPr lang="en-US" altLang="zh-CN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/</a:t>
                      </a:r>
                      <a:r>
                        <a:rPr lang="zh-CN" altLang="en-US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草砖</a:t>
                      </a:r>
                      <a:r>
                        <a:rPr lang="en-US" altLang="zh-CN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/</a:t>
                      </a:r>
                      <a:r>
                        <a:rPr lang="zh-CN" altLang="en-US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碎石</a:t>
                      </a:r>
                      <a:r>
                        <a:rPr lang="en-US" altLang="zh-CN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…</a:t>
                      </a:r>
                      <a:endParaRPr lang="zh-CN" altLang="en-US" sz="1200" dirty="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6126708"/>
                  </a:ext>
                </a:extLst>
              </a:tr>
              <a:tr h="524268">
                <a:tc rowSpan="2"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主动安全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法规类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CNCAP</a:t>
                      </a:r>
                      <a:r>
                        <a:rPr lang="zh-CN" altLang="en-US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、</a:t>
                      </a:r>
                      <a:r>
                        <a:rPr lang="en-US" altLang="zh-CN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ENCAP</a:t>
                      </a:r>
                      <a:r>
                        <a:rPr lang="zh-CN" altLang="en-US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、</a:t>
                      </a:r>
                      <a:r>
                        <a:rPr lang="en-US" altLang="zh-CN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CICA</a:t>
                      </a:r>
                      <a:r>
                        <a:rPr lang="zh-CN" altLang="en-US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、</a:t>
                      </a:r>
                      <a:r>
                        <a:rPr lang="en-US" altLang="zh-CN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CIASI</a:t>
                      </a:r>
                      <a:r>
                        <a:rPr lang="zh-CN" altLang="en-US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、组合驾驶辅助</a:t>
                      </a:r>
                      <a:r>
                        <a:rPr lang="en-US" altLang="zh-CN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-</a:t>
                      </a:r>
                      <a:endParaRPr lang="zh-CN" altLang="en-US" sz="1200" dirty="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0164352"/>
                  </a:ext>
                </a:extLst>
              </a:tr>
              <a:tr h="3744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功能指标类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AEB</a:t>
                      </a:r>
                      <a:r>
                        <a:rPr lang="zh-CN" altLang="en-US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大里程数据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&gt; 100</a:t>
                      </a:r>
                      <a:r>
                        <a:rPr lang="zh-CN" altLang="en-US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万</a:t>
                      </a:r>
                      <a:r>
                        <a:rPr lang="en-US" altLang="zh-CN" sz="1200" dirty="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km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9797152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AE5FB60C-EA49-6637-B433-E61117368D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5721116"/>
              </p:ext>
            </p:extLst>
          </p:nvPr>
        </p:nvGraphicFramePr>
        <p:xfrm>
          <a:off x="7833838" y="2104506"/>
          <a:ext cx="3708400" cy="3534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9596">
                  <a:extLst>
                    <a:ext uri="{9D8B030D-6E8A-4147-A177-3AD203B41FA5}">
                      <a16:colId xmlns:a16="http://schemas.microsoft.com/office/drawing/2014/main" val="468352808"/>
                    </a:ext>
                  </a:extLst>
                </a:gridCol>
                <a:gridCol w="1488804">
                  <a:extLst>
                    <a:ext uri="{9D8B030D-6E8A-4147-A177-3AD203B41FA5}">
                      <a16:colId xmlns:a16="http://schemas.microsoft.com/office/drawing/2014/main" val="3499151066"/>
                    </a:ext>
                  </a:extLst>
                </a:gridCol>
              </a:tblGrid>
              <a:tr h="30898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bg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准出指标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E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bg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准出标准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049264"/>
                  </a:ext>
                </a:extLst>
              </a:tr>
              <a:tr h="4206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需求验收通过率</a:t>
                      </a:r>
                      <a:endParaRPr lang="en-US" altLang="zh-CN" sz="120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100%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982904"/>
                  </a:ext>
                </a:extLst>
              </a:tr>
              <a:tr h="4206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Bug DI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值</a:t>
                      </a:r>
                      <a:endParaRPr lang="en-US" altLang="zh-CN" sz="120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30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455699"/>
                  </a:ext>
                </a:extLst>
              </a:tr>
              <a:tr h="4206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Block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级别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Bug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遗留数</a:t>
                      </a:r>
                      <a:endParaRPr lang="en-US" altLang="zh-CN" sz="120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7004332"/>
                  </a:ext>
                </a:extLst>
              </a:tr>
              <a:tr h="4206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测试执行率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通过率</a:t>
                      </a:r>
                      <a:endParaRPr lang="en-US" altLang="zh-CN" sz="120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100%/95%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4915070"/>
                  </a:ext>
                </a:extLst>
              </a:tr>
              <a:tr h="4206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感知</a:t>
                      </a:r>
                      <a:r>
                        <a:rPr lang="en-US" altLang="zh-CN" sz="1200" dirty="0" err="1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Badcase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Block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遗留数</a:t>
                      </a:r>
                      <a:endParaRPr lang="en-US" altLang="zh-CN" sz="120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7336526"/>
                  </a:ext>
                </a:extLst>
              </a:tr>
              <a:tr h="4206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实车验证里程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根据客户需求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395705"/>
                  </a:ext>
                </a:extLst>
              </a:tr>
              <a:tr h="701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数据集通过率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历史数据集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&gt;60%</a:t>
                      </a:r>
                    </a:p>
                    <a:p>
                      <a:pPr algn="ctr"/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新增数据集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&gt;20%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6126708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393F3243-FEA1-517E-4A6A-F077292D9620}"/>
              </a:ext>
            </a:extLst>
          </p:cNvPr>
          <p:cNvSpPr/>
          <p:nvPr/>
        </p:nvSpPr>
        <p:spPr>
          <a:xfrm>
            <a:off x="624000" y="1141176"/>
            <a:ext cx="11124000" cy="333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/>
            </a:pPr>
            <a:r>
              <a:rPr lang="en-US" altLang="zh-CN" sz="1600" dirty="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</a:rPr>
              <a:t>【</a:t>
            </a:r>
            <a:r>
              <a:rPr lang="zh-CN" altLang="en-US" sz="1600" dirty="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</a:rPr>
              <a:t>实车测试</a:t>
            </a:r>
            <a:r>
              <a:rPr lang="en-US" altLang="zh-CN" sz="1600" dirty="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</a:rPr>
              <a:t>】</a:t>
            </a:r>
            <a:r>
              <a:rPr lang="zh-CN" altLang="en-US" sz="1600" dirty="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</a:rPr>
              <a:t>包含封闭场地测试和公开道路测试，测试内容涵盖功能、性能、法规和对标测试等多个方面</a:t>
            </a:r>
            <a:endParaRPr lang="en-US" altLang="zh-CN" sz="1600" dirty="0">
              <a:solidFill>
                <a:prstClr val="black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0797587-7ED2-EA8E-A845-A283109C8D25}"/>
              </a:ext>
            </a:extLst>
          </p:cNvPr>
          <p:cNvSpPr txBox="1"/>
          <p:nvPr/>
        </p:nvSpPr>
        <p:spPr>
          <a:xfrm>
            <a:off x="1475158" y="5755990"/>
            <a:ext cx="5400000" cy="3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200" dirty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实车测试已累计数据量</a:t>
            </a: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339FAE8-2D05-1878-8C1A-CF19DCB1F0E8}"/>
              </a:ext>
            </a:extLst>
          </p:cNvPr>
          <p:cNvSpPr txBox="1"/>
          <p:nvPr/>
        </p:nvSpPr>
        <p:spPr>
          <a:xfrm>
            <a:off x="8788038" y="5755990"/>
            <a:ext cx="1800000" cy="3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200" dirty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实车测试准出标准</a:t>
            </a: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70535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自定义 12">
      <a:dk1>
        <a:srgbClr val="131319"/>
      </a:dk1>
      <a:lt1>
        <a:srgbClr val="FFFFFF"/>
      </a:lt1>
      <a:dk2>
        <a:srgbClr val="C2C6CF"/>
      </a:dk2>
      <a:lt2>
        <a:srgbClr val="00CCCC"/>
      </a:lt2>
      <a:accent1>
        <a:srgbClr val="00F0DC"/>
      </a:accent1>
      <a:accent2>
        <a:srgbClr val="9CFA78"/>
      </a:accent2>
      <a:accent3>
        <a:srgbClr val="D8FF0D"/>
      </a:accent3>
      <a:accent4>
        <a:srgbClr val="00DED5"/>
      </a:accent4>
      <a:accent5>
        <a:srgbClr val="00CDFF"/>
      </a:accent5>
      <a:accent6>
        <a:srgbClr val="0059FF"/>
      </a:accent6>
      <a:hlink>
        <a:srgbClr val="7823FF"/>
      </a:hlink>
      <a:folHlink>
        <a:srgbClr val="7030A0"/>
      </a:folHlink>
    </a:clrScheme>
    <a:fontScheme name="地平线模板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9827</TotalTime>
  <Words>999</Words>
  <Application>Microsoft Macintosh PowerPoint</Application>
  <PresentationFormat>宽屏</PresentationFormat>
  <Paragraphs>255</Paragraphs>
  <Slides>6</Slides>
  <Notes>2</Notes>
  <HiddenSlides>1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等线</vt:lpstr>
      <vt:lpstr>等线 Light</vt:lpstr>
      <vt:lpstr>Microsoft YaHei</vt:lpstr>
      <vt:lpstr>Microsoft YaHei</vt:lpstr>
      <vt:lpstr>Microsoft YaHei Regular</vt:lpstr>
      <vt:lpstr>PingFang SC Regular</vt:lpstr>
      <vt:lpstr>Arial</vt:lpstr>
      <vt:lpstr>Calibri</vt:lpstr>
      <vt:lpstr>Office 主题​​</vt:lpstr>
      <vt:lpstr>2_Office 主题​​</vt:lpstr>
      <vt:lpstr>think-cell 幻灯片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liqiong Zhao</dc:creator>
  <cp:lastModifiedBy>liqiong Zhao</cp:lastModifiedBy>
  <cp:revision>27</cp:revision>
  <dcterms:created xsi:type="dcterms:W3CDTF">2025-06-24T04:50:26Z</dcterms:created>
  <dcterms:modified xsi:type="dcterms:W3CDTF">2026-01-30T04:38:53Z</dcterms:modified>
</cp:coreProperties>
</file>