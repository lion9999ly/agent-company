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670" r:id="rId3"/>
  </p:sldMasterIdLst>
  <p:notesMasterIdLst>
    <p:notesMasterId r:id="rId11"/>
  </p:notesMasterIdLst>
  <p:sldIdLst>
    <p:sldId id="477" r:id="rId4"/>
    <p:sldId id="478" r:id="rId5"/>
    <p:sldId id="476" r:id="rId6"/>
    <p:sldId id="370" r:id="rId7"/>
    <p:sldId id="475" r:id="rId8"/>
    <p:sldId id="480" r:id="rId9"/>
    <p:sldId id="48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38" autoAdjust="0"/>
  </p:normalViewPr>
  <p:slideViewPr>
    <p:cSldViewPr snapToGrid="0">
      <p:cViewPr>
        <p:scale>
          <a:sx n="60" d="100"/>
          <a:sy n="60" d="100"/>
        </p:scale>
        <p:origin x="90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97913-A8A7-4CF1-811B-D54915DDACE5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15E446-F602-4539-B17E-84A577854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03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4589-E547-BF41-340E-091770B60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006EDF-6909-FB5E-F745-7D0A1A1104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C16D11-F5A3-E151-734B-975DE1E72B9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633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81B50-958D-8B15-88F1-4F7675697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FB16F8-E5F2-D625-3430-E7ED076BD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E73FB9-F773-B0B2-57EA-62CB0EA95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激光雷达能够做到</a:t>
            </a:r>
            <a:r>
              <a:rPr lang="zh-CN" altLang="en-US"/>
              <a:t>的场景暂时</a:t>
            </a:r>
            <a:r>
              <a:rPr lang="zh-CN" altLang="en-US" dirty="0"/>
              <a:t>没有评估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6E658-5EE9-1568-8671-248DB7B2B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15E446-F602-4539-B17E-84A577854BD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258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15E446-F602-4539-B17E-84A577854BD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20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/>
          </a:p>
        </p:txBody>
      </p:sp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1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484620"/>
            <a:ext cx="41148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neueHCT 2024 -  Confidential Information Under NDA</a:t>
            </a:r>
            <a:endParaRPr lang="en-US" altLang="en-US" dirty="0"/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2" name="图片 1" descr="/Users/sunyu/Desktop/240918/241112/资源 4.png资源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022330" y="371475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2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背景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71770"/>
            <a:ext cx="12192000" cy="158623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83331" y="6484620"/>
            <a:ext cx="4625339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3.png资源 3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1022330" y="370840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52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背景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75709" y="6484620"/>
            <a:ext cx="4640582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3.png资源 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022330" y="370840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7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深色背景">
    <p:bg>
      <p:bgPr>
        <a:solidFill>
          <a:srgbClr val="13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75709" y="6484620"/>
            <a:ext cx="4640582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4.png资源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035665" y="365125"/>
            <a:ext cx="948055" cy="1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02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718"/>
          </a:p>
        </p:txBody>
      </p:sp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1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1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484621"/>
            <a:ext cx="41148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neueHCT 2024 -  Confidential Information Under NDA</a:t>
            </a:r>
            <a:endParaRPr lang="en-US" altLang="en-US" dirty="0"/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1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2" name="图片 1" descr="/Users/sunyu/Desktop/240918/241112/资源 4.png资源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022331" y="371476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04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背景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71770"/>
            <a:ext cx="12192000" cy="158623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1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83332" y="6484621"/>
            <a:ext cx="4625339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1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3.png资源 3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1022331" y="370841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0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背景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1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75709" y="6484621"/>
            <a:ext cx="4640582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1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3.png资源 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022331" y="370841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58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深色背景">
    <p:bg>
      <p:bgPr>
        <a:solidFill>
          <a:srgbClr val="13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1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75709" y="6484621"/>
            <a:ext cx="4640582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1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4.png资源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035665" y="365126"/>
            <a:ext cx="948055" cy="1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0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1800"/>
          </a:p>
        </p:txBody>
      </p:sp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1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2" y="6484620"/>
            <a:ext cx="41148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neueHCT 2024 -  Confidential Information Under NDA</a:t>
            </a:r>
            <a:endParaRPr lang="en-US" altLang="en-US" dirty="0"/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2" name="图片 1" descr="/Users/sunyu/Desktop/240918/241112/资源 4.png资源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022332" y="371476"/>
            <a:ext cx="974725" cy="18478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E76A067-03F5-BBED-CA34-4A8DE40453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271770"/>
            <a:ext cx="12192000" cy="1586230"/>
          </a:xfrm>
          <a:prstGeom prst="rect">
            <a:avLst/>
          </a:prstGeom>
        </p:spPr>
      </p:pic>
      <p:sp>
        <p:nvSpPr>
          <p:cNvPr id="9" name="日期占位符 1">
            <a:extLst>
              <a:ext uri="{FF2B5EF4-FFF2-40B4-BE49-F238E27FC236}">
                <a16:creationId xmlns:a16="http://schemas.microsoft.com/office/drawing/2014/main" id="{88BC5692-406B-7435-2DB6-D0AE1A1E99DB}"/>
              </a:ext>
            </a:extLst>
          </p:cNvPr>
          <p:cNvSpPr txBox="1">
            <a:spLocks/>
          </p:cNvSpPr>
          <p:nvPr userDrawn="1"/>
        </p:nvSpPr>
        <p:spPr>
          <a:xfrm>
            <a:off x="769620" y="64846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13131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4571A7-0608-4CA0-91C4-DD76FEAC2393}" type="datetime1">
              <a:rPr lang="zh-CN" altLang="en-US" smtClean="0"/>
              <a:pPr/>
              <a:t>2025/10/27</a:t>
            </a:fld>
            <a:endParaRPr lang="en-US" altLang="en-US" dirty="0"/>
          </a:p>
        </p:txBody>
      </p:sp>
      <p:sp>
        <p:nvSpPr>
          <p:cNvPr id="10" name="页脚占位符 2">
            <a:extLst>
              <a:ext uri="{FF2B5EF4-FFF2-40B4-BE49-F238E27FC236}">
                <a16:creationId xmlns:a16="http://schemas.microsoft.com/office/drawing/2014/main" id="{A97ACF41-7ADB-6E7F-9537-ED71AC2DFED2}"/>
              </a:ext>
            </a:extLst>
          </p:cNvPr>
          <p:cNvSpPr txBox="1">
            <a:spLocks/>
          </p:cNvSpPr>
          <p:nvPr userDrawn="1"/>
        </p:nvSpPr>
        <p:spPr>
          <a:xfrm>
            <a:off x="3783332" y="6484620"/>
            <a:ext cx="4625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13131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ym typeface="+mn-ea"/>
              </a:rPr>
              <a:t>Horizon Continental Technology Shanghai Co., Ltd -  Confidential Information Under NDA</a:t>
            </a:r>
            <a:endParaRPr lang="en-US" altLang="en-US" dirty="0">
              <a:sym typeface="+mn-ea"/>
            </a:endParaRPr>
          </a:p>
        </p:txBody>
      </p:sp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81C207D6-A361-97A2-7844-FE87E87828D1}"/>
              </a:ext>
            </a:extLst>
          </p:cNvPr>
          <p:cNvSpPr txBox="1">
            <a:spLocks/>
          </p:cNvSpPr>
          <p:nvPr userDrawn="1"/>
        </p:nvSpPr>
        <p:spPr>
          <a:xfrm>
            <a:off x="8663940" y="64846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rgbClr val="13131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C13275-6251-4C40-AFE1-85D85DA07171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8387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浅色背景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1770"/>
            <a:ext cx="12192000" cy="158623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83332" y="6484620"/>
            <a:ext cx="4625339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3.png资源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022332" y="370841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7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浅色背景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sunyu/Desktop/240918/241112/资源 3.png资源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022332" y="370841"/>
            <a:ext cx="974725" cy="18478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34966F8-7246-DC54-D101-D59CA220D7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271770"/>
            <a:ext cx="12192000" cy="1586230"/>
          </a:xfrm>
          <a:prstGeom prst="rect">
            <a:avLst/>
          </a:prstGeom>
        </p:spPr>
      </p:pic>
      <p:sp>
        <p:nvSpPr>
          <p:cNvPr id="4" name="日期占位符 1">
            <a:extLst>
              <a:ext uri="{FF2B5EF4-FFF2-40B4-BE49-F238E27FC236}">
                <a16:creationId xmlns:a16="http://schemas.microsoft.com/office/drawing/2014/main" id="{B86B4A9B-25E2-CA76-4E9F-DDC8B635DE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AA6A4A8B-2694-97DF-2A24-79DC0CE4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3332" y="6484620"/>
            <a:ext cx="4625339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FAD545B3-6A87-94F7-2EDC-AAD14F5F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45827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深色背景">
    <p:bg>
      <p:bgPr>
        <a:solidFill>
          <a:srgbClr val="13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75711" y="6484620"/>
            <a:ext cx="4640581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4.png资源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035667" y="365126"/>
            <a:ext cx="948055" cy="1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67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深色背景">
    <p:bg>
      <p:bgPr>
        <a:solidFill>
          <a:srgbClr val="13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75711" y="6484620"/>
            <a:ext cx="4640581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grpSp>
        <p:nvGrpSpPr>
          <p:cNvPr id="4" name="组合 7">
            <a:extLst>
              <a:ext uri="{FF2B5EF4-FFF2-40B4-BE49-F238E27FC236}">
                <a16:creationId xmlns:a16="http://schemas.microsoft.com/office/drawing/2014/main" id="{F4FFB94E-3487-0309-855F-64D4E1BB4F22}"/>
              </a:ext>
            </a:extLst>
          </p:cNvPr>
          <p:cNvGrpSpPr/>
          <p:nvPr userDrawn="1"/>
        </p:nvGrpSpPr>
        <p:grpSpPr>
          <a:xfrm>
            <a:off x="309563" y="241300"/>
            <a:ext cx="541337" cy="452438"/>
            <a:chOff x="1114510" y="784858"/>
            <a:chExt cx="933241" cy="840743"/>
          </a:xfrm>
        </p:grpSpPr>
        <p:sp>
          <p:nvSpPr>
            <p:cNvPr id="5" name="菱形 4">
              <a:extLst>
                <a:ext uri="{FF2B5EF4-FFF2-40B4-BE49-F238E27FC236}">
                  <a16:creationId xmlns:a16="http://schemas.microsoft.com/office/drawing/2014/main" id="{F69C7CCB-FD13-AF7C-DC25-43DF88AB594E}"/>
                </a:ext>
              </a:extLst>
            </p:cNvPr>
            <p:cNvSpPr/>
            <p:nvPr/>
          </p:nvSpPr>
          <p:spPr>
            <a:xfrm rot="5400000">
              <a:off x="1084130" y="815238"/>
              <a:ext cx="840743" cy="779981"/>
            </a:xfrm>
            <a:prstGeom prst="diamond">
              <a:avLst/>
            </a:prstGeom>
            <a:solidFill>
              <a:srgbClr val="333F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菱形 8">
              <a:extLst>
                <a:ext uri="{FF2B5EF4-FFF2-40B4-BE49-F238E27FC236}">
                  <a16:creationId xmlns:a16="http://schemas.microsoft.com/office/drawing/2014/main" id="{588FFE3C-E84F-F423-CA49-97E221F2466D}"/>
                </a:ext>
              </a:extLst>
            </p:cNvPr>
            <p:cNvSpPr/>
            <p:nvPr/>
          </p:nvSpPr>
          <p:spPr>
            <a:xfrm rot="5400000">
              <a:off x="1351125" y="887673"/>
              <a:ext cx="722744" cy="670510"/>
            </a:xfrm>
            <a:prstGeom prst="diamond">
              <a:avLst/>
            </a:prstGeom>
            <a:solidFill>
              <a:srgbClr val="960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" name="标题 1">
            <a:extLst>
              <a:ext uri="{FF2B5EF4-FFF2-40B4-BE49-F238E27FC236}">
                <a16:creationId xmlns:a16="http://schemas.microsoft.com/office/drawing/2014/main" id="{21529BC5-6F12-02DD-1C1A-4A3C858DA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490" y="230679"/>
            <a:ext cx="4242053" cy="51229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zh-CN" altLang="en-US" sz="26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7517CC1-28B0-5742-C044-E7A87B4E63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6052" y="181441"/>
            <a:ext cx="1693985" cy="51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7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ags" Target="../tags/tag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slideLayout" Target="../slideLayouts/slideLayout11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F39C06A-DFE7-482C-D90C-99E7844BF2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22812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473" imgH="473" progId="TCLayout.ActiveDocument.1">
                  <p:embed/>
                </p:oleObj>
              </mc:Choice>
              <mc:Fallback>
                <p:oleObj name="think-cell 幻灯片" r:id="rId7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39C06A-DFE7-482C-D90C-99E7844BF2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F50D6-00DE-438E-96D7-E8522205D1AB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en-US" dirty="0" err="1"/>
              <a:t>neue</a:t>
            </a:r>
            <a:r>
              <a:rPr lang="en-US" altLang="en-US" dirty="0"/>
              <a:t> HCT 2024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702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F39C06A-DFE7-482C-D90C-99E7844BF2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7353575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473" imgH="473" progId="TCLayout.ActiveDocument.1">
                  <p:embed/>
                </p:oleObj>
              </mc:Choice>
              <mc:Fallback>
                <p:oleObj name="think-cell 幻灯片" r:id="rId7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39C06A-DFE7-482C-D90C-99E7844BF2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F50D6-00DE-438E-96D7-E8522205D1AB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en-US" dirty="0" err="1"/>
              <a:t>neue</a:t>
            </a:r>
            <a:r>
              <a:rPr lang="en-US" altLang="en-US" dirty="0"/>
              <a:t> HCT 2024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2666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33FF8AF-38C2-671A-C33E-7EC3F9A3B7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227659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395" imgH="394" progId="TCLayout.ActiveDocument.1">
                  <p:embed/>
                </p:oleObj>
              </mc:Choice>
              <mc:Fallback>
                <p:oleObj name="think-cell 幻灯片" r:id="rId8" imgW="395" imgH="39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3FF8AF-38C2-671A-C33E-7EC3F9A3B7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F50D6-00DE-438E-96D7-E8522205D1AB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en-US" dirty="0" err="1"/>
              <a:t>neue</a:t>
            </a:r>
            <a:r>
              <a:rPr lang="en-US" altLang="en-US" dirty="0"/>
              <a:t> HCT 2024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754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hf hdr="0"/>
  <p:txStyles>
    <p:titleStyle>
      <a:lvl1pPr algn="l" defTabSz="91439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9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7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2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8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2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7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2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7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9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9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E733-DAAC-DD3B-D5A3-19D401A4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F74392-AE6C-1928-9DEB-5F0440EDC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2025/10/27</a:t>
            </a:fld>
            <a:endParaRPr lang="en-US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99B7D5-A257-EDFD-CACC-2AECD674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fld>
            <a:endParaRPr lang="en-US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2F04090-628F-4521-5FA3-9998C5FEF38D}"/>
              </a:ext>
            </a:extLst>
          </p:cNvPr>
          <p:cNvSpPr txBox="1"/>
          <p:nvPr/>
        </p:nvSpPr>
        <p:spPr>
          <a:xfrm>
            <a:off x="777240" y="488315"/>
            <a:ext cx="10637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rgbClr val="13131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主动安全功能列表</a:t>
            </a:r>
            <a:endParaRPr lang="zh-CN" altLang="en-US" dirty="0">
              <a:solidFill>
                <a:srgbClr val="131319"/>
              </a:solidFill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CCCA56-EC45-43FE-83BA-0CC68D383576}"/>
              </a:ext>
            </a:extLst>
          </p:cNvPr>
          <p:cNvSpPr txBox="1">
            <a:spLocks/>
          </p:cNvSpPr>
          <p:nvPr/>
        </p:nvSpPr>
        <p:spPr>
          <a:xfrm>
            <a:off x="3738000" y="6576147"/>
            <a:ext cx="4716000" cy="2375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Horizon Continental Technology Shanghai Co., Ltd -  Confidential Information Under NDA</a:t>
            </a:r>
            <a:endParaRPr lang="zh-Hans-HK" altLang="en-US" sz="8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9DA81FD-6D5B-7D2C-CDD3-866B097B3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140555"/>
              </p:ext>
            </p:extLst>
          </p:nvPr>
        </p:nvGraphicFramePr>
        <p:xfrm>
          <a:off x="467831" y="1250222"/>
          <a:ext cx="11264988" cy="4829942"/>
        </p:xfrm>
        <a:graphic>
          <a:graphicData uri="http://schemas.openxmlformats.org/drawingml/2006/table">
            <a:tbl>
              <a:tblPr firstRow="1" bandRow="1"/>
              <a:tblGrid>
                <a:gridCol w="4436678">
                  <a:extLst>
                    <a:ext uri="{9D8B030D-6E8A-4147-A177-3AD203B41FA5}">
                      <a16:colId xmlns:a16="http://schemas.microsoft.com/office/drawing/2014/main" val="1076187771"/>
                    </a:ext>
                  </a:extLst>
                </a:gridCol>
                <a:gridCol w="1365662">
                  <a:extLst>
                    <a:ext uri="{9D8B030D-6E8A-4147-A177-3AD203B41FA5}">
                      <a16:colId xmlns:a16="http://schemas.microsoft.com/office/drawing/2014/main" val="304069021"/>
                    </a:ext>
                  </a:extLst>
                </a:gridCol>
                <a:gridCol w="1365662">
                  <a:extLst>
                    <a:ext uri="{9D8B030D-6E8A-4147-A177-3AD203B41FA5}">
                      <a16:colId xmlns:a16="http://schemas.microsoft.com/office/drawing/2014/main" val="135736964"/>
                    </a:ext>
                  </a:extLst>
                </a:gridCol>
                <a:gridCol w="1365662">
                  <a:extLst>
                    <a:ext uri="{9D8B030D-6E8A-4147-A177-3AD203B41FA5}">
                      <a16:colId xmlns:a16="http://schemas.microsoft.com/office/drawing/2014/main" val="1325295033"/>
                    </a:ext>
                  </a:extLst>
                </a:gridCol>
                <a:gridCol w="1365662">
                  <a:extLst>
                    <a:ext uri="{9D8B030D-6E8A-4147-A177-3AD203B41FA5}">
                      <a16:colId xmlns:a16="http://schemas.microsoft.com/office/drawing/2014/main" val="2694898490"/>
                    </a:ext>
                  </a:extLst>
                </a:gridCol>
                <a:gridCol w="1365662">
                  <a:extLst>
                    <a:ext uri="{9D8B030D-6E8A-4147-A177-3AD203B41FA5}">
                      <a16:colId xmlns:a16="http://schemas.microsoft.com/office/drawing/2014/main" val="467284376"/>
                    </a:ext>
                  </a:extLst>
                </a:gridCol>
              </a:tblGrid>
              <a:tr h="371534">
                <a:tc rowSpan="2"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Segoe UI" panose="020B0502040204020203" pitchFamily="34" charset="0"/>
                          <a:sym typeface="Arial" panose="020B0604020202020204" pitchFamily="34" charset="0"/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egoe UI" panose="020B0502040204020203" pitchFamily="34" charset="0"/>
                          <a:sym typeface="Arial" panose="020B0604020202020204" pitchFamily="34" charset="0"/>
                        </a:rPr>
                        <a:t>Luna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Segoe UI" panose="020B0502040204020203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Segoe UI" panose="020B0502040204020203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Segoe UI" panose="020B0502040204020203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egoe UI" panose="020B0502040204020203" pitchFamily="34" charset="0"/>
                          <a:sym typeface="Arial" panose="020B0604020202020204" pitchFamily="34" charset="0"/>
                        </a:rPr>
                        <a:t>Astra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165540"/>
                  </a:ext>
                </a:extLst>
              </a:tr>
              <a:tr h="37153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egoe UI" panose="020B0502040204020203" pitchFamily="34" charset="0"/>
                          <a:sym typeface="Arial" panose="020B0604020202020204" pitchFamily="34" charset="0"/>
                        </a:rPr>
                        <a:t>1V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egoe UI" panose="020B0502040204020203" pitchFamily="34" charset="0"/>
                          <a:sym typeface="Arial" panose="020B0604020202020204" pitchFamily="34" charset="0"/>
                        </a:rPr>
                        <a:t>1V2R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Segoe UI" panose="020B0502040204020203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egoe UI" panose="020B0502040204020203" pitchFamily="34" charset="0"/>
                          <a:sym typeface="Arial" panose="020B0604020202020204" pitchFamily="34" charset="0"/>
                        </a:rPr>
                        <a:t>1V5R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Segoe UI" panose="020B0502040204020203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egoe UI" panose="020B0502040204020203" pitchFamily="34" charset="0"/>
                          <a:sym typeface="Arial" panose="020B0604020202020204" pitchFamily="34" charset="0"/>
                        </a:rPr>
                        <a:t>5V5R12USS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egoe UI" panose="020B0502040204020203" pitchFamily="34" charset="0"/>
                          <a:sym typeface="Arial" panose="020B0604020202020204" pitchFamily="34" charset="0"/>
                        </a:rPr>
                        <a:t>11V3R12USS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AEB </a:t>
                      </a:r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自动紧急制动</a:t>
                      </a:r>
                      <a:r>
                        <a:rPr lang="en-US" altLang="zh-CN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/FCW </a:t>
                      </a:r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前方碰撞预警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2329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2329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2329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2329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LDW </a:t>
                      </a:r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车道偏离预警</a:t>
                      </a:r>
                      <a:r>
                        <a:rPr lang="en-US" altLang="zh-CN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/LKA </a:t>
                      </a:r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车道保持辅助</a:t>
                      </a:r>
                      <a:r>
                        <a:rPr lang="en-US" altLang="zh-CN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/ELK </a:t>
                      </a:r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紧急车道保持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2329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2329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2329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2329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03778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+mn-ea"/>
                          <a:ea typeface="+mn-ea"/>
                        </a:rPr>
                        <a:t>TLR </a:t>
                      </a:r>
                      <a:r>
                        <a:rPr lang="zh-CN" altLang="en-US" sz="1200" b="0" dirty="0">
                          <a:latin typeface="+mn-ea"/>
                          <a:ea typeface="+mn-ea"/>
                        </a:rPr>
                        <a:t>交通信号灯识别</a:t>
                      </a:r>
                      <a:endParaRPr lang="en-US" sz="1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855597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latin typeface="+mn-ea"/>
                          <a:ea typeface="+mn-ea"/>
                        </a:rPr>
                        <a:t>SAS </a:t>
                      </a:r>
                      <a:r>
                        <a:rPr lang="zh-CN" altLang="en-US" sz="1200" b="0" dirty="0">
                          <a:latin typeface="+mn-ea"/>
                          <a:ea typeface="+mn-ea"/>
                        </a:rPr>
                        <a:t>车速辅助系统</a:t>
                      </a:r>
                      <a:endParaRPr lang="en-US" altLang="zh-CN" sz="1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355887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+mn-ea"/>
                          <a:ea typeface="+mn-ea"/>
                        </a:rPr>
                        <a:t>IHC </a:t>
                      </a:r>
                      <a:r>
                        <a:rPr lang="zh-CN" altLang="en-US" sz="1200" b="0" dirty="0">
                          <a:latin typeface="+mn-ea"/>
                          <a:ea typeface="+mn-ea"/>
                        </a:rPr>
                        <a:t>智能大灯控制</a:t>
                      </a:r>
                      <a:r>
                        <a:rPr lang="en-US" altLang="zh-CN" sz="1200" b="0" dirty="0">
                          <a:latin typeface="+mn-ea"/>
                          <a:ea typeface="+mn-ea"/>
                        </a:rPr>
                        <a:t>/ADB </a:t>
                      </a:r>
                      <a:r>
                        <a:rPr lang="zh-CN" altLang="en-US" sz="1200" b="0" dirty="0">
                          <a:latin typeface="+mn-ea"/>
                          <a:ea typeface="+mn-ea"/>
                        </a:rPr>
                        <a:t>自适应远光灯</a:t>
                      </a:r>
                      <a:endParaRPr lang="en-US" sz="1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RCW </a:t>
                      </a:r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后方碰撞预警</a:t>
                      </a:r>
                      <a:r>
                        <a:rPr lang="en-US" altLang="zh-CN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/RCTA </a:t>
                      </a:r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后方横向交通预警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06415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BSD </a:t>
                      </a:r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盲区监测</a:t>
                      </a:r>
                      <a:r>
                        <a:rPr lang="en-US" altLang="zh-CN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/LCA </a:t>
                      </a:r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变道辅助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160774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DOW </a:t>
                      </a:r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车门开启预警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449496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+mn-ea"/>
                          <a:ea typeface="+mn-ea"/>
                        </a:rPr>
                        <a:t>ESA </a:t>
                      </a:r>
                      <a:r>
                        <a:rPr lang="zh-CN" altLang="en-US" sz="1200" b="0" dirty="0">
                          <a:latin typeface="+mn-ea"/>
                          <a:ea typeface="+mn-ea"/>
                        </a:rPr>
                        <a:t>紧急转向辅助</a:t>
                      </a:r>
                      <a:r>
                        <a:rPr lang="en-US" altLang="zh-CN" sz="1200" b="0" dirty="0">
                          <a:latin typeface="+mn-ea"/>
                          <a:ea typeface="+mn-ea"/>
                        </a:rPr>
                        <a:t>/AES </a:t>
                      </a:r>
                      <a:r>
                        <a:rPr lang="zh-CN" altLang="en-US" sz="1200" b="0" dirty="0">
                          <a:latin typeface="+mn-ea"/>
                          <a:ea typeface="+mn-ea"/>
                        </a:rPr>
                        <a:t>自动紧急转向</a:t>
                      </a:r>
                      <a:endParaRPr lang="en-US" sz="1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F2329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  <a:sym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644034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+mn-ea"/>
                          <a:ea typeface="+mn-ea"/>
                        </a:rPr>
                        <a:t>PMA </a:t>
                      </a:r>
                      <a:r>
                        <a:rPr lang="zh-CN" altLang="en-US" sz="1200" b="0" dirty="0">
                          <a:latin typeface="+mn-ea"/>
                          <a:ea typeface="+mn-ea"/>
                        </a:rPr>
                        <a:t>防油门误踩</a:t>
                      </a:r>
                      <a:endParaRPr lang="en-US" sz="12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ea"/>
                          <a:ea typeface="+mn-ea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ea"/>
                          <a:ea typeface="+mn-ea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ea"/>
                          <a:ea typeface="+mn-ea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√</a:t>
                      </a:r>
                      <a:endParaRPr 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602308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MEB </a:t>
                      </a:r>
                      <a:r>
                        <a:rPr lang="zh-CN" altLang="en-US" sz="1200" b="0" kern="1200" baseline="0" dirty="0">
                          <a:solidFill>
                            <a:srgbClr val="1F2329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低速自动紧急制动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b="1" kern="1200" baseline="0" dirty="0">
                        <a:solidFill>
                          <a:srgbClr val="1F2329"/>
                        </a:solidFill>
                        <a:effectLst/>
                        <a:latin typeface="+mn-ea"/>
                        <a:ea typeface="+mn-ea"/>
                        <a:cs typeface="+mn-cs"/>
                        <a:sym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2329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2329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Segoe UI" panose="020B0502040204020203" pitchFamily="34" charset="0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46965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CB1BD75E-0DDF-08E9-E5D9-A625A8E434FC}"/>
              </a:ext>
            </a:extLst>
          </p:cNvPr>
          <p:cNvSpPr txBox="1"/>
          <p:nvPr/>
        </p:nvSpPr>
        <p:spPr>
          <a:xfrm>
            <a:off x="393404" y="6283842"/>
            <a:ext cx="5702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说明：√是可以实现，</a:t>
            </a:r>
            <a:r>
              <a:rPr lang="en-US" altLang="zh-CN" sz="1000" dirty="0"/>
              <a:t>O</a:t>
            </a:r>
            <a:r>
              <a:rPr lang="zh-CN" altLang="en-US" sz="1000" dirty="0"/>
              <a:t>是可选，</a:t>
            </a:r>
            <a:r>
              <a:rPr lang="en-US" altLang="zh-CN" sz="1000" dirty="0"/>
              <a:t>C</a:t>
            </a:r>
            <a:r>
              <a:rPr lang="zh-CN" altLang="en-US" sz="1000" dirty="0"/>
              <a:t>是需要融合其他传感器</a:t>
            </a:r>
          </a:p>
        </p:txBody>
      </p:sp>
    </p:spTree>
    <p:extLst>
      <p:ext uri="{BB962C8B-B14F-4D97-AF65-F5344CB8AC3E}">
        <p14:creationId xmlns:p14="http://schemas.microsoft.com/office/powerpoint/2010/main" val="1018071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E2E43-EC1F-4810-B9C2-2C961F585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0DF8B5-9191-42E5-382D-942AC682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77165A-50CB-AA49-CE8A-14DFB9FA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Horizon Continental Technology Shanghai Co., Ltd -  Confidential Information Under NDA</a:t>
            </a:r>
            <a:endParaRPr lang="en-US" altLang="en-US" dirty="0"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2E80E6-D493-1AC0-1758-F8E5BD5A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/>
              <a:t>2</a:t>
            </a:fld>
            <a:endParaRPr lang="en-US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FFEC0F-7057-F972-476A-97511327630A}"/>
              </a:ext>
            </a:extLst>
          </p:cNvPr>
          <p:cNvSpPr txBox="1"/>
          <p:nvPr/>
        </p:nvSpPr>
        <p:spPr>
          <a:xfrm>
            <a:off x="777240" y="487045"/>
            <a:ext cx="10637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13131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AEB</a:t>
            </a:r>
            <a:r>
              <a:rPr lang="zh-CN" altLang="en-US" dirty="0">
                <a:solidFill>
                  <a:srgbClr val="13131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功能支持的非标准场景</a:t>
            </a:r>
            <a:endParaRPr kumimoji="0" lang="zh-CN" altLang="en-US" sz="2600" b="0" i="0" u="none" strike="noStrike" kern="1200" cap="none" spc="30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0D98437-F991-2CDD-BF62-77E33FCB3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665112"/>
              </p:ext>
            </p:extLst>
          </p:nvPr>
        </p:nvGraphicFramePr>
        <p:xfrm>
          <a:off x="534390" y="1174265"/>
          <a:ext cx="11079678" cy="5029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88176">
                  <a:extLst>
                    <a:ext uri="{9D8B030D-6E8A-4147-A177-3AD203B41FA5}">
                      <a16:colId xmlns:a16="http://schemas.microsoft.com/office/drawing/2014/main" val="2885879422"/>
                    </a:ext>
                  </a:extLst>
                </a:gridCol>
                <a:gridCol w="5581403">
                  <a:extLst>
                    <a:ext uri="{9D8B030D-6E8A-4147-A177-3AD203B41FA5}">
                      <a16:colId xmlns:a16="http://schemas.microsoft.com/office/drawing/2014/main" val="1559005123"/>
                    </a:ext>
                  </a:extLst>
                </a:gridCol>
                <a:gridCol w="3610099">
                  <a:extLst>
                    <a:ext uri="{9D8B030D-6E8A-4147-A177-3AD203B41FA5}">
                      <a16:colId xmlns:a16="http://schemas.microsoft.com/office/drawing/2014/main" val="2337616765"/>
                    </a:ext>
                  </a:extLst>
                </a:gridCol>
              </a:tblGrid>
              <a:tr h="1502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场景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场景参数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预期行为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4239"/>
                  </a:ext>
                </a:extLst>
              </a:tr>
              <a:tr h="4508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弯道鬼探头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目标物：成人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儿童</a:t>
                      </a:r>
                      <a:endParaRPr lang="en-US" altLang="zh-CN" sz="1200" dirty="0"/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弯道半径：</a:t>
                      </a:r>
                      <a:r>
                        <a:rPr lang="en-US" altLang="zh-CN" sz="1200" dirty="0"/>
                        <a:t>100~500m</a:t>
                      </a:r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目标速度范围：</a:t>
                      </a:r>
                      <a:r>
                        <a:rPr lang="en-US" altLang="zh-CN" sz="1200" dirty="0"/>
                        <a:t>5kph</a:t>
                      </a:r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自车速度范围：</a:t>
                      </a:r>
                      <a:r>
                        <a:rPr lang="en-US" altLang="zh-CN" sz="1200" dirty="0"/>
                        <a:t>(4,70] kph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自车在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50kph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以下需避撞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自车在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(50~70] kph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速度范围内能及时触发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FCW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报警，并产生不低于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的速度降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511845"/>
                  </a:ext>
                </a:extLst>
              </a:tr>
              <a:tr h="4508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横向侧卧行人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目标物：横向侧卧人</a:t>
                      </a:r>
                      <a:endParaRPr lang="en-US" altLang="zh-CN" sz="1200" dirty="0"/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目标速度范围：</a:t>
                      </a:r>
                      <a:r>
                        <a:rPr lang="en-US" altLang="zh-CN" sz="1200" dirty="0"/>
                        <a:t>0kph</a:t>
                      </a:r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自车速度范围：</a:t>
                      </a:r>
                      <a:r>
                        <a:rPr lang="en-US" altLang="zh-CN" sz="1200" dirty="0"/>
                        <a:t>(4,135] kph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自车在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(5~90] kph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速度范围内对目标触发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避免碰撞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自车在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(95~135]kph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速度范围内能及时报警，并产生不低于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的速度降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04553"/>
                  </a:ext>
                </a:extLst>
              </a:tr>
              <a:tr h="3506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两轮车远端横穿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目标物：自行车、电动车、摩托车、三轮车</a:t>
                      </a:r>
                      <a:endParaRPr lang="en-US" altLang="zh-CN" sz="1200" dirty="0"/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目标速度范围：自行车</a:t>
                      </a:r>
                      <a:r>
                        <a:rPr lang="en-US" altLang="zh-CN" sz="1200" dirty="0"/>
                        <a:t>0~20km/h</a:t>
                      </a:r>
                      <a:r>
                        <a:rPr lang="zh-CN" altLang="en-US" sz="1200" dirty="0"/>
                        <a:t>、电动车</a:t>
                      </a:r>
                      <a:r>
                        <a:rPr lang="en-US" altLang="zh-CN" sz="1200" dirty="0"/>
                        <a:t>0~25km/h</a:t>
                      </a:r>
                      <a:r>
                        <a:rPr lang="zh-CN" altLang="en-US" sz="1200" dirty="0"/>
                        <a:t>、摩托车</a:t>
                      </a:r>
                      <a:r>
                        <a:rPr lang="en-US" altLang="zh-CN" sz="1200" dirty="0"/>
                        <a:t>0~70km/h</a:t>
                      </a:r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自车速度范围：</a:t>
                      </a:r>
                      <a:r>
                        <a:rPr lang="en-US" altLang="zh-CN" sz="1200" dirty="0"/>
                        <a:t>(4,135] kph</a:t>
                      </a:r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碰撞点：</a:t>
                      </a:r>
                      <a:r>
                        <a:rPr lang="en-US" altLang="zh-CN" sz="1200" dirty="0"/>
                        <a:t>0%~100%</a:t>
                      </a:r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遮挡物：包括但不限于乘用车、墙体、大巴、</a:t>
                      </a:r>
                      <a:r>
                        <a:rPr lang="en-US" altLang="zh-CN" sz="1200" dirty="0"/>
                        <a:t>VAN</a:t>
                      </a:r>
                      <a:r>
                        <a:rPr lang="zh-CN" altLang="en-US" sz="1200" dirty="0"/>
                        <a:t>、货车等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自车在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(4,135] kph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速度范围内均能对目标物触发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避免或减缓碰撞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自车在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90kph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以下需避撞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314496"/>
                  </a:ext>
                </a:extLst>
              </a:tr>
              <a:tr h="3506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两轮车直行转横穿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自车在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(4,135] kph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速度范围内均能对目标物触发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避免或减缓碰撞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自车在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80kph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以下需避撞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080579"/>
                  </a:ext>
                </a:extLst>
              </a:tr>
              <a:tr h="4508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转弯车辆</a:t>
                      </a:r>
                      <a:r>
                        <a:rPr lang="en-US" altLang="zh-CN" sz="1200" dirty="0" err="1"/>
                        <a:t>CCFtap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左转弯遇到对向右中央隔离带遮挡</a:t>
                      </a:r>
                      <a:endParaRPr lang="en-US" altLang="zh-CN" sz="1200" dirty="0"/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目标速度范围：</a:t>
                      </a:r>
                      <a:r>
                        <a:rPr lang="en-US" altLang="zh-CN" sz="1200" dirty="0"/>
                        <a:t>20~60km/h</a:t>
                      </a:r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自车速度范围：</a:t>
                      </a:r>
                      <a:r>
                        <a:rPr lang="en-US" altLang="zh-CN" sz="1200" dirty="0"/>
                        <a:t>(10,30] kph</a:t>
                      </a:r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碰撞点：</a:t>
                      </a:r>
                      <a:r>
                        <a:rPr lang="en-US" altLang="zh-CN" sz="1200" dirty="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微软雅黑" panose="020B0503020204020204" pitchFamily="34" charset="-122"/>
                        <a:buChar char="￭"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自车在</a:t>
                      </a:r>
                      <a:r>
                        <a:rPr lang="en-US" altLang="zh-CN" sz="1200" dirty="0"/>
                        <a:t>(10,30] kph</a:t>
                      </a:r>
                      <a:r>
                        <a:rPr lang="zh-CN" altLang="en-US" sz="1200" dirty="0"/>
                        <a:t>速度范围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内均能对目标物触发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避免或减缓碰撞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549437"/>
                  </a:ext>
                </a:extLst>
              </a:tr>
              <a:tr h="5510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大型静止动物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目标物：牛、马、羊、麋鹿、袋鼠</a:t>
                      </a:r>
                      <a:endParaRPr lang="en-US" altLang="zh-CN" sz="1200" dirty="0"/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目标速度范围：</a:t>
                      </a:r>
                      <a:r>
                        <a:rPr lang="en-US" altLang="zh-CN" sz="1200" dirty="0"/>
                        <a:t>0-20km/h</a:t>
                      </a:r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自车速度范围：</a:t>
                      </a:r>
                      <a:r>
                        <a:rPr lang="en-US" altLang="zh-CN" sz="1200" dirty="0"/>
                        <a:t>4-135km/h</a:t>
                      </a:r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自车转向：直行</a:t>
                      </a:r>
                      <a:endParaRPr lang="en-US" altLang="zh-CN" sz="1200" dirty="0"/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碰撞点：</a:t>
                      </a:r>
                      <a:r>
                        <a:rPr lang="en-US" altLang="zh-CN" sz="1200" dirty="0"/>
                        <a:t>0-100%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自车在</a:t>
                      </a:r>
                      <a:r>
                        <a:rPr lang="en-US" altLang="zh-CN" sz="1200" dirty="0"/>
                        <a:t>(4,135] kph</a:t>
                      </a:r>
                      <a:r>
                        <a:rPr lang="zh-CN" altLang="en-US" sz="1200" dirty="0"/>
                        <a:t>速度范围内均能对目标物触发</a:t>
                      </a:r>
                      <a:r>
                        <a:rPr lang="en-US" altLang="zh-CN" sz="1200" dirty="0"/>
                        <a:t>AEB</a:t>
                      </a:r>
                      <a:r>
                        <a:rPr lang="zh-CN" altLang="en-US" sz="1200" dirty="0"/>
                        <a:t>避免或减缓碰撞</a:t>
                      </a:r>
                      <a:endParaRPr lang="en-US" altLang="zh-CN" sz="1200" dirty="0"/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自车对纵向目标</a:t>
                      </a:r>
                      <a:r>
                        <a:rPr lang="en-US" altLang="zh-CN" sz="1200" dirty="0"/>
                        <a:t>90kph</a:t>
                      </a:r>
                      <a:r>
                        <a:rPr lang="zh-CN" altLang="en-US" sz="1200" dirty="0"/>
                        <a:t>以下需避撞，横穿目标</a:t>
                      </a:r>
                      <a:r>
                        <a:rPr lang="en-US" altLang="zh-CN" sz="1200" dirty="0"/>
                        <a:t>60kph</a:t>
                      </a:r>
                      <a:r>
                        <a:rPr lang="zh-CN" altLang="en-US" sz="1200" dirty="0"/>
                        <a:t>以下需避撞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451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523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1AA307-6E1E-0ACE-4C38-8F6ADF02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421D25-BCC1-9D15-C43A-799FCEEDA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Horizon Continental Technology Shanghai Co., Ltd -  Confidential Information Under NDA</a:t>
            </a:r>
            <a:endParaRPr lang="en-US" altLang="en-US" dirty="0"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42D8A-8CC9-15A9-77BB-9B2AC0B1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/>
              <a:t>3</a:t>
            </a:fld>
            <a:endParaRPr lang="en-US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ABF30D-655D-BB58-5879-E9236B6C4ED0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en-US" altLang="zh-CN" dirty="0">
                <a:solidFill>
                  <a:srgbClr val="13131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AEB</a:t>
            </a:r>
            <a:r>
              <a:rPr lang="zh-CN" altLang="en-US" dirty="0">
                <a:solidFill>
                  <a:srgbClr val="13131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误触发率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FBE906-DA82-3549-7DA7-8379F233198D}"/>
              </a:ext>
            </a:extLst>
          </p:cNvPr>
          <p:cNvSpPr txBox="1"/>
          <p:nvPr/>
        </p:nvSpPr>
        <p:spPr>
          <a:xfrm>
            <a:off x="879676" y="1238491"/>
            <a:ext cx="4859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微软雅黑" panose="020B0503020204020204" pitchFamily="34" charset="-122"/>
              <a:buChar char="￭"/>
            </a:pPr>
            <a:r>
              <a:rPr lang="zh-CN" altLang="en-US" dirty="0"/>
              <a:t>通过大里程数据回灌链路保障</a:t>
            </a:r>
            <a:r>
              <a:rPr lang="en-US" altLang="zh-CN" b="1" dirty="0"/>
              <a:t>AEB</a:t>
            </a:r>
            <a:r>
              <a:rPr lang="zh-CN" altLang="en-US" b="1" dirty="0"/>
              <a:t>误触发率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3C137D0-178C-33AE-A121-5D6BAFF59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49" y="1866826"/>
            <a:ext cx="11265502" cy="398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39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F5682-4C7F-680D-92AD-966F4075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47EC706-6B87-5DCD-E305-4456F48574B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0170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95" imgH="394" progId="TCLayout.ActiveDocument.1">
                  <p:embed/>
                </p:oleObj>
              </mc:Choice>
              <mc:Fallback>
                <p:oleObj name="think-cell 幻灯片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205F2A-5F8B-921F-044C-9B71F4E36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35A223-C54D-B0F7-B76D-6382AD4D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Horizon Continental Technology Shanghai Co., Ltd -  Confidential Information Under NDA</a:t>
            </a:r>
            <a:endParaRPr lang="en-US" altLang="en-US" dirty="0"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649145-F64B-12A7-A133-789B0B7F8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/>
              <a:t>4</a:t>
            </a:fld>
            <a:endParaRPr lang="en-US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7D8E6C-2E37-6CCC-4EA5-294C54A1B837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en-US" altLang="zh-CN" dirty="0">
                <a:solidFill>
                  <a:srgbClr val="13131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AES</a:t>
            </a:r>
            <a:r>
              <a:rPr lang="zh-CN" altLang="en-US" dirty="0">
                <a:solidFill>
                  <a:srgbClr val="13131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功能介绍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9763DEE-B080-2562-942B-4D3448951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36750"/>
              </p:ext>
            </p:extLst>
          </p:nvPr>
        </p:nvGraphicFramePr>
        <p:xfrm>
          <a:off x="556161" y="1174263"/>
          <a:ext cx="11079677" cy="519669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65810">
                  <a:extLst>
                    <a:ext uri="{9D8B030D-6E8A-4147-A177-3AD203B41FA5}">
                      <a16:colId xmlns:a16="http://schemas.microsoft.com/office/drawing/2014/main" val="1904954925"/>
                    </a:ext>
                  </a:extLst>
                </a:gridCol>
                <a:gridCol w="2477814">
                  <a:extLst>
                    <a:ext uri="{9D8B030D-6E8A-4147-A177-3AD203B41FA5}">
                      <a16:colId xmlns:a16="http://schemas.microsoft.com/office/drawing/2014/main" val="2885879422"/>
                    </a:ext>
                  </a:extLst>
                </a:gridCol>
                <a:gridCol w="3331779">
                  <a:extLst>
                    <a:ext uri="{9D8B030D-6E8A-4147-A177-3AD203B41FA5}">
                      <a16:colId xmlns:a16="http://schemas.microsoft.com/office/drawing/2014/main" val="1559005123"/>
                    </a:ext>
                  </a:extLst>
                </a:gridCol>
                <a:gridCol w="4204274">
                  <a:extLst>
                    <a:ext uri="{9D8B030D-6E8A-4147-A177-3AD203B41FA5}">
                      <a16:colId xmlns:a16="http://schemas.microsoft.com/office/drawing/2014/main" val="2337616765"/>
                    </a:ext>
                  </a:extLst>
                </a:gridCol>
              </a:tblGrid>
              <a:tr h="3802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场景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场景参数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预期行为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4239"/>
                  </a:ext>
                </a:extLst>
              </a:tr>
              <a:tr h="1394234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车辆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前车静止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低速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自车速度范围：</a:t>
                      </a:r>
                      <a:r>
                        <a:rPr lang="en-US" altLang="zh-CN" sz="1200" dirty="0"/>
                        <a:t>(30,135] kph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车辆与目标有碰撞风险时预测使用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全力制动无法刹停避撞，且一边有足够的安全空间，满足触发条件时紧急转向避让目标，避免碰撞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避让过程中如有二次碰撞风险需触发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避免二次事故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重叠率很好时，直接进行转向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511845"/>
                  </a:ext>
                </a:extLst>
              </a:tr>
              <a:tr h="380246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前车</a:t>
                      </a:r>
                      <a:r>
                        <a:rPr lang="en-US" altLang="zh-CN" sz="1200" dirty="0"/>
                        <a:t>Cut in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自车速度范围：</a:t>
                      </a:r>
                      <a:r>
                        <a:rPr lang="en-US" altLang="zh-CN" sz="1200" dirty="0"/>
                        <a:t>(30,135] kph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车辆与目标有碰撞风险时预测使用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全力制动无法刹停避撞，且一边有足够的安全空间，满足触发条件时紧急转向避让目标，避免碰撞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避让过程中如有二次碰撞风险需触发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避免二次事故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04553"/>
                  </a:ext>
                </a:extLst>
              </a:tr>
              <a:tr h="633743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前车</a:t>
                      </a:r>
                      <a:r>
                        <a:rPr lang="en-US" altLang="zh-CN" sz="1200" dirty="0"/>
                        <a:t>Cut Out</a:t>
                      </a:r>
                      <a:r>
                        <a:rPr lang="zh-CN" altLang="en-US" sz="1200" dirty="0"/>
                        <a:t>出现被遮挡车辆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微软雅黑" panose="020B0503020204020204" pitchFamily="34" charset="-122"/>
                        <a:buChar char="￭"/>
                        <a:tabLst/>
                        <a:defRPr/>
                      </a:pPr>
                      <a:r>
                        <a:rPr lang="zh-CN" altLang="en-US" sz="1200" dirty="0"/>
                        <a:t>被遮挡目标车速度范围：</a:t>
                      </a:r>
                      <a:r>
                        <a:rPr lang="en-US" altLang="zh-CN" sz="1200" dirty="0"/>
                        <a:t>(50,70] kph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微软雅黑" panose="020B0503020204020204" pitchFamily="34" charset="-122"/>
                        <a:buChar char="￭"/>
                        <a:tabLst/>
                        <a:defRPr/>
                      </a:pPr>
                      <a:r>
                        <a:rPr lang="zh-CN" altLang="en-US" sz="1200" dirty="0"/>
                        <a:t>自车速度范围：</a:t>
                      </a:r>
                      <a:r>
                        <a:rPr lang="en-US" altLang="zh-CN" sz="1200" dirty="0"/>
                        <a:t>(70,90] kph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395205"/>
                  </a:ext>
                </a:extLst>
              </a:tr>
              <a:tr h="380246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相邻车道对向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同向目标车辆偏离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自车速度范围：</a:t>
                      </a:r>
                      <a:r>
                        <a:rPr lang="en-US" altLang="zh-CN" sz="1200" dirty="0"/>
                        <a:t>(30,135] kph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微软雅黑" panose="020B0503020204020204" pitchFamily="34" charset="-122"/>
                        <a:buChar char="￭"/>
                      </a:pP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314496"/>
                  </a:ext>
                </a:extLst>
              </a:tr>
              <a:tr h="11407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行人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行驶路径有静止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纵向移动行人</a:t>
                      </a:r>
                      <a:endParaRPr lang="en-US" altLang="zh-CN" sz="1200" dirty="0"/>
                    </a:p>
                    <a:p>
                      <a:pPr algn="ctr"/>
                      <a:r>
                        <a:rPr lang="zh-CN" altLang="en-US" sz="1200" dirty="0"/>
                        <a:t>行驶路径有横穿行人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目标物：大人、小孩、不同着装、打伞、蹲着、玩滑板的、推婴儿车、坐轮椅等</a:t>
                      </a:r>
                      <a:endParaRPr lang="en-US" altLang="zh-CN" sz="1200" dirty="0"/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目标速度：</a:t>
                      </a:r>
                      <a:r>
                        <a:rPr lang="en-US" altLang="zh-CN" sz="1200" dirty="0"/>
                        <a:t>3-6kph</a:t>
                      </a:r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自车速度范围：</a:t>
                      </a:r>
                      <a:r>
                        <a:rPr lang="en-US" altLang="zh-CN" sz="1200" dirty="0"/>
                        <a:t>(30,135] kph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微软雅黑" panose="020B0503020204020204" pitchFamily="34" charset="-122"/>
                        <a:buChar char="￭"/>
                        <a:tabLst/>
                        <a:defRPr/>
                      </a:pP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549437"/>
                  </a:ext>
                </a:extLst>
              </a:tr>
              <a:tr h="8872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两轮车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行驶路径有纵向移动两轮车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微软雅黑" panose="020B0503020204020204" pitchFamily="34" charset="-122"/>
                        <a:buChar char="￭"/>
                        <a:tabLst/>
                        <a:defRPr/>
                      </a:pPr>
                      <a:r>
                        <a:rPr lang="zh-CN" altLang="en-US" sz="1200" dirty="0"/>
                        <a:t>目标物：自行车、电动车、摩托车等</a:t>
                      </a:r>
                      <a:endParaRPr lang="en-US" altLang="zh-CN" sz="1200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微软雅黑" panose="020B0503020204020204" pitchFamily="34" charset="-122"/>
                        <a:buChar char="￭"/>
                        <a:tabLst/>
                        <a:defRPr/>
                      </a:pPr>
                      <a:r>
                        <a:rPr lang="zh-CN" altLang="en-US" sz="1200" dirty="0"/>
                        <a:t>目标速度：</a:t>
                      </a:r>
                      <a:r>
                        <a:rPr lang="en-US" altLang="zh-CN" sz="1200" dirty="0"/>
                        <a:t>10-30kph</a:t>
                      </a:r>
                    </a:p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r>
                        <a:rPr lang="zh-CN" altLang="en-US" sz="1200" dirty="0"/>
                        <a:t>自车速度范围：</a:t>
                      </a:r>
                      <a:r>
                        <a:rPr lang="en-US" altLang="zh-CN" sz="1200" dirty="0"/>
                        <a:t>(30,135] kph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indent="-171450" algn="l">
                        <a:buFont typeface="微软雅黑" panose="020B0503020204020204" pitchFamily="34" charset="-122"/>
                        <a:buChar char="￭"/>
                      </a:pP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451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719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318A6-2147-52E8-DD7B-A8889E60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1DB7ED2-067E-9846-6BA9-21BCC75EAD1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963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95" imgH="394" progId="TCLayout.ActiveDocument.1">
                  <p:embed/>
                </p:oleObj>
              </mc:Choice>
              <mc:Fallback>
                <p:oleObj name="think-cell 幻灯片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AADB14-B667-851D-225B-6290E799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6A59BB-AA08-50AA-C72F-4E017EF4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Horizon Continental Technology Shanghai Co., Ltd -  Confidential Information Under NDA</a:t>
            </a:r>
            <a:endParaRPr lang="en-US" altLang="en-US" dirty="0"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CFAA86-22E0-154B-581C-FF433DA0F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7224B9-59BE-F7E2-7368-68010B467DB9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en-US" altLang="zh-CN" dirty="0">
                <a:solidFill>
                  <a:srgbClr val="13131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AES</a:t>
            </a:r>
            <a:r>
              <a:rPr lang="zh-CN" altLang="en-US" dirty="0">
                <a:solidFill>
                  <a:srgbClr val="13131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功能亮点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F139EFA-C16B-6E60-A276-82623D837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120824"/>
              </p:ext>
            </p:extLst>
          </p:nvPr>
        </p:nvGraphicFramePr>
        <p:xfrm>
          <a:off x="646123" y="1343048"/>
          <a:ext cx="10899753" cy="46177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01569">
                  <a:extLst>
                    <a:ext uri="{9D8B030D-6E8A-4147-A177-3AD203B41FA5}">
                      <a16:colId xmlns:a16="http://schemas.microsoft.com/office/drawing/2014/main" val="1696734228"/>
                    </a:ext>
                  </a:extLst>
                </a:gridCol>
                <a:gridCol w="2374546">
                  <a:extLst>
                    <a:ext uri="{9D8B030D-6E8A-4147-A177-3AD203B41FA5}">
                      <a16:colId xmlns:a16="http://schemas.microsoft.com/office/drawing/2014/main" val="24110364"/>
                    </a:ext>
                  </a:extLst>
                </a:gridCol>
                <a:gridCol w="2374546">
                  <a:extLst>
                    <a:ext uri="{9D8B030D-6E8A-4147-A177-3AD203B41FA5}">
                      <a16:colId xmlns:a16="http://schemas.microsoft.com/office/drawing/2014/main" val="544799346"/>
                    </a:ext>
                  </a:extLst>
                </a:gridCol>
                <a:gridCol w="2374546">
                  <a:extLst>
                    <a:ext uri="{9D8B030D-6E8A-4147-A177-3AD203B41FA5}">
                      <a16:colId xmlns:a16="http://schemas.microsoft.com/office/drawing/2014/main" val="1856746412"/>
                    </a:ext>
                  </a:extLst>
                </a:gridCol>
                <a:gridCol w="2374546">
                  <a:extLst>
                    <a:ext uri="{9D8B030D-6E8A-4147-A177-3AD203B41FA5}">
                      <a16:colId xmlns:a16="http://schemas.microsoft.com/office/drawing/2014/main" val="701082473"/>
                    </a:ext>
                  </a:extLst>
                </a:gridCol>
              </a:tblGrid>
              <a:tr h="349118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HCT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友商一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友商二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友商三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50101"/>
                  </a:ext>
                </a:extLst>
              </a:tr>
              <a:tr h="7620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目标物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/>
                        <a:t>车辆和</a:t>
                      </a:r>
                      <a:r>
                        <a:rPr lang="en-US" altLang="zh-CN" sz="1200" dirty="0"/>
                        <a:t>VRU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车辆和</a:t>
                      </a:r>
                      <a:r>
                        <a:rPr lang="en-US" altLang="zh-CN" sz="1200" dirty="0"/>
                        <a:t>VRU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车辆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车辆和</a:t>
                      </a:r>
                      <a:r>
                        <a:rPr lang="en-US" altLang="zh-CN" sz="1200" dirty="0"/>
                        <a:t>VRU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326448"/>
                  </a:ext>
                </a:extLst>
              </a:tr>
              <a:tr h="7620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自车速度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30-135kph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60-130kph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80-130kph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40-130kph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901934"/>
                  </a:ext>
                </a:extLst>
              </a:tr>
              <a:tr h="865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支持场景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微软雅黑" panose="020B0503020204020204" pitchFamily="34" charset="-122"/>
                        <a:buNone/>
                      </a:pPr>
                      <a:r>
                        <a:rPr lang="zh-CN" altLang="en-US" sz="1200" dirty="0"/>
                        <a:t>静止车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低速车、</a:t>
                      </a:r>
                      <a:r>
                        <a:rPr lang="en-US" altLang="zh-CN" sz="1200" dirty="0"/>
                        <a:t>Cut In/Out</a:t>
                      </a:r>
                      <a:r>
                        <a:rPr lang="zh-CN" altLang="en-US" sz="1200" dirty="0"/>
                        <a:t>、相邻车道偏离、横穿应对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微软雅黑" panose="020B0503020204020204" pitchFamily="34" charset="-122"/>
                        <a:buNone/>
                      </a:pPr>
                      <a:r>
                        <a:rPr lang="zh-CN" altLang="en-US" sz="1200" dirty="0"/>
                        <a:t>静止车、</a:t>
                      </a:r>
                      <a:r>
                        <a:rPr lang="en-US" altLang="zh-CN" sz="1200" dirty="0"/>
                        <a:t>Cut In/Out</a:t>
                      </a:r>
                      <a:r>
                        <a:rPr lang="zh-CN" altLang="en-US" sz="1200" dirty="0"/>
                        <a:t>、横穿应对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微软雅黑" panose="020B0503020204020204" pitchFamily="34" charset="-122"/>
                        <a:buNone/>
                      </a:pPr>
                      <a:r>
                        <a:rPr lang="zh-CN" altLang="en-US" sz="1200" dirty="0"/>
                        <a:t>静止车、</a:t>
                      </a:r>
                      <a:r>
                        <a:rPr lang="en-US" altLang="zh-CN" sz="1200" dirty="0"/>
                        <a:t>Cut In/Out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微软雅黑" panose="020B0503020204020204" pitchFamily="34" charset="-122"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静止车、</a:t>
                      </a:r>
                      <a:r>
                        <a:rPr lang="en-US" altLang="zh-CN" sz="1200" dirty="0"/>
                        <a:t>Cut In/Out</a:t>
                      </a:r>
                      <a:r>
                        <a:rPr lang="zh-CN" altLang="en-US" sz="1200" dirty="0"/>
                        <a:t>、横穿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斜穿应对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868859"/>
                  </a:ext>
                </a:extLst>
              </a:tr>
              <a:tr h="11174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避让行为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微软雅黑" panose="020B0503020204020204" pitchFamily="34" charset="-122"/>
                        <a:buNone/>
                      </a:pPr>
                      <a:r>
                        <a:rPr lang="zh-CN" altLang="en-US" sz="1200" dirty="0"/>
                        <a:t>同时避让</a:t>
                      </a:r>
                      <a:r>
                        <a:rPr lang="en-US" altLang="zh-CN" sz="1200" dirty="0"/>
                        <a:t>+</a:t>
                      </a:r>
                      <a:r>
                        <a:rPr lang="zh-CN" altLang="en-US" sz="1200" dirty="0"/>
                        <a:t>减速，控制偏移距离，支持连续</a:t>
                      </a:r>
                      <a:r>
                        <a:rPr lang="en-US" altLang="zh-CN" sz="1200" dirty="0"/>
                        <a:t>AES</a:t>
                      </a:r>
                      <a:r>
                        <a:rPr lang="zh-CN" altLang="en-US" sz="1200" dirty="0"/>
                        <a:t>，避免二次碰撞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微软雅黑" panose="020B0503020204020204" pitchFamily="34" charset="-122"/>
                        <a:buNone/>
                      </a:pPr>
                      <a:r>
                        <a:rPr lang="zh-CN" altLang="en-US" sz="1200" dirty="0"/>
                        <a:t>同时避让</a:t>
                      </a:r>
                      <a:r>
                        <a:rPr lang="en-US" altLang="zh-CN" sz="1200" dirty="0"/>
                        <a:t>+</a:t>
                      </a:r>
                      <a:r>
                        <a:rPr lang="zh-CN" altLang="en-US" sz="1200" dirty="0"/>
                        <a:t>减速，控制偏移距离，避让后不要求车道居中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微软雅黑" panose="020B0503020204020204" pitchFamily="34" charset="-122"/>
                        <a:buNone/>
                      </a:pPr>
                      <a:r>
                        <a:rPr lang="zh-CN" altLang="en-US" sz="1200" dirty="0"/>
                        <a:t>先避让，避让完成后减速，高速避让后有超调问题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微软雅黑" panose="020B0503020204020204" pitchFamily="34" charset="-122"/>
                        <a:buNone/>
                      </a:pPr>
                      <a:r>
                        <a:rPr lang="zh-CN" altLang="en-US" sz="1200" dirty="0"/>
                        <a:t>同时避让</a:t>
                      </a:r>
                      <a:r>
                        <a:rPr lang="en-US" altLang="zh-CN" sz="1200" dirty="0"/>
                        <a:t>+</a:t>
                      </a:r>
                      <a:r>
                        <a:rPr lang="zh-CN" altLang="en-US" sz="1200" dirty="0"/>
                        <a:t>减速，避让后选择一条车道居中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36503"/>
                  </a:ext>
                </a:extLst>
              </a:tr>
              <a:tr h="7620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误触发指标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次</a:t>
                      </a:r>
                      <a:r>
                        <a:rPr lang="en-US" altLang="zh-CN" sz="1200" dirty="0"/>
                        <a:t>/100</a:t>
                      </a:r>
                      <a:r>
                        <a:rPr lang="zh-CN" altLang="en-US" sz="1200" dirty="0"/>
                        <a:t>万</a:t>
                      </a:r>
                      <a:r>
                        <a:rPr lang="en-US" altLang="zh-CN" sz="1200" dirty="0"/>
                        <a:t>km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次</a:t>
                      </a:r>
                      <a:r>
                        <a:rPr lang="en-US" altLang="zh-CN" sz="1200" dirty="0"/>
                        <a:t>/100</a:t>
                      </a:r>
                      <a:r>
                        <a:rPr lang="zh-CN" altLang="en-US" sz="1200" dirty="0"/>
                        <a:t>万</a:t>
                      </a:r>
                      <a:r>
                        <a:rPr lang="en-US" altLang="zh-CN" sz="1200" dirty="0"/>
                        <a:t>km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次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数十万</a:t>
                      </a:r>
                      <a:r>
                        <a:rPr lang="en-US" altLang="zh-CN" sz="1200" dirty="0"/>
                        <a:t>km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次</a:t>
                      </a:r>
                      <a:r>
                        <a:rPr lang="en-US" altLang="zh-CN" sz="1200" dirty="0"/>
                        <a:t>/100</a:t>
                      </a:r>
                      <a:r>
                        <a:rPr lang="zh-CN" altLang="en-US" sz="1200" dirty="0"/>
                        <a:t>万</a:t>
                      </a:r>
                      <a:r>
                        <a:rPr lang="en-US" altLang="zh-CN" sz="1200" dirty="0"/>
                        <a:t>km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222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882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9D1487-F755-8723-1E08-4C668B75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6B2CDB-25E3-BBA9-FA51-C1611547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Horizon Continental Technology Shanghai Co., Ltd -  Confidential Information Under NDA</a:t>
            </a:r>
            <a:endParaRPr lang="en-US" altLang="en-US" dirty="0"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9FDEC1-1670-A7B1-CBCF-9DAAE1232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/>
              <a:t>6</a:t>
            </a:fld>
            <a:endParaRPr lang="en-US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06226CC-3AD9-FF64-33EB-61CB5FFC3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215647"/>
              </p:ext>
            </p:extLst>
          </p:nvPr>
        </p:nvGraphicFramePr>
        <p:xfrm>
          <a:off x="640080" y="1412240"/>
          <a:ext cx="10920549" cy="460248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57443980"/>
                    </a:ext>
                  </a:extLst>
                </a:gridCol>
                <a:gridCol w="3116943">
                  <a:extLst>
                    <a:ext uri="{9D8B030D-6E8A-4147-A177-3AD203B41FA5}">
                      <a16:colId xmlns:a16="http://schemas.microsoft.com/office/drawing/2014/main" val="501513196"/>
                    </a:ext>
                  </a:extLst>
                </a:gridCol>
                <a:gridCol w="3116943">
                  <a:extLst>
                    <a:ext uri="{9D8B030D-6E8A-4147-A177-3AD203B41FA5}">
                      <a16:colId xmlns:a16="http://schemas.microsoft.com/office/drawing/2014/main" val="1205228238"/>
                    </a:ext>
                  </a:extLst>
                </a:gridCol>
                <a:gridCol w="3116943">
                  <a:extLst>
                    <a:ext uri="{9D8B030D-6E8A-4147-A177-3AD203B41FA5}">
                      <a16:colId xmlns:a16="http://schemas.microsoft.com/office/drawing/2014/main" val="3493783230"/>
                    </a:ext>
                  </a:extLst>
                </a:gridCol>
              </a:tblGrid>
              <a:tr h="486401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2025</a:t>
                      </a:r>
                      <a:r>
                        <a:rPr lang="zh-CN" altLang="en-US" sz="1200" dirty="0"/>
                        <a:t>年</a:t>
                      </a:r>
                      <a:r>
                        <a:rPr lang="en-US" altLang="zh-CN" sz="1200" dirty="0"/>
                        <a:t>10</a:t>
                      </a:r>
                      <a:r>
                        <a:rPr lang="zh-CN" altLang="en-US" sz="1200" dirty="0"/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2026</a:t>
                      </a:r>
                      <a:r>
                        <a:rPr lang="zh-CN" altLang="en-US" sz="1200" dirty="0"/>
                        <a:t>年</a:t>
                      </a:r>
                      <a:r>
                        <a:rPr lang="en-US" altLang="zh-CN" sz="1200" dirty="0"/>
                        <a:t>Q1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2026</a:t>
                      </a:r>
                      <a:r>
                        <a:rPr lang="zh-CN" altLang="en-US" sz="1200" dirty="0"/>
                        <a:t>年</a:t>
                      </a:r>
                      <a:r>
                        <a:rPr lang="en-US" altLang="zh-CN" sz="1200" dirty="0"/>
                        <a:t>Q2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0068275"/>
                  </a:ext>
                </a:extLst>
              </a:tr>
              <a:tr h="10290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法规项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CIASI-2023 G+</a:t>
                      </a:r>
                    </a:p>
                    <a:p>
                      <a:pPr algn="ctr"/>
                      <a:r>
                        <a:rPr lang="en-US" altLang="zh-CN" sz="1200" dirty="0"/>
                        <a:t>IVISTA-2023 G</a:t>
                      </a:r>
                    </a:p>
                    <a:p>
                      <a:pPr marL="0" marR="0" lvl="0" indent="0" algn="ctr" defTabSz="914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C-NCAP 2024 </a:t>
                      </a:r>
                      <a:r>
                        <a:rPr lang="zh-CN" altLang="en-US" sz="1200" dirty="0"/>
                        <a:t>五星</a:t>
                      </a:r>
                      <a:r>
                        <a:rPr lang="en-US" altLang="zh-CN" sz="1200" dirty="0"/>
                        <a:t>+</a:t>
                      </a:r>
                    </a:p>
                    <a:p>
                      <a:pPr algn="ctr"/>
                      <a:r>
                        <a:rPr lang="en-US" altLang="zh-CN" sz="1200" dirty="0"/>
                        <a:t>E-NCAP2023 </a:t>
                      </a:r>
                      <a:r>
                        <a:rPr lang="zh-CN" altLang="en-US" sz="1200" dirty="0"/>
                        <a:t>五星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组合辅助驾驶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E-NCAP2026-2028</a:t>
                      </a:r>
                      <a:r>
                        <a:rPr lang="zh-CN" altLang="en-US" sz="1200" dirty="0"/>
                        <a:t>五星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174470"/>
                  </a:ext>
                </a:extLst>
              </a:tr>
              <a:tr h="10290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前向主动安全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AEB/FCW/MEB</a:t>
                      </a:r>
                    </a:p>
                    <a:p>
                      <a:pPr algn="ctr"/>
                      <a:r>
                        <a:rPr lang="en-US" altLang="zh-CN" sz="1200" dirty="0"/>
                        <a:t>TLR/SAS</a:t>
                      </a:r>
                    </a:p>
                    <a:p>
                      <a:pPr algn="ctr"/>
                      <a:r>
                        <a:rPr lang="en-US" altLang="zh-CN" sz="1200" dirty="0"/>
                        <a:t>IHC/ADB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AEB</a:t>
                      </a:r>
                      <a:r>
                        <a:rPr lang="zh-CN" altLang="en-US" sz="1200" dirty="0"/>
                        <a:t>正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误触发扩展车辆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行人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骑行人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锥桶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防撞桶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水马</a:t>
                      </a:r>
                      <a:endParaRPr lang="en-US" altLang="zh-CN" sz="1200" dirty="0"/>
                    </a:p>
                    <a:p>
                      <a:pPr marL="0" marR="0" lvl="0" indent="0" algn="ctr" defTabSz="914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PMA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AEB</a:t>
                      </a:r>
                      <a:r>
                        <a:rPr lang="zh-CN" altLang="en-US" sz="1200" dirty="0"/>
                        <a:t>正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误触发扩展通用障碍物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雨雪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雾天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116209"/>
                  </a:ext>
                </a:extLst>
              </a:tr>
              <a:tr h="10290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侧向主动安全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LDW/LKA/ELK</a:t>
                      </a:r>
                    </a:p>
                    <a:p>
                      <a:pPr algn="ctr"/>
                      <a:r>
                        <a:rPr lang="en-US" altLang="zh-CN" sz="1200" dirty="0"/>
                        <a:t>BSD/LCA/DOW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ESA/AES</a:t>
                      </a:r>
                    </a:p>
                    <a:p>
                      <a:pPr marL="0" marR="0" lvl="0" indent="0" algn="ctr" defTabSz="914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车辆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行人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骑行人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ESA/AES</a:t>
                      </a:r>
                    </a:p>
                    <a:p>
                      <a:pPr algn="ctr"/>
                      <a:r>
                        <a:rPr lang="zh-CN" altLang="en-US" sz="1200" dirty="0"/>
                        <a:t>通用障碍物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290364"/>
                  </a:ext>
                </a:extLst>
              </a:tr>
              <a:tr h="10290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后向主动安全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RCW/RCTA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86624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A1A143DB-812D-3F72-A112-C946C7A5710D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Astra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主动安全功能</a:t>
            </a:r>
            <a:r>
              <a:rPr lang="zh-CN" altLang="en-US" dirty="0">
                <a:solidFill>
                  <a:srgbClr val="13131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量产时间表</a:t>
            </a:r>
            <a:endParaRPr kumimoji="0" lang="zh-CN" altLang="en-US" sz="2600" b="0" i="0" u="none" strike="noStrike" kern="1200" cap="none" spc="30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754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2BA8E-4D80-CF3B-8EFA-9639A0488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DB37F7-4877-B25B-86C8-EB002B095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571A7-0608-4CA0-91C4-DD76FEAC2393}" type="datetime1">
              <a:rPr lang="zh-CN" altLang="en-US" smtClean="0"/>
              <a:t>2025/10/27</a:t>
            </a:fld>
            <a:endParaRPr lang="en-US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24CA82-8447-3041-A249-AA783844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Horizon Continental Technology Shanghai Co., Ltd -  Confidential Information Under NDA</a:t>
            </a:r>
            <a:endParaRPr lang="en-US" altLang="en-US" dirty="0"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C47A8D-2846-E837-3E58-CD66B48FE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13275-6251-4C40-AFE1-85D85DA07171}" type="slidenum">
              <a:rPr lang="en-US" altLang="en-US" smtClean="0"/>
              <a:t>7</a:t>
            </a:fld>
            <a:endParaRPr lang="en-US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132D1A9-049A-2902-A40F-B28C3620E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365438"/>
              </p:ext>
            </p:extLst>
          </p:nvPr>
        </p:nvGraphicFramePr>
        <p:xfrm>
          <a:off x="640079" y="1412240"/>
          <a:ext cx="10898780" cy="460248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91492">
                  <a:extLst>
                    <a:ext uri="{9D8B030D-6E8A-4147-A177-3AD203B41FA5}">
                      <a16:colId xmlns:a16="http://schemas.microsoft.com/office/drawing/2014/main" val="2057443980"/>
                    </a:ext>
                  </a:extLst>
                </a:gridCol>
                <a:gridCol w="2326822">
                  <a:extLst>
                    <a:ext uri="{9D8B030D-6E8A-4147-A177-3AD203B41FA5}">
                      <a16:colId xmlns:a16="http://schemas.microsoft.com/office/drawing/2014/main" val="501513196"/>
                    </a:ext>
                  </a:extLst>
                </a:gridCol>
                <a:gridCol w="2326822">
                  <a:extLst>
                    <a:ext uri="{9D8B030D-6E8A-4147-A177-3AD203B41FA5}">
                      <a16:colId xmlns:a16="http://schemas.microsoft.com/office/drawing/2014/main" val="1205228238"/>
                    </a:ext>
                  </a:extLst>
                </a:gridCol>
                <a:gridCol w="2326822">
                  <a:extLst>
                    <a:ext uri="{9D8B030D-6E8A-4147-A177-3AD203B41FA5}">
                      <a16:colId xmlns:a16="http://schemas.microsoft.com/office/drawing/2014/main" val="3493783230"/>
                    </a:ext>
                  </a:extLst>
                </a:gridCol>
                <a:gridCol w="2326822">
                  <a:extLst>
                    <a:ext uri="{9D8B030D-6E8A-4147-A177-3AD203B41FA5}">
                      <a16:colId xmlns:a16="http://schemas.microsoft.com/office/drawing/2014/main" val="21726764"/>
                    </a:ext>
                  </a:extLst>
                </a:gridCol>
              </a:tblGrid>
              <a:tr h="486401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2025</a:t>
                      </a:r>
                      <a:r>
                        <a:rPr lang="zh-CN" altLang="en-US" sz="1200" dirty="0"/>
                        <a:t>年</a:t>
                      </a:r>
                      <a:r>
                        <a:rPr lang="en-US" altLang="zh-CN" sz="1200" dirty="0"/>
                        <a:t>Q2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2025</a:t>
                      </a:r>
                      <a:r>
                        <a:rPr lang="zh-CN" altLang="en-US" sz="1200" dirty="0"/>
                        <a:t>年</a:t>
                      </a:r>
                      <a:r>
                        <a:rPr lang="en-US" altLang="zh-CN" sz="1200" dirty="0"/>
                        <a:t>Q4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2026</a:t>
                      </a:r>
                      <a:r>
                        <a:rPr lang="zh-CN" altLang="en-US" sz="1200" dirty="0"/>
                        <a:t>年</a:t>
                      </a:r>
                      <a:r>
                        <a:rPr lang="en-US" altLang="zh-CN" sz="1200" dirty="0"/>
                        <a:t>Q2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2026</a:t>
                      </a:r>
                      <a:r>
                        <a:rPr lang="zh-CN" altLang="en-US" sz="1200" dirty="0"/>
                        <a:t>年</a:t>
                      </a:r>
                      <a:r>
                        <a:rPr lang="en-US" altLang="zh-CN" sz="1200" dirty="0"/>
                        <a:t>Q3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0068275"/>
                  </a:ext>
                </a:extLst>
              </a:tr>
              <a:tr h="10290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法规项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CIASI-2023 G+</a:t>
                      </a:r>
                    </a:p>
                    <a:p>
                      <a:pPr algn="ctr"/>
                      <a:r>
                        <a:rPr lang="en-US" altLang="zh-CN" sz="1200" dirty="0"/>
                        <a:t>IVISTA-2023 G</a:t>
                      </a:r>
                    </a:p>
                    <a:p>
                      <a:pPr marL="0" marR="0" lvl="0" indent="0" algn="ctr" defTabSz="914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C-NCAP 2024 </a:t>
                      </a:r>
                      <a:r>
                        <a:rPr lang="zh-CN" altLang="en-US" sz="1200" dirty="0"/>
                        <a:t>五星</a:t>
                      </a:r>
                      <a:r>
                        <a:rPr lang="en-US" altLang="zh-CN" sz="1200" dirty="0"/>
                        <a:t>+</a:t>
                      </a:r>
                    </a:p>
                    <a:p>
                      <a:pPr marL="0" marR="0" lvl="0" indent="0" algn="ctr" defTabSz="914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E-NCAP2023 </a:t>
                      </a:r>
                      <a:r>
                        <a:rPr lang="zh-CN" altLang="en-US" sz="1200" dirty="0"/>
                        <a:t>五星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E-NCAP2026-2028</a:t>
                      </a:r>
                      <a:r>
                        <a:rPr lang="zh-CN" altLang="en-US" sz="1200" dirty="0"/>
                        <a:t>五星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组合辅助驾驶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174470"/>
                  </a:ext>
                </a:extLst>
              </a:tr>
              <a:tr h="10290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前向主动安全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AEB/FCW/MEB</a:t>
                      </a:r>
                    </a:p>
                    <a:p>
                      <a:pPr algn="ctr"/>
                      <a:r>
                        <a:rPr lang="en-US" altLang="zh-CN" sz="1200" dirty="0"/>
                        <a:t>TLR/SAS</a:t>
                      </a:r>
                    </a:p>
                    <a:p>
                      <a:pPr algn="ctr"/>
                      <a:r>
                        <a:rPr lang="en-US" altLang="zh-CN" sz="1200" dirty="0"/>
                        <a:t>IHC/ADB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AEB</a:t>
                      </a:r>
                      <a:r>
                        <a:rPr lang="zh-CN" altLang="en-US" sz="1200" dirty="0"/>
                        <a:t>正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误触发扩展车辆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行人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骑行人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锥桶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防撞桶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水马</a:t>
                      </a:r>
                      <a:endParaRPr lang="en-US" altLang="zh-CN" sz="1200" dirty="0"/>
                    </a:p>
                    <a:p>
                      <a:pPr marL="0" marR="0" lvl="0" indent="0" algn="ctr" defTabSz="914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PMA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AEB</a:t>
                      </a:r>
                      <a:r>
                        <a:rPr lang="zh-CN" altLang="en-US" sz="1200" dirty="0"/>
                        <a:t>正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误触发扩展通用障碍物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雨雪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雾天</a:t>
                      </a:r>
                      <a:endParaRPr lang="en-US" altLang="zh-CN" sz="1200" dirty="0"/>
                    </a:p>
                    <a:p>
                      <a:pPr marL="0" marR="0" lvl="0" indent="0" algn="ctr" defTabSz="914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MEB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116209"/>
                  </a:ext>
                </a:extLst>
              </a:tr>
              <a:tr h="10290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侧向主动安全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LDW/LKA/ELK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BSD/LCA/DOW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ESA/AES</a:t>
                      </a:r>
                    </a:p>
                    <a:p>
                      <a:pPr marL="0" marR="0" lvl="0" indent="0" algn="ctr" defTabSz="914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车辆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行人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骑行人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ESA/AES</a:t>
                      </a:r>
                    </a:p>
                    <a:p>
                      <a:pPr algn="ctr"/>
                      <a:r>
                        <a:rPr lang="zh-CN" altLang="en-US" sz="1200" dirty="0"/>
                        <a:t>通用障碍物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290364"/>
                  </a:ext>
                </a:extLst>
              </a:tr>
              <a:tr h="10290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后向主动安全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RCW/RCTA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86624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C0D4D3CE-BD08-36CA-5FEE-7CED1D47A6FD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Luna</a:t>
            </a:r>
            <a:r>
              <a:rPr lang="zh-CN" altLang="en-US" dirty="0">
                <a:solidFill>
                  <a:srgbClr val="13131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主动安全功能量产时间表</a:t>
            </a:r>
            <a:endParaRPr kumimoji="0" lang="zh-CN" altLang="en-US" sz="2600" b="0" i="0" u="none" strike="noStrike" kern="1200" cap="none" spc="30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2574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主题​​">
  <a:themeElements>
    <a:clrScheme name="自定义 12">
      <a:dk1>
        <a:srgbClr val="131319"/>
      </a:dk1>
      <a:lt1>
        <a:srgbClr val="FFFFFF"/>
      </a:lt1>
      <a:dk2>
        <a:srgbClr val="C2C6CF"/>
      </a:dk2>
      <a:lt2>
        <a:srgbClr val="00CCCC"/>
      </a:lt2>
      <a:accent1>
        <a:srgbClr val="00F0DC"/>
      </a:accent1>
      <a:accent2>
        <a:srgbClr val="9CFA78"/>
      </a:accent2>
      <a:accent3>
        <a:srgbClr val="D8FF0D"/>
      </a:accent3>
      <a:accent4>
        <a:srgbClr val="00DED5"/>
      </a:accent4>
      <a:accent5>
        <a:srgbClr val="00CDFF"/>
      </a:accent5>
      <a:accent6>
        <a:srgbClr val="0059FF"/>
      </a:accent6>
      <a:hlink>
        <a:srgbClr val="7823FF"/>
      </a:hlink>
      <a:folHlink>
        <a:srgbClr val="7030A0"/>
      </a:folHlink>
    </a:clrScheme>
    <a:fontScheme name="地平线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2">
      <a:dk1>
        <a:srgbClr val="131319"/>
      </a:dk1>
      <a:lt1>
        <a:srgbClr val="FFFFFF"/>
      </a:lt1>
      <a:dk2>
        <a:srgbClr val="C2C6CF"/>
      </a:dk2>
      <a:lt2>
        <a:srgbClr val="00CCCC"/>
      </a:lt2>
      <a:accent1>
        <a:srgbClr val="00F0DC"/>
      </a:accent1>
      <a:accent2>
        <a:srgbClr val="9CFA78"/>
      </a:accent2>
      <a:accent3>
        <a:srgbClr val="D8FF0D"/>
      </a:accent3>
      <a:accent4>
        <a:srgbClr val="00DED5"/>
      </a:accent4>
      <a:accent5>
        <a:srgbClr val="00CDFF"/>
      </a:accent5>
      <a:accent6>
        <a:srgbClr val="0059FF"/>
      </a:accent6>
      <a:hlink>
        <a:srgbClr val="7823FF"/>
      </a:hlink>
      <a:folHlink>
        <a:srgbClr val="7030A0"/>
      </a:folHlink>
    </a:clrScheme>
    <a:fontScheme name="font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alpha val="15000"/>
          </a:schemeClr>
        </a:solidFill>
        <a:ln w="12700" cap="flat" cmpd="sng" algn="ctr">
          <a:noFill/>
          <a:prstDash val="solid"/>
          <a:miter lim="800000"/>
        </a:ln>
        <a:effectLst/>
      </a:spPr>
      <a:bodyPr lIns="0" tIns="0" rIns="0" bIns="0"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kern="0" cap="none" spc="0" normalizeH="0" baseline="0" noProof="0" dirty="0">
            <a:ln>
              <a:noFill/>
            </a:ln>
            <a:solidFill>
              <a:schemeClr val="bg1"/>
            </a:solidFill>
            <a:effectLst/>
            <a:uLnTx/>
            <a:uFillTx/>
            <a:latin typeface="+mn-ea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自定义 12">
      <a:dk1>
        <a:srgbClr val="131319"/>
      </a:dk1>
      <a:lt1>
        <a:srgbClr val="FFFFFF"/>
      </a:lt1>
      <a:dk2>
        <a:srgbClr val="C2C6CF"/>
      </a:dk2>
      <a:lt2>
        <a:srgbClr val="00CCCC"/>
      </a:lt2>
      <a:accent1>
        <a:srgbClr val="00F0DC"/>
      </a:accent1>
      <a:accent2>
        <a:srgbClr val="9CFA78"/>
      </a:accent2>
      <a:accent3>
        <a:srgbClr val="D8FF0D"/>
      </a:accent3>
      <a:accent4>
        <a:srgbClr val="00DED5"/>
      </a:accent4>
      <a:accent5>
        <a:srgbClr val="00CDFF"/>
      </a:accent5>
      <a:accent6>
        <a:srgbClr val="0059FF"/>
      </a:accent6>
      <a:hlink>
        <a:srgbClr val="7823FF"/>
      </a:hlink>
      <a:folHlink>
        <a:srgbClr val="7030A0"/>
      </a:folHlink>
    </a:clrScheme>
    <a:fontScheme name="地平线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11214</TotalTime>
  <Words>1337</Words>
  <Application>Microsoft Office PowerPoint</Application>
  <PresentationFormat>宽屏</PresentationFormat>
  <Paragraphs>260</Paragraphs>
  <Slides>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DengXian</vt:lpstr>
      <vt:lpstr>Microsoft YaHei</vt:lpstr>
      <vt:lpstr>1_Office 主题​​</vt:lpstr>
      <vt:lpstr>Office 主题​​</vt:lpstr>
      <vt:lpstr>2_Office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liqiong Zhao</dc:creator>
  <cp:lastModifiedBy>liqiong Zhao</cp:lastModifiedBy>
  <cp:revision>26</cp:revision>
  <dcterms:created xsi:type="dcterms:W3CDTF">2025-06-06T06:49:13Z</dcterms:created>
  <dcterms:modified xsi:type="dcterms:W3CDTF">2025-10-27T14:14:02Z</dcterms:modified>
</cp:coreProperties>
</file>