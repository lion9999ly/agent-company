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83619" r:id="rId2"/>
    <p:sldId id="2147483620" r:id="rId3"/>
    <p:sldId id="257" r:id="rId4"/>
    <p:sldId id="258" r:id="rId5"/>
    <p:sldId id="259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7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/>
          </a:p>
        </p:txBody>
      </p:sp>
      <p:sp>
        <p:nvSpPr>
          <p:cNvPr id="12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2025/6/12</a:t>
            </a:fld>
            <a:endParaRPr lang="en-US" altLang="en-US" dirty="0"/>
          </a:p>
        </p:txBody>
      </p:sp>
      <p:sp>
        <p:nvSpPr>
          <p:cNvPr id="1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484620"/>
            <a:ext cx="41148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neueHCT 2024 -  Confidential Information Under NDA</a:t>
            </a:r>
            <a:endParaRPr lang="en-US" altLang="en-US" dirty="0"/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2" name="图片 1" descr="/Users/sunyu/Desktop/240918/241112/资源 4.png资源 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1022330" y="371475"/>
            <a:ext cx="974725" cy="18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392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背景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71770"/>
            <a:ext cx="12192000" cy="1586230"/>
          </a:xfrm>
          <a:prstGeom prst="rect">
            <a:avLst/>
          </a:prstGeom>
        </p:spPr>
      </p:pic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2025/6/12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83331" y="6484620"/>
            <a:ext cx="4625339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3" name="图片 2" descr="/Users/sunyu/Desktop/240918/241112/资源 3.png资源 3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11022330" y="370840"/>
            <a:ext cx="974725" cy="18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68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背景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2025/6/12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75709" y="6484620"/>
            <a:ext cx="4640582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rgbClr val="131319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3" name="图片 2" descr="/Users/sunyu/Desktop/240918/241112/资源 3.png资源 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1022330" y="370840"/>
            <a:ext cx="974725" cy="18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80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深色背景">
    <p:bg>
      <p:bgPr>
        <a:solidFill>
          <a:srgbClr val="13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>
          <a:xfrm>
            <a:off x="76962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0B4571A7-0608-4CA0-91C4-DD76FEAC2393}" type="datetime1">
              <a:rPr lang="zh-CN" altLang="en-US" smtClean="0"/>
              <a:t>2025/6/12</a:t>
            </a:fld>
            <a:endParaRPr lang="en-US" altLang="en-US" dirty="0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75709" y="6484620"/>
            <a:ext cx="4640582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altLang="en-US" dirty="0">
                <a:sym typeface="+mn-ea"/>
              </a:rPr>
              <a:t>Horizon Continental Technology Shanghai Co., Ltd -  Confidential Information Under NDA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63940" y="6484620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 dirty="0"/>
          </a:p>
        </p:txBody>
      </p:sp>
      <p:pic>
        <p:nvPicPr>
          <p:cNvPr id="3" name="图片 2" descr="/Users/sunyu/Desktop/240918/241112/资源 4.png资源 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1035665" y="365125"/>
            <a:ext cx="948055" cy="17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42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F39C06A-DFE7-482C-D90C-99E7844BF2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22812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473" imgH="473" progId="TCLayout.ActiveDocument.1">
                  <p:embed/>
                </p:oleObj>
              </mc:Choice>
              <mc:Fallback>
                <p:oleObj name="think-cell 幻灯片" r:id="rId7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39C06A-DFE7-482C-D90C-99E7844BF2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F50D6-00DE-438E-96D7-E8522205D1AB}" type="datetime1">
              <a:rPr lang="zh-CN" altLang="en-US" smtClean="0"/>
              <a:t>2025/6/12</a:t>
            </a:fld>
            <a:endParaRPr lang="en-US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en-US" dirty="0" err="1"/>
              <a:t>neue</a:t>
            </a:r>
            <a:r>
              <a:rPr lang="en-US" altLang="en-US" dirty="0"/>
              <a:t> HCT 2024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13275-6251-4C40-AFE1-85D85DA07171}" type="slidenum">
              <a:rPr lang="en-US" altLang="en-US" smtClean="0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1225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C6F232-E399-EBB5-B0CC-26A7279A8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4571A7-0608-4CA0-91C4-DD76FEAC2393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2025/6/12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C84284-D33B-BAF0-095F-90B65843A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Horizon Continental Technology Shanghai Co., Ltd -  Confidential Information Under NDA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4D9DC4-B92E-51F6-0E48-842409F1B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13275-6251-4C40-AFE1-85D85DA07171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EDD5819-2539-1970-AC96-D59388CC48DE}"/>
              </a:ext>
            </a:extLst>
          </p:cNvPr>
          <p:cNvGrpSpPr/>
          <p:nvPr/>
        </p:nvGrpSpPr>
        <p:grpSpPr>
          <a:xfrm>
            <a:off x="856196" y="1628787"/>
            <a:ext cx="5240097" cy="3600427"/>
            <a:chOff x="843780" y="1040686"/>
            <a:chExt cx="7199247" cy="494654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E17749E-12DD-477B-D28A-5686BEF58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43780" y="1040686"/>
              <a:ext cx="6866375" cy="4946541"/>
            </a:xfrm>
            <a:prstGeom prst="rect">
              <a:avLst/>
            </a:prstGeom>
          </p:spPr>
        </p:pic>
        <p:sp>
          <p:nvSpPr>
            <p:cNvPr id="9" name="文本框 1">
              <a:extLst>
                <a:ext uri="{FF2B5EF4-FFF2-40B4-BE49-F238E27FC236}">
                  <a16:creationId xmlns:a16="http://schemas.microsoft.com/office/drawing/2014/main" id="{BB907875-E99E-DFAB-38B2-2991D902185F}"/>
                </a:ext>
              </a:extLst>
            </p:cNvPr>
            <p:cNvSpPr txBox="1"/>
            <p:nvPr/>
          </p:nvSpPr>
          <p:spPr>
            <a:xfrm>
              <a:off x="4302346" y="1567576"/>
              <a:ext cx="500369" cy="422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Segoe UI"/>
                  <a:ea typeface="微软雅黑"/>
                  <a:cs typeface="+mn-cs"/>
                </a:rPr>
                <a:t>①</a:t>
              </a:r>
              <a:endPara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0" name="文本框 3">
              <a:extLst>
                <a:ext uri="{FF2B5EF4-FFF2-40B4-BE49-F238E27FC236}">
                  <a16:creationId xmlns:a16="http://schemas.microsoft.com/office/drawing/2014/main" id="{C4D2644D-F76C-37F4-93F2-98B0DA28E9D7}"/>
                </a:ext>
              </a:extLst>
            </p:cNvPr>
            <p:cNvSpPr txBox="1"/>
            <p:nvPr/>
          </p:nvSpPr>
          <p:spPr>
            <a:xfrm>
              <a:off x="6770685" y="2003643"/>
              <a:ext cx="500369" cy="422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Segoe UI"/>
                  <a:ea typeface="微软雅黑"/>
                  <a:cs typeface="+mn-cs"/>
                </a:rPr>
                <a:t>②</a:t>
              </a:r>
              <a:endPara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1" name="文本框 22">
              <a:extLst>
                <a:ext uri="{FF2B5EF4-FFF2-40B4-BE49-F238E27FC236}">
                  <a16:creationId xmlns:a16="http://schemas.microsoft.com/office/drawing/2014/main" id="{CB0E62EA-486F-8B11-D832-0C40CA981C37}"/>
                </a:ext>
              </a:extLst>
            </p:cNvPr>
            <p:cNvSpPr txBox="1"/>
            <p:nvPr/>
          </p:nvSpPr>
          <p:spPr>
            <a:xfrm>
              <a:off x="7368965" y="2304387"/>
              <a:ext cx="500369" cy="422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Segoe UI"/>
                  <a:ea typeface="微软雅黑"/>
                  <a:cs typeface="+mn-cs"/>
                </a:rPr>
                <a:t>③</a:t>
              </a:r>
              <a:endPara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2" name="文本框 23">
              <a:extLst>
                <a:ext uri="{FF2B5EF4-FFF2-40B4-BE49-F238E27FC236}">
                  <a16:creationId xmlns:a16="http://schemas.microsoft.com/office/drawing/2014/main" id="{4FA3B95E-A2D7-E3E8-8836-64487C086BF6}"/>
                </a:ext>
              </a:extLst>
            </p:cNvPr>
            <p:cNvSpPr txBox="1"/>
            <p:nvPr/>
          </p:nvSpPr>
          <p:spPr>
            <a:xfrm>
              <a:off x="7542658" y="2688138"/>
              <a:ext cx="500369" cy="422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Segoe UI"/>
                  <a:ea typeface="微软雅黑"/>
                  <a:cs typeface="+mn-cs"/>
                </a:rPr>
                <a:t>④</a:t>
              </a:r>
              <a:endPara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3" name="文本框 24">
              <a:extLst>
                <a:ext uri="{FF2B5EF4-FFF2-40B4-BE49-F238E27FC236}">
                  <a16:creationId xmlns:a16="http://schemas.microsoft.com/office/drawing/2014/main" id="{863CFCA6-B803-AE88-942B-1B13D33BB5EC}"/>
                </a:ext>
              </a:extLst>
            </p:cNvPr>
            <p:cNvSpPr txBox="1"/>
            <p:nvPr/>
          </p:nvSpPr>
          <p:spPr>
            <a:xfrm>
              <a:off x="6382269" y="3178855"/>
              <a:ext cx="500369" cy="422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Segoe UI"/>
                  <a:ea typeface="微软雅黑"/>
                  <a:cs typeface="+mn-cs"/>
                </a:rPr>
                <a:t>⑤</a:t>
              </a:r>
              <a:endPara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4" name="文本框 25">
              <a:extLst>
                <a:ext uri="{FF2B5EF4-FFF2-40B4-BE49-F238E27FC236}">
                  <a16:creationId xmlns:a16="http://schemas.microsoft.com/office/drawing/2014/main" id="{2DD9B081-093C-0A32-B00F-258018CC5697}"/>
                </a:ext>
              </a:extLst>
            </p:cNvPr>
            <p:cNvSpPr txBox="1"/>
            <p:nvPr/>
          </p:nvSpPr>
          <p:spPr>
            <a:xfrm>
              <a:off x="6904270" y="3868860"/>
              <a:ext cx="500369" cy="422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Segoe UI"/>
                  <a:ea typeface="微软雅黑"/>
                  <a:cs typeface="+mn-cs"/>
                </a:rPr>
                <a:t>⑥</a:t>
              </a:r>
              <a:endPara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5" name="文本框 26">
              <a:extLst>
                <a:ext uri="{FF2B5EF4-FFF2-40B4-BE49-F238E27FC236}">
                  <a16:creationId xmlns:a16="http://schemas.microsoft.com/office/drawing/2014/main" id="{927F2603-0067-CAF3-F3C4-EDB30D529AAA}"/>
                </a:ext>
              </a:extLst>
            </p:cNvPr>
            <p:cNvSpPr txBox="1"/>
            <p:nvPr/>
          </p:nvSpPr>
          <p:spPr>
            <a:xfrm>
              <a:off x="6806759" y="4732297"/>
              <a:ext cx="500369" cy="422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Segoe UI"/>
                  <a:ea typeface="微软雅黑"/>
                  <a:cs typeface="+mn-cs"/>
                </a:rPr>
                <a:t>⑦</a:t>
              </a:r>
              <a:endPara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6" name="文本框 27">
              <a:extLst>
                <a:ext uri="{FF2B5EF4-FFF2-40B4-BE49-F238E27FC236}">
                  <a16:creationId xmlns:a16="http://schemas.microsoft.com/office/drawing/2014/main" id="{D6CAF8C8-311C-9F30-C74E-21DBCEEE2826}"/>
                </a:ext>
              </a:extLst>
            </p:cNvPr>
            <p:cNvSpPr txBox="1"/>
            <p:nvPr/>
          </p:nvSpPr>
          <p:spPr>
            <a:xfrm>
              <a:off x="5705881" y="5335416"/>
              <a:ext cx="500369" cy="422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Segoe UI"/>
                  <a:ea typeface="微软雅黑"/>
                  <a:cs typeface="+mn-cs"/>
                </a:rPr>
                <a:t>⑧</a:t>
              </a:r>
              <a:endPara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33C055BE-4142-84A0-77FC-DF8072A9A8A9}"/>
              </a:ext>
            </a:extLst>
          </p:cNvPr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硬件</a:t>
            </a: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</a:t>
            </a: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爆炸图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B2F9255A-7D48-2EB5-DA27-449923622EC3}"/>
              </a:ext>
            </a:extLst>
          </p:cNvPr>
          <p:cNvGraphicFramePr>
            <a:graphicFrameLocks noGrp="1"/>
          </p:cNvGraphicFramePr>
          <p:nvPr/>
        </p:nvGraphicFramePr>
        <p:xfrm>
          <a:off x="6879771" y="1628787"/>
          <a:ext cx="4026104" cy="3600428"/>
        </p:xfrm>
        <a:graphic>
          <a:graphicData uri="http://schemas.openxmlformats.org/drawingml/2006/table">
            <a:tbl>
              <a:tblPr/>
              <a:tblGrid>
                <a:gridCol w="1110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5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11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Item</a:t>
                      </a:r>
                      <a:r>
                        <a:rPr lang="zh-CN" altLang="en-US" sz="1200" b="1" kern="12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200" b="1" kern="12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No.</a:t>
                      </a:r>
                      <a:endParaRPr lang="zh-CN" altLang="en-US" sz="1200" b="1" kern="12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altLang="zh-CN" sz="1200" b="1" kern="12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Item</a:t>
                      </a:r>
                      <a:r>
                        <a:rPr lang="zh-CN" altLang="en-US" sz="1200" b="1" kern="12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altLang="zh-CN" sz="1200" b="1" kern="12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Name</a:t>
                      </a:r>
                      <a:endParaRPr lang="zh-CN" altLang="en-US" sz="1200" b="1" kern="1200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marL="45804" marR="45804" marT="22902" marB="2290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303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defRPr/>
                      </a:pPr>
                      <a:r>
                        <a:rPr lang="en-US" altLang="zh-CN" sz="1200" b="1" baseline="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1200" dirty="0"/>
                        <a:t>水冷板流道盖板</a:t>
                      </a:r>
                    </a:p>
                  </a:txBody>
                  <a:tcPr marL="45804" marR="45804" marT="22902" marB="2290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955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Font typeface="+mj-lt"/>
                        <a:buNone/>
                      </a:pPr>
                      <a:r>
                        <a:rPr kumimoji="1" lang="en-US" altLang="zh-CN" sz="1200" b="1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ea"/>
                          <a:sym typeface="+mn-lt"/>
                        </a:rPr>
                        <a:t>2</a:t>
                      </a:r>
                      <a:endParaRPr lang="zh-CN" altLang="en-US" sz="1200" b="1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1200" dirty="0"/>
                        <a:t>水冷板主壳体</a:t>
                      </a:r>
                    </a:p>
                  </a:txBody>
                  <a:tcPr marL="45804" marR="45804" marT="22902" marB="2290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955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Font typeface="+mj-lt"/>
                        <a:buNone/>
                      </a:pPr>
                      <a:r>
                        <a:rPr lang="en-US" altLang="zh-CN" sz="12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lang="zh-CN" altLang="en-US" sz="1200" b="1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1200" dirty="0"/>
                        <a:t>螺钉</a:t>
                      </a:r>
                      <a:r>
                        <a:rPr lang="en-US" altLang="zh-CN" sz="1200" dirty="0"/>
                        <a:t>M2.5*6</a:t>
                      </a:r>
                      <a:endParaRPr lang="zh-CN" altLang="en-US" sz="1200" dirty="0"/>
                    </a:p>
                  </a:txBody>
                  <a:tcPr marL="45804" marR="45804" marT="22902" marB="2290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277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Font typeface="+mj-lt"/>
                        <a:buNone/>
                      </a:pPr>
                      <a:r>
                        <a:rPr lang="en-US" altLang="zh-CN" sz="12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endParaRPr lang="zh-CN" altLang="en-US" sz="1200" b="1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1200" dirty="0"/>
                        <a:t>SSD</a:t>
                      </a:r>
                      <a:r>
                        <a:rPr lang="zh-CN" altLang="en-US" sz="1200" dirty="0"/>
                        <a:t>盖板（与水冷板一起来料）</a:t>
                      </a:r>
                    </a:p>
                  </a:txBody>
                  <a:tcPr marL="45804" marR="45804" marT="22902" marB="2290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955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Font typeface="+mj-lt"/>
                        <a:buNone/>
                      </a:pPr>
                      <a:r>
                        <a:rPr lang="en-US" altLang="zh-CN" sz="12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endParaRPr lang="zh-CN" altLang="en-US" sz="1200" b="1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US" altLang="zh-CN" sz="1200" dirty="0"/>
                        <a:t>SOC</a:t>
                      </a:r>
                      <a:r>
                        <a:rPr lang="zh-CN" altLang="en-US" sz="1200" dirty="0"/>
                        <a:t>扣板</a:t>
                      </a:r>
                      <a:r>
                        <a:rPr lang="en-US" altLang="zh-CN" sz="1200" dirty="0"/>
                        <a:t>PCBA</a:t>
                      </a:r>
                      <a:endParaRPr lang="zh-CN" altLang="en-US" sz="1200" dirty="0"/>
                    </a:p>
                  </a:txBody>
                  <a:tcPr marL="45804" marR="45804" marT="22902" marB="2290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955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Font typeface="+mj-lt"/>
                        <a:buNone/>
                      </a:pPr>
                      <a:r>
                        <a:rPr lang="en-US" altLang="zh-CN" sz="12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  <a:endParaRPr lang="zh-CN" altLang="en-US" sz="1200" b="1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1200" dirty="0"/>
                        <a:t>底板</a:t>
                      </a:r>
                      <a:r>
                        <a:rPr lang="en-US" altLang="zh-CN" sz="1200" dirty="0"/>
                        <a:t>PCBA</a:t>
                      </a:r>
                      <a:endParaRPr lang="zh-CN" altLang="en-US" sz="1200" dirty="0"/>
                    </a:p>
                  </a:txBody>
                  <a:tcPr marL="45804" marR="45804" marT="22902" marB="2290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955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Font typeface="+mj-lt"/>
                        <a:buNone/>
                      </a:pPr>
                      <a:r>
                        <a:rPr lang="en-US" altLang="zh-CN" sz="12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</a:t>
                      </a:r>
                      <a:endParaRPr lang="zh-CN" altLang="en-US" sz="1200" b="1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1200" dirty="0"/>
                        <a:t>底壳</a:t>
                      </a:r>
                    </a:p>
                  </a:txBody>
                  <a:tcPr marL="45804" marR="45804" marT="22902" marB="2290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955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Font typeface="+mj-lt"/>
                        <a:buNone/>
                      </a:pPr>
                      <a:r>
                        <a:rPr lang="en-US" altLang="zh-CN" sz="12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</a:t>
                      </a:r>
                      <a:endParaRPr lang="zh-CN" altLang="en-US" sz="1200" b="1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45804" marR="45804" marT="22902" marB="229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defRPr/>
                      </a:pPr>
                      <a:r>
                        <a:rPr lang="zh-CN" altLang="en-US" sz="1200" dirty="0"/>
                        <a:t>螺钉</a:t>
                      </a:r>
                      <a:r>
                        <a:rPr lang="en-US" altLang="zh-CN" sz="1200" dirty="0"/>
                        <a:t>M3*10</a:t>
                      </a:r>
                      <a:endParaRPr lang="zh-CN" altLang="en-US" sz="1200" dirty="0"/>
                    </a:p>
                  </a:txBody>
                  <a:tcPr marL="45804" marR="45804" marT="22902" marB="2290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88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012F09-4668-FD3E-91F5-DD302FF28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4571A7-0608-4CA0-91C4-DD76FEAC2393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2025/6/12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5D0D08-E4D3-0991-7D07-DB6DF5983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Horizon Continental Technology Shanghai Co., Ltd -  Confidential Information Under NDA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9F65AE-B19F-41E1-04CB-AAF6B3D49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13275-6251-4C40-AFE1-85D85DA07171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55D109-EBDA-247C-13EA-4AB05AAB8BB3}"/>
              </a:ext>
            </a:extLst>
          </p:cNvPr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硬件</a:t>
            </a: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</a:t>
            </a: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连接器清单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1E977272-8876-3FFA-D94E-ACA5E0792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475" y="1124901"/>
            <a:ext cx="7001050" cy="1581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16AD008-F92C-BA83-27E9-FFF4EBC8208B}"/>
              </a:ext>
            </a:extLst>
          </p:cNvPr>
          <p:cNvGraphicFramePr>
            <a:graphicFrameLocks noGrp="1"/>
          </p:cNvGraphicFramePr>
          <p:nvPr/>
        </p:nvGraphicFramePr>
        <p:xfrm>
          <a:off x="708590" y="2786967"/>
          <a:ext cx="10774820" cy="3697737"/>
        </p:xfrm>
        <a:graphic>
          <a:graphicData uri="http://schemas.openxmlformats.org/drawingml/2006/table">
            <a:tbl>
              <a:tblPr/>
              <a:tblGrid>
                <a:gridCol w="946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9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0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7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9003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序号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接口名称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接口描述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零件号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供应商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460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+mj-ea"/>
                          <a:ea typeface="+mj-ea"/>
                        </a:rPr>
                        <a:t>J1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低速信号连接器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>
                          <a:effectLst/>
                          <a:latin typeface="+mj-ea"/>
                          <a:ea typeface="+mj-ea"/>
                        </a:rPr>
                        <a:t>提供</a:t>
                      </a:r>
                      <a:r>
                        <a:rPr lang="en-US" altLang="zh-CN" sz="1050" kern="100">
                          <a:effectLst/>
                          <a:latin typeface="+mj-ea"/>
                          <a:ea typeface="+mj-ea"/>
                        </a:rPr>
                        <a:t>CANFD</a:t>
                      </a:r>
                      <a:r>
                        <a:rPr lang="zh-CN" altLang="en-US" sz="1050" kern="100">
                          <a:effectLst/>
                          <a:latin typeface="+mj-ea"/>
                          <a:ea typeface="+mj-ea"/>
                        </a:rPr>
                        <a:t>、</a:t>
                      </a:r>
                      <a:r>
                        <a:rPr lang="en-US" altLang="zh-CN" sz="1050" kern="100">
                          <a:effectLst/>
                          <a:latin typeface="+mj-ea"/>
                          <a:ea typeface="+mj-ea"/>
                        </a:rPr>
                        <a:t>KL30</a:t>
                      </a:r>
                      <a:r>
                        <a:rPr lang="zh-CN" altLang="en-US" sz="1050" kern="100">
                          <a:effectLst/>
                          <a:latin typeface="+mj-ea"/>
                          <a:ea typeface="+mj-ea"/>
                        </a:rPr>
                        <a:t>、</a:t>
                      </a:r>
                      <a:r>
                        <a:rPr lang="en-US" altLang="zh-CN" sz="1050" kern="100">
                          <a:effectLst/>
                          <a:latin typeface="+mj-ea"/>
                          <a:ea typeface="+mj-ea"/>
                        </a:rPr>
                        <a:t>KL15</a:t>
                      </a:r>
                      <a:r>
                        <a:rPr lang="zh-CN" altLang="en-US" sz="1050" kern="100">
                          <a:effectLst/>
                          <a:latin typeface="+mj-ea"/>
                          <a:ea typeface="+mj-ea"/>
                        </a:rPr>
                        <a:t>等接口，连接车身通信、毫米波雷达等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板端连接器型号：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2418384-5</a:t>
                      </a: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，黑色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TE</a:t>
                      </a:r>
                      <a:endParaRPr 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460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+mj-ea"/>
                          <a:ea typeface="+mj-ea"/>
                        </a:rPr>
                        <a:t>J2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低速信号连接器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提供</a:t>
                      </a: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USS</a:t>
                      </a: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、</a:t>
                      </a: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GPIO</a:t>
                      </a: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等接口，连接超声波雷达、激光雷达唤醒等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板端连接器型号：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2418384-6</a:t>
                      </a: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，白色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TE</a:t>
                      </a:r>
                      <a:endParaRPr lang="en-US" sz="1050" kern="100"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460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+mj-ea"/>
                          <a:ea typeface="+mj-ea"/>
                        </a:rPr>
                        <a:t>J5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视频连接器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zh-CN" alt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路</a:t>
                      </a:r>
                      <a:r>
                        <a:rPr lang="zh-CN" altLang="en-US" sz="1050" b="1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前视双目相机</a:t>
                      </a:r>
                      <a:r>
                        <a:rPr lang="zh-CN" alt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接入信号，</a:t>
                      </a:r>
                      <a:r>
                        <a:rPr lang="en-US" altLang="zh-CN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zh-CN" alt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路</a:t>
                      </a:r>
                      <a:r>
                        <a:rPr lang="zh-CN" altLang="en-US" sz="1050" b="1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后视</a:t>
                      </a:r>
                      <a:r>
                        <a:rPr lang="zh-CN" alt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相机接入信号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板端连接器型号：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818037374</a:t>
                      </a: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（</a:t>
                      </a: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Code B</a:t>
                      </a: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），白色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电连技术股份有限公司</a:t>
                      </a:r>
                      <a:endParaRPr lang="zh-CN" altLang="en-US" sz="1050" kern="100"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917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+mj-ea"/>
                          <a:ea typeface="+mj-ea"/>
                        </a:rPr>
                        <a:t>J7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视频连接器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lang="zh-CN" alt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路</a:t>
                      </a:r>
                      <a:r>
                        <a:rPr lang="zh-CN" altLang="en-US" sz="1050" b="1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侧视相机</a:t>
                      </a:r>
                      <a:r>
                        <a:rPr lang="zh-CN" alt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接入信号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板端连接器型号</a:t>
                      </a: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: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818037376</a:t>
                      </a: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（</a:t>
                      </a: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Code D</a:t>
                      </a: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），枣红色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电连技术股份有限公司</a:t>
                      </a:r>
                      <a:endParaRPr lang="zh-CN" altLang="en-US" sz="1050" kern="100"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460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+mj-ea"/>
                          <a:ea typeface="+mj-ea"/>
                        </a:rPr>
                        <a:t>J4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视频连接器</a:t>
                      </a:r>
                      <a:endParaRPr lang="zh-CN" altLang="en-US" sz="105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lang="zh-CN" alt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路</a:t>
                      </a:r>
                      <a:r>
                        <a:rPr lang="zh-CN" altLang="en-US" sz="1050" b="1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环视相机</a:t>
                      </a:r>
                      <a:r>
                        <a:rPr lang="zh-CN" alt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接入信号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板端连接器型号</a:t>
                      </a: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: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818037373</a:t>
                      </a: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（</a:t>
                      </a: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Code A)</a:t>
                      </a: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，黑色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电连技术股份有限公司</a:t>
                      </a:r>
                      <a:endParaRPr lang="zh-CN" altLang="en-US" sz="1050" kern="100"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460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+mj-ea"/>
                          <a:ea typeface="+mj-ea"/>
                        </a:rPr>
                        <a:t>J6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视频连接器</a:t>
                      </a:r>
                      <a:endParaRPr lang="zh-CN" altLang="en-US" sz="105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zh-CN" alt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路环视相机输出信号接</a:t>
                      </a:r>
                      <a:r>
                        <a:rPr lang="en-US" altLang="zh-CN" sz="1050" kern="1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iTHU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板端连接器型号</a:t>
                      </a: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: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818037375</a:t>
                      </a: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（</a:t>
                      </a: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Code C)</a:t>
                      </a: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，蓝色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电连技术股份有限公司</a:t>
                      </a:r>
                      <a:endParaRPr lang="zh-CN" altLang="en-US" sz="1050" kern="100"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460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+mj-ea"/>
                          <a:ea typeface="+mj-ea"/>
                        </a:rPr>
                        <a:t>J3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以太网连接器</a:t>
                      </a:r>
                      <a:endParaRPr lang="zh-CN" altLang="en-US" sz="105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6</a:t>
                      </a: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路以太网接口，</a:t>
                      </a: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对接网关、</a:t>
                      </a: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对接座舱</a:t>
                      </a:r>
                      <a:r>
                        <a:rPr lang="en-US" altLang="zh-CN" sz="1050" kern="100" dirty="0" err="1">
                          <a:effectLst/>
                          <a:latin typeface="+mj-ea"/>
                          <a:ea typeface="+mj-ea"/>
                        </a:rPr>
                        <a:t>iTHU</a:t>
                      </a:r>
                      <a:r>
                        <a:rPr lang="zh-CN" alt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、</a:t>
                      </a:r>
                      <a:r>
                        <a:rPr lang="en-US" altLang="zh-CN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  <a:r>
                        <a:rPr lang="zh-CN" alt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对接激光雷达、</a:t>
                      </a:r>
                      <a:r>
                        <a:rPr lang="en-US" altLang="zh-CN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  <a:r>
                        <a:rPr lang="zh-CN" alt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对接前毫米波雷达、</a:t>
                      </a:r>
                      <a:r>
                        <a:rPr lang="en-US" altLang="zh-CN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1/4</a:t>
                      </a:r>
                      <a:r>
                        <a:rPr lang="zh-CN" alt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预留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板端连接器型号</a:t>
                      </a: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: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E6S20F-40MT5-A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Rosenberger</a:t>
                      </a:r>
                      <a:endParaRPr 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460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+mj-ea"/>
                          <a:ea typeface="+mj-ea"/>
                        </a:rPr>
                        <a:t>J9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天线连接器</a:t>
                      </a:r>
                      <a:endParaRPr lang="zh-CN" altLang="en-US" sz="1050" kern="10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GNSS</a:t>
                      </a:r>
                      <a:r>
                        <a:rPr lang="zh-CN" altLang="en-US" sz="1050" kern="1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天线接口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板端连接器型号</a:t>
                      </a: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: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﻿﻿818016081</a:t>
                      </a: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（</a:t>
                      </a:r>
                      <a:r>
                        <a:rPr lang="en-US" altLang="zh-CN" sz="1050" kern="100" dirty="0">
                          <a:effectLst/>
                          <a:latin typeface="+mj-ea"/>
                          <a:ea typeface="+mj-ea"/>
                        </a:rPr>
                        <a:t>Code A)</a:t>
                      </a: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</a:rPr>
                        <a:t>，黑色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电连技术股份有限公司</a:t>
                      </a:r>
                      <a:endParaRPr lang="zh-CN" altLang="en-US" sz="105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7312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ADCB1132-CA67-45DD-AF47-77459790208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95" imgH="394" progId="TCLayout.ActiveDocument.1">
                  <p:embed/>
                </p:oleObj>
              </mc:Choice>
              <mc:Fallback>
                <p:oleObj name="think-cell 幻灯片" r:id="rId3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DCB1132-CA67-45DD-AF47-7745979020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A49AA92-4D67-26E6-3236-46B9E768F6B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4512265" cy="1643117"/>
        </p:xfrm>
        <a:graphic>
          <a:graphicData uri="http://schemas.openxmlformats.org/drawingml/2006/table">
            <a:tbl>
              <a:tblPr/>
              <a:tblGrid>
                <a:gridCol w="2217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3117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i="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电器端</a:t>
                      </a:r>
                      <a:endParaRPr lang="zh-CN" altLang="en-US" sz="105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05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1333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kern="100" dirty="0">
                          <a:effectLst/>
                          <a:latin typeface="+mn-ea"/>
                          <a:ea typeface="+mn-ea"/>
                        </a:rPr>
                        <a:t> 线束端</a:t>
                      </a: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57ED11-C414-0413-23F4-F23C9F603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4571A7-0608-4CA0-91C4-DD76FEAC2393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2025/6/12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73944A-207B-5F66-BA2B-822CDBB9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Horizon Continental Technology Shanghai Co., Ltd -  Confidential Information Under NDA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EDDB61-15F5-B8B0-EC7F-51F10BFD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13275-6251-4C40-AFE1-85D85DA07171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938076B7-945B-08AC-BA35-A63AEC3998D7}"/>
              </a:ext>
            </a:extLst>
          </p:cNvPr>
          <p:cNvSpPr txBox="1"/>
          <p:nvPr/>
        </p:nvSpPr>
        <p:spPr>
          <a:xfrm>
            <a:off x="769620" y="3819555"/>
            <a:ext cx="4712793" cy="1157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型号：</a:t>
            </a:r>
            <a:r>
              <a:rPr kumimoji="0" lang="en-US" altLang="zh-CN" sz="1200" b="0" i="0" u="none" strike="noStrike" kern="100" cap="none" spc="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2418384-5</a:t>
            </a:r>
            <a:r>
              <a:rPr kumimoji="0" lang="zh-CN" altLang="en-US" sz="1200" b="0" i="0" u="none" strike="noStrike" kern="100" cap="none" spc="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，黑色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数量：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个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/>
              <a:ea typeface="微软雅黑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Spec Rating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1.Maximun rating current: power pin 20A</a:t>
            </a: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BF723733-A5C4-A81A-544E-23692163D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663" y="1898397"/>
            <a:ext cx="1252373" cy="131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72F5F1A5-B671-A3CA-5D7F-EBACB9ACA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022" y="1922380"/>
            <a:ext cx="1413745" cy="1270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34E36BE-CA71-85EE-F5E9-50C400E81C86}"/>
              </a:ext>
            </a:extLst>
          </p:cNvPr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硬件</a:t>
            </a: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</a:t>
            </a: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主连接器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6A8C450F-A2F9-0688-AFB9-B6C65334ECE7}"/>
              </a:ext>
            </a:extLst>
          </p:cNvPr>
          <p:cNvGraphicFramePr>
            <a:graphicFrameLocks noGrp="1"/>
          </p:cNvGraphicFramePr>
          <p:nvPr/>
        </p:nvGraphicFramePr>
        <p:xfrm>
          <a:off x="5725430" y="1059007"/>
          <a:ext cx="6121130" cy="5311936"/>
        </p:xfrm>
        <a:graphic>
          <a:graphicData uri="http://schemas.openxmlformats.org/drawingml/2006/table">
            <a:tbl>
              <a:tblPr/>
              <a:tblGrid>
                <a:gridCol w="1269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9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21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5998">
                <a:tc gridSpan="4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zh-CN" altLang="en-US" sz="800" u="none" strike="noStrike">
                          <a:effectLst/>
                        </a:rPr>
                        <a:t>连接器</a:t>
                      </a:r>
                      <a:r>
                        <a:rPr lang="en-US" altLang="zh-CN" sz="800" u="none" strike="noStrike">
                          <a:effectLst/>
                        </a:rPr>
                        <a:t>1-</a:t>
                      </a:r>
                      <a:r>
                        <a:rPr lang="zh-CN" altLang="en-US" sz="800" u="none" strike="noStrike">
                          <a:effectLst/>
                        </a:rPr>
                        <a:t>低速信号连接器  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管脚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功能描述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信号类型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推荐线束走向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Pin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Function description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Signal definition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Go To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CAN_1_H,</a:t>
                      </a:r>
                      <a:r>
                        <a:rPr lang="zh-CN" altLang="en-US" sz="800" u="none" strike="noStrike" dirty="0">
                          <a:effectLst/>
                        </a:rPr>
                        <a:t>带唤醒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ADASA CAN，</a:t>
                      </a:r>
                      <a:r>
                        <a:rPr lang="zh-CN" altLang="en-US" sz="800" u="none" strike="noStrike">
                          <a:effectLst/>
                        </a:rPr>
                        <a:t>带唤醒</a:t>
                      </a:r>
                      <a:r>
                        <a:rPr lang="en-US" sz="800" u="none" strike="noStrike">
                          <a:effectLst/>
                        </a:rPr>
                        <a:t>CAN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CAN_1_L,</a:t>
                      </a:r>
                      <a:r>
                        <a:rPr lang="zh-CN" altLang="en-US" sz="800" u="none" strike="noStrike">
                          <a:effectLst/>
                        </a:rPr>
                        <a:t>带唤醒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ADASA CAN，</a:t>
                      </a:r>
                      <a:r>
                        <a:rPr lang="zh-CN" altLang="en-US" sz="800" u="none" strike="noStrike">
                          <a:effectLst/>
                        </a:rPr>
                        <a:t>带唤醒</a:t>
                      </a:r>
                      <a:r>
                        <a:rPr lang="en-US" sz="800" u="none" strike="noStrike">
                          <a:effectLst/>
                        </a:rPr>
                        <a:t>CAN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3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4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5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CAN_3_H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FRM</a:t>
                      </a:r>
                      <a:r>
                        <a:rPr lang="zh-CN" altLang="en-US" sz="800" u="none" strike="noStrike">
                          <a:effectLst/>
                        </a:rPr>
                        <a:t>前</a:t>
                      </a:r>
                      <a:r>
                        <a:rPr lang="en-US" sz="800" u="none" strike="noStrike">
                          <a:effectLst/>
                        </a:rPr>
                        <a:t>RADAR CAN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6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CAN_3_L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FRM</a:t>
                      </a:r>
                      <a:r>
                        <a:rPr lang="zh-CN" altLang="en-US" sz="800" u="none" strike="noStrike">
                          <a:effectLst/>
                        </a:rPr>
                        <a:t>前</a:t>
                      </a:r>
                      <a:r>
                        <a:rPr lang="en-US" sz="800" u="none" strike="noStrike">
                          <a:effectLst/>
                        </a:rPr>
                        <a:t>RADAR CAN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7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8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9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10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11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12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CAN_6_H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RLRM</a:t>
                      </a:r>
                      <a:r>
                        <a:rPr lang="zh-CN" altLang="en-US" sz="800" u="none" strike="noStrike" dirty="0">
                          <a:effectLst/>
                        </a:rPr>
                        <a:t>左后</a:t>
                      </a:r>
                      <a:r>
                        <a:rPr lang="en-US" sz="800" u="none" strike="noStrike" dirty="0">
                          <a:effectLst/>
                        </a:rPr>
                        <a:t>RADAR CAN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13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CAN_6_L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sz="800" u="none" strike="noStrike">
                          <a:effectLst/>
                        </a:rPr>
                        <a:t>RLRM</a:t>
                      </a:r>
                      <a:r>
                        <a:rPr lang="zh-CN" altLang="en-US" sz="800" u="none" strike="noStrike">
                          <a:effectLst/>
                        </a:rPr>
                        <a:t>左后</a:t>
                      </a:r>
                      <a:r>
                        <a:rPr lang="en-US" sz="800" u="none" strike="noStrike">
                          <a:effectLst/>
                        </a:rPr>
                        <a:t>RADAR CAN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14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15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CAN_7_H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RRRM</a:t>
                      </a:r>
                      <a:r>
                        <a:rPr lang="zh-CN" altLang="en-US" sz="800" u="none" strike="noStrike">
                          <a:effectLst/>
                        </a:rPr>
                        <a:t>右后</a:t>
                      </a:r>
                      <a:r>
                        <a:rPr lang="en-US" sz="800" u="none" strike="noStrike">
                          <a:effectLst/>
                        </a:rPr>
                        <a:t>RADAR CAN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16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CAN_7_L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CAN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sz="800" u="none" strike="noStrike">
                          <a:effectLst/>
                        </a:rPr>
                        <a:t>RRRM</a:t>
                      </a:r>
                      <a:r>
                        <a:rPr lang="zh-CN" altLang="en-US" sz="800" u="none" strike="noStrike">
                          <a:effectLst/>
                        </a:rPr>
                        <a:t>右后</a:t>
                      </a:r>
                      <a:r>
                        <a:rPr lang="en-US" sz="800" u="none" strike="noStrike">
                          <a:effectLst/>
                        </a:rPr>
                        <a:t>RADAR CAN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17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18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 dirty="0">
                          <a:effectLst/>
                        </a:rPr>
                        <a:t>19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KL15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 dirty="0">
                          <a:effectLst/>
                        </a:rPr>
                        <a:t>硬线唤醒信号输入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u="none" strike="noStrike" dirty="0">
                          <a:effectLst/>
                        </a:rPr>
                        <a:t>/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20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21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22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BAT_VCC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KL30</a:t>
                      </a:r>
                      <a:r>
                        <a:rPr lang="zh-CN" altLang="en-US" sz="800" u="none" strike="noStrike">
                          <a:effectLst/>
                        </a:rPr>
                        <a:t>常电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电源配电盒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23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BAT_VCC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KL30</a:t>
                      </a:r>
                      <a:r>
                        <a:rPr lang="zh-CN" altLang="en-US" sz="800" u="none" strike="noStrike">
                          <a:effectLst/>
                        </a:rPr>
                        <a:t>常电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电源配电盒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24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BAT_GND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电源地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车体接地点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25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BAT_GND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电源地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车体接地点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26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BAT_VCC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KL30</a:t>
                      </a:r>
                      <a:r>
                        <a:rPr lang="zh-CN" altLang="en-US" sz="800" u="none" strike="noStrike">
                          <a:effectLst/>
                        </a:rPr>
                        <a:t>常电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电源配电盒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27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BAT_VCC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KL30</a:t>
                      </a:r>
                      <a:r>
                        <a:rPr lang="zh-CN" altLang="en-US" sz="800" u="none" strike="noStrike">
                          <a:effectLst/>
                        </a:rPr>
                        <a:t>常电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电源配电盒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28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BAT_GND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电源地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车体接地点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6599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29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BAT_GND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电源地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 dirty="0">
                          <a:effectLst/>
                        </a:rPr>
                        <a:t>车体接地点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3691" marR="3691" marT="3691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058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666F0F90-31B2-A62E-E8C0-AD7E5C837A6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95" imgH="394" progId="TCLayout.ActiveDocument.1">
                  <p:embed/>
                </p:oleObj>
              </mc:Choice>
              <mc:Fallback>
                <p:oleObj name="think-cell 幻灯片" r:id="rId3" imgW="395" imgH="394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66F0F90-31B2-A62E-E8C0-AD7E5C837A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7DFD7418-3C22-B0DD-28F4-7C38457961A1}"/>
              </a:ext>
            </a:extLst>
          </p:cNvPr>
          <p:cNvGraphicFramePr>
            <a:graphicFrameLocks noGrp="1"/>
          </p:cNvGraphicFramePr>
          <p:nvPr/>
        </p:nvGraphicFramePr>
        <p:xfrm>
          <a:off x="828403" y="1383434"/>
          <a:ext cx="4512265" cy="2186132"/>
        </p:xfrm>
        <a:graphic>
          <a:graphicData uri="http://schemas.openxmlformats.org/drawingml/2006/table">
            <a:tbl>
              <a:tblPr/>
              <a:tblGrid>
                <a:gridCol w="2217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86132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1000" i="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电器端</a:t>
                      </a: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1333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 线束端</a:t>
                      </a: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926F66-0251-F973-9696-21F739A1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4571A7-0608-4CA0-91C4-DD76FEAC2393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2025/6/12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62B117-20A9-19E4-31EC-23C800BA1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Horizon Continental Technology Shanghai Co., Ltd -  Confidential Information Under NDA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A85859-BE6A-470D-3716-F5DBD568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13275-6251-4C40-AFE1-85D85DA07171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3FFEEF-77F3-6E57-F1E9-14AC1FBE355E}"/>
              </a:ext>
            </a:extLst>
          </p:cNvPr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硬件</a:t>
            </a: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</a:t>
            </a: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主连接器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D176F757-7348-24FE-33A8-A26940CAB845}"/>
              </a:ext>
            </a:extLst>
          </p:cNvPr>
          <p:cNvSpPr txBox="1"/>
          <p:nvPr/>
        </p:nvSpPr>
        <p:spPr>
          <a:xfrm>
            <a:off x="828403" y="3894542"/>
            <a:ext cx="4712793" cy="674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型号：</a:t>
            </a:r>
            <a:r>
              <a:rPr kumimoji="0" lang="en-US" altLang="zh-CN" sz="1200" b="0" i="0" u="none" strike="noStrike" kern="100" cap="none" spc="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2418384-6</a:t>
            </a:r>
            <a:r>
              <a:rPr kumimoji="0" lang="zh-CN" altLang="en-US" sz="1200" b="0" i="0" u="none" strike="noStrike" kern="100" cap="none" spc="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，白色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数量：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个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/>
              <a:ea typeface="微软雅黑"/>
              <a:cs typeface="Arial" panose="020B0604020202020204" pitchFamily="34" charset="0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7A58BC93-80CE-3A6D-F9D4-BECFFC0E8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594" y="1708444"/>
            <a:ext cx="1648845" cy="1475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497438CC-359F-2C21-DF6D-53EBA8E10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356" y="1578429"/>
            <a:ext cx="1648846" cy="1735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C8D95D9-7922-047F-D6F7-193716A485CE}"/>
              </a:ext>
            </a:extLst>
          </p:cNvPr>
          <p:cNvGraphicFramePr>
            <a:graphicFrameLocks noGrp="1"/>
          </p:cNvGraphicFramePr>
          <p:nvPr/>
        </p:nvGraphicFramePr>
        <p:xfrm>
          <a:off x="5606621" y="1110343"/>
          <a:ext cx="6138339" cy="5260629"/>
        </p:xfrm>
        <a:graphic>
          <a:graphicData uri="http://schemas.openxmlformats.org/drawingml/2006/table">
            <a:tbl>
              <a:tblPr/>
              <a:tblGrid>
                <a:gridCol w="1223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1401">
                <a:tc gridSpan="4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zh-CN" altLang="en-US" sz="800" u="none" strike="noStrike" dirty="0">
                          <a:effectLst/>
                        </a:rPr>
                        <a:t>连接器</a:t>
                      </a:r>
                      <a:r>
                        <a:rPr lang="en-US" altLang="zh-CN" sz="800" u="none" strike="noStrike" dirty="0">
                          <a:effectLst/>
                        </a:rPr>
                        <a:t>1-</a:t>
                      </a:r>
                      <a:r>
                        <a:rPr lang="zh-CN" altLang="en-US" sz="800" u="none" strike="noStrike" dirty="0">
                          <a:effectLst/>
                        </a:rPr>
                        <a:t>低速信号连接器  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管脚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 dirty="0">
                          <a:effectLst/>
                        </a:rPr>
                        <a:t>功能描述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信号类型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推荐线束走向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Pin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Function description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Signal definition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Go To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USS1(FLS)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DSI3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USSFLS</a:t>
                      </a:r>
                      <a:r>
                        <a:rPr lang="zh-CN" altLang="en-US" sz="800" u="none" strike="noStrike">
                          <a:effectLst/>
                        </a:rPr>
                        <a:t>（左侧前长）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USS2(FL)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DSI3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USSFL（</a:t>
                      </a:r>
                      <a:r>
                        <a:rPr lang="zh-CN" altLang="en-US" sz="800" u="none" strike="noStrike">
                          <a:effectLst/>
                        </a:rPr>
                        <a:t>左前短）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3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USS3(FLM)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DSI3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USSFLM（</a:t>
                      </a:r>
                      <a:r>
                        <a:rPr lang="zh-CN" altLang="en-US" sz="800" u="none" strike="noStrike">
                          <a:effectLst/>
                        </a:rPr>
                        <a:t>左前中短）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4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USS4(FRM)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DSI3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USSFRM（</a:t>
                      </a:r>
                      <a:r>
                        <a:rPr lang="zh-CN" altLang="en-US" sz="800" u="none" strike="noStrike">
                          <a:effectLst/>
                        </a:rPr>
                        <a:t>右前中短）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5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USS5(FR)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DSI3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USSFR（</a:t>
                      </a:r>
                      <a:r>
                        <a:rPr lang="zh-CN" altLang="en-US" sz="800" u="none" strike="noStrike">
                          <a:effectLst/>
                        </a:rPr>
                        <a:t>右前短）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6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7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8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NA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9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10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USS6(FRS)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DSI3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USSFRS</a:t>
                      </a:r>
                      <a:r>
                        <a:rPr lang="zh-CN" altLang="en-US" sz="800" u="none" strike="noStrike">
                          <a:effectLst/>
                        </a:rPr>
                        <a:t>（右侧前长）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11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USS7(RRS)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DSI3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USSRRS</a:t>
                      </a:r>
                      <a:r>
                        <a:rPr lang="zh-CN" altLang="en-US" sz="800" u="none" strike="noStrike">
                          <a:effectLst/>
                        </a:rPr>
                        <a:t>（右侧后长）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12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USS8(RR)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DSI3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USSRR（</a:t>
                      </a:r>
                      <a:r>
                        <a:rPr lang="zh-CN" altLang="en-US" sz="800" u="none" strike="noStrike">
                          <a:effectLst/>
                        </a:rPr>
                        <a:t>右后短）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13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USS9(RRM)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DSI3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USSRRM（</a:t>
                      </a:r>
                      <a:r>
                        <a:rPr lang="zh-CN" altLang="en-US" sz="800" u="none" strike="noStrike">
                          <a:effectLst/>
                        </a:rPr>
                        <a:t>右后中短）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14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USS10(RLM)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DSI3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USSRLM（</a:t>
                      </a:r>
                      <a:r>
                        <a:rPr lang="zh-CN" altLang="en-US" sz="800" u="none" strike="noStrike">
                          <a:effectLst/>
                        </a:rPr>
                        <a:t>左后中短）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15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USS11(RL)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DSI3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USSRL（</a:t>
                      </a:r>
                      <a:r>
                        <a:rPr lang="zh-CN" altLang="en-US" sz="800" u="none" strike="noStrike">
                          <a:effectLst/>
                        </a:rPr>
                        <a:t>左后短）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16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USS12(RLS)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DSI3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800" u="none" strike="noStrike">
                          <a:effectLst/>
                        </a:rPr>
                        <a:t>USSRLS</a:t>
                      </a:r>
                      <a:r>
                        <a:rPr lang="zh-CN" altLang="en-US" sz="800" u="none" strike="noStrike">
                          <a:effectLst/>
                        </a:rPr>
                        <a:t>（左侧后长）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17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18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19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20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Wake Out Lidar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GPO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Lidar Wakeup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21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22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HSD_01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加热丝供电电源输出（预留）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加热丝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23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HSD_GND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加热丝供电电源地（预留）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zh-CN" altLang="en-US" sz="800" u="none" strike="noStrike">
                          <a:effectLst/>
                        </a:rPr>
                        <a:t>加热丝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24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25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1401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 dirty="0">
                          <a:effectLst/>
                        </a:rPr>
                        <a:t>26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USS_REAR_POWER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 dirty="0">
                          <a:effectLst/>
                        </a:rPr>
                        <a:t>后向</a:t>
                      </a:r>
                      <a:r>
                        <a:rPr lang="en-US" altLang="zh-CN" sz="800" u="none" strike="noStrike" dirty="0">
                          <a:effectLst/>
                        </a:rPr>
                        <a:t>USS</a:t>
                      </a:r>
                      <a:r>
                        <a:rPr lang="zh-CN" altLang="en-US" sz="800" u="none" strike="noStrike" dirty="0">
                          <a:effectLst/>
                        </a:rPr>
                        <a:t>供电电源输出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USS7(RRS)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7976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EAD3-DD0B-0CC8-457A-709F9ADA0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5A457C64-4CF9-C8F2-4554-8A96B9D30D2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95" imgH="394" progId="TCLayout.ActiveDocument.1">
                  <p:embed/>
                </p:oleObj>
              </mc:Choice>
              <mc:Fallback>
                <p:oleObj name="think-cell 幻灯片" r:id="rId3" imgW="395" imgH="394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A457C64-4CF9-C8F2-4554-8A96B9D30D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717FA91-D4E8-3C34-6400-B8EAB159EA5E}"/>
              </a:ext>
            </a:extLst>
          </p:cNvPr>
          <p:cNvGraphicFramePr>
            <a:graphicFrameLocks noGrp="1"/>
          </p:cNvGraphicFramePr>
          <p:nvPr/>
        </p:nvGraphicFramePr>
        <p:xfrm>
          <a:off x="828403" y="1383434"/>
          <a:ext cx="4512265" cy="2186132"/>
        </p:xfrm>
        <a:graphic>
          <a:graphicData uri="http://schemas.openxmlformats.org/drawingml/2006/table">
            <a:tbl>
              <a:tblPr/>
              <a:tblGrid>
                <a:gridCol w="2217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86132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zh-CN" altLang="en-US" sz="1000" i="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电器端</a:t>
                      </a: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tx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marR="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133350"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 线束端</a:t>
                      </a: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46608C-F780-DD5B-C4B4-F62E5CFC8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4571A7-0608-4CA0-91C4-DD76FEAC2393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2025/6/12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5EB8DC-33F8-DF44-5663-4E05FBE9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Horizon Continental Technology Shanghai Co., Ltd -  Confidential Information Under NDA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222A05-E6F6-FA11-5177-9853E5CE6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13275-6251-4C40-AFE1-85D85DA07171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CF7BFD-5FA2-673E-BA1A-575BE6C4B2CC}"/>
              </a:ext>
            </a:extLst>
          </p:cNvPr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硬件</a:t>
            </a: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</a:t>
            </a: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主连接器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6C79C927-CAF0-774F-47CB-07AE4C39B87E}"/>
              </a:ext>
            </a:extLst>
          </p:cNvPr>
          <p:cNvSpPr txBox="1"/>
          <p:nvPr/>
        </p:nvSpPr>
        <p:spPr>
          <a:xfrm>
            <a:off x="828403" y="3894542"/>
            <a:ext cx="4712793" cy="674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型号：</a:t>
            </a:r>
            <a:r>
              <a:rPr kumimoji="0" lang="en-US" altLang="zh-CN" sz="1200" b="0" i="0" u="none" strike="noStrike" kern="100" cap="none" spc="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2418384-6</a:t>
            </a:r>
            <a:r>
              <a:rPr kumimoji="0" lang="zh-CN" altLang="en-US" sz="1200" b="0" i="0" u="none" strike="noStrike" kern="100" cap="none" spc="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，白色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数量：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个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/>
              <a:ea typeface="微软雅黑"/>
              <a:cs typeface="Arial" panose="020B0604020202020204" pitchFamily="34" charset="0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C345F997-B7E8-2018-D840-B3B531D89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594" y="1708444"/>
            <a:ext cx="1648845" cy="1475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3E3735CE-6226-91F1-7AE4-75775605A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356" y="1578429"/>
            <a:ext cx="1648846" cy="1735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490015B-0D13-DCF0-51BD-5FC6F1F20022}"/>
              </a:ext>
            </a:extLst>
          </p:cNvPr>
          <p:cNvGraphicFramePr>
            <a:graphicFrameLocks noGrp="1"/>
          </p:cNvGraphicFramePr>
          <p:nvPr/>
        </p:nvGraphicFramePr>
        <p:xfrm>
          <a:off x="5541197" y="1217166"/>
          <a:ext cx="6193604" cy="5029776"/>
        </p:xfrm>
        <a:graphic>
          <a:graphicData uri="http://schemas.openxmlformats.org/drawingml/2006/table">
            <a:tbl>
              <a:tblPr/>
              <a:tblGrid>
                <a:gridCol w="1234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4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4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6288">
                <a:tc gridSpan="4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zh-CN" altLang="en-US" sz="800" u="none" strike="noStrike" dirty="0">
                          <a:effectLst/>
                        </a:rPr>
                        <a:t>连接器</a:t>
                      </a:r>
                      <a:r>
                        <a:rPr lang="en-US" altLang="zh-CN" sz="800" u="none" strike="noStrike" dirty="0">
                          <a:effectLst/>
                        </a:rPr>
                        <a:t>1-</a:t>
                      </a:r>
                      <a:r>
                        <a:rPr lang="zh-CN" altLang="en-US" sz="800" u="none" strike="noStrike" dirty="0">
                          <a:effectLst/>
                        </a:rPr>
                        <a:t>低速信号连接器  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28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管脚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 dirty="0">
                          <a:effectLst/>
                        </a:rPr>
                        <a:t>功能描述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信号类型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推荐线束走向</a:t>
                      </a: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288"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Pin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Function description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Signal definition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Go To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288">
                <a:tc rowSpan="6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26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USS_REAR_POWER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后向</a:t>
                      </a:r>
                      <a:r>
                        <a:rPr lang="en-US" altLang="zh-CN" sz="800" u="none" strike="noStrike">
                          <a:effectLst/>
                        </a:rPr>
                        <a:t>USS</a:t>
                      </a:r>
                      <a:r>
                        <a:rPr lang="zh-CN" altLang="en-US" sz="800" u="none" strike="noStrike">
                          <a:effectLst/>
                        </a:rPr>
                        <a:t>供电电源输出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USS7(RRS)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USS8(RR)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USS9(RRM)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USS10(RLM)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USS11(RL)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USS12(RLS)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86288">
                <a:tc rowSpan="6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27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USS_GND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后保</a:t>
                      </a:r>
                      <a:r>
                        <a:rPr lang="en-US" sz="800" u="none" strike="noStrike">
                          <a:effectLst/>
                        </a:rPr>
                        <a:t>USS</a:t>
                      </a:r>
                      <a:r>
                        <a:rPr lang="zh-CN" altLang="en-US" sz="800" u="none" strike="noStrike">
                          <a:effectLst/>
                        </a:rPr>
                        <a:t>供电地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USS7(RRS)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USS8(RR)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USS9(RRM)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USS10(RLM)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USS11(RL)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USS12(RLS)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  <a:tr h="186288">
                <a:tc rowSpan="6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28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USS_FRONT_POWER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 dirty="0">
                          <a:effectLst/>
                        </a:rPr>
                        <a:t>前向</a:t>
                      </a:r>
                      <a:r>
                        <a:rPr lang="en-US" altLang="zh-CN" sz="800" u="none" strike="noStrike" dirty="0">
                          <a:effectLst/>
                        </a:rPr>
                        <a:t>USS</a:t>
                      </a:r>
                      <a:r>
                        <a:rPr lang="zh-CN" altLang="en-US" sz="800" u="none" strike="noStrike" dirty="0">
                          <a:effectLst/>
                        </a:rPr>
                        <a:t>供电电源输出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USS1(FLS)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0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USS2(FL)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1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USS3(FLM)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2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USS4(FRM)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3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USS5(FR)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4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USS6(FRS)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5"/>
                  </a:ext>
                </a:extLst>
              </a:tr>
              <a:tr h="186288">
                <a:tc rowSpan="6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altLang="zh-CN" sz="800" u="none" strike="noStrike">
                          <a:effectLst/>
                        </a:rPr>
                        <a:t>29</a:t>
                      </a:r>
                      <a:endParaRPr lang="en-US" altLang="zh-CN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USS_GND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前保</a:t>
                      </a:r>
                      <a:r>
                        <a:rPr lang="en-US" sz="800" u="none" strike="noStrike">
                          <a:effectLst/>
                        </a:rPr>
                        <a:t>USS</a:t>
                      </a:r>
                      <a:r>
                        <a:rPr lang="zh-CN" altLang="en-US" sz="800" u="none" strike="noStrike">
                          <a:effectLst/>
                        </a:rPr>
                        <a:t>供电地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 dirty="0">
                          <a:effectLst/>
                        </a:rPr>
                        <a:t>USS1(FLS)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6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USS2(FL)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7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USS3(FLM)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8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USS4(FRM)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9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USS5(FR)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0"/>
                  </a:ext>
                </a:extLst>
              </a:tr>
              <a:tr h="1862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zh-CN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 fontAlgn="t"/>
                      <a:r>
                        <a:rPr lang="en-US" sz="800" u="none" strike="noStrike" dirty="0">
                          <a:effectLst/>
                        </a:rPr>
                        <a:t>USS6(FRS)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2013" marR="2013" marT="201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71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F80CD1-FB81-899F-B6AC-4CB1C88E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4571A7-0608-4CA0-91C4-DD76FEAC2393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2025/6/12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3CCCDD-FF4B-25AA-DC21-D4B2FD85C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Horizon Continental Technology Shanghai Co., Ltd -  Confidential Information Under NDA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378E62-5ED4-375B-1B17-A74A8C371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13275-6251-4C40-AFE1-85D85DA07171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407AD3D-AD16-C562-A86E-D50FC4C2E06E}"/>
              </a:ext>
            </a:extLst>
          </p:cNvPr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硬件</a:t>
            </a: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</a:t>
            </a: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以太网连接器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D8A1C920-E044-E1A0-B0E6-A4FD8022FE10}"/>
              </a:ext>
            </a:extLst>
          </p:cNvPr>
          <p:cNvGraphicFramePr>
            <a:graphicFrameLocks noGrp="1"/>
          </p:cNvGraphicFramePr>
          <p:nvPr/>
        </p:nvGraphicFramePr>
        <p:xfrm>
          <a:off x="436880" y="1527755"/>
          <a:ext cx="6614161" cy="2802890"/>
        </p:xfrm>
        <a:graphic>
          <a:graphicData uri="http://schemas.openxmlformats.org/drawingml/2006/table">
            <a:tbl>
              <a:tblPr/>
              <a:tblGrid>
                <a:gridCol w="1445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4104">
                  <a:extLst>
                    <a:ext uri="{9D8B030D-6E8A-4147-A177-3AD203B41FA5}">
                      <a16:colId xmlns:a16="http://schemas.microsoft.com/office/drawing/2014/main" val="3125494405"/>
                    </a:ext>
                  </a:extLst>
                </a:gridCol>
              </a:tblGrid>
              <a:tr h="1401445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indent="66675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  <a:latin typeface="+mn-ea"/>
                          <a:ea typeface="+mn-ea"/>
                        </a:rPr>
                        <a:t>零部件名称：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  <a:latin typeface="+mn-ea"/>
                          <a:ea typeface="+mn-ea"/>
                        </a:rPr>
                        <a:t>连接器</a:t>
                      </a:r>
                      <a:r>
                        <a:rPr lang="en-US" altLang="zh-CN" sz="1100" kern="100" dirty="0">
                          <a:effectLst/>
                          <a:latin typeface="+mn-ea"/>
                          <a:ea typeface="+mn-ea"/>
                        </a:rPr>
                        <a:t>2-</a:t>
                      </a:r>
                      <a:r>
                        <a:rPr lang="zh-CN" altLang="en-US" sz="1100" kern="100" dirty="0">
                          <a:effectLst/>
                          <a:latin typeface="+mn-ea"/>
                          <a:ea typeface="+mn-ea"/>
                        </a:rPr>
                        <a:t>车载以太连接器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i="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端面图的孔位应与接插件管脚对应 </a:t>
                      </a:r>
                      <a:r>
                        <a:rPr lang="zh-CN" altLang="en-US" sz="1100" kern="1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电器端</a:t>
                      </a:r>
                      <a:endParaRPr lang="zh-CN" altLang="en-US" sz="11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1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1445">
                <a:tc vMerge="1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050" kern="1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  <a:latin typeface="+mn-ea"/>
                          <a:ea typeface="+mn-ea"/>
                        </a:rPr>
                        <a:t>线束端</a:t>
                      </a: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1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b" anchorCtr="1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" name="Picture 1" descr="https://weboffice.feishu-3rd-party-services.com/api/v3/office/copy/a3hEdHc2a0tkdnVNc2t4eFFDQW5zS3RNSTdvR3ErUjB3clZTdTloZWI2ZmZRMnp6UWs3a1NncVlyZ1RIeTRRVzNDZmJIT3NuYndBSjdjbi9vOGF6aE02OHRscjNRb1RaMmNtSFRianRoNTZTa2xhN05SeG9aWGJiYnM3UnVkOG55Vk9UMHAybmQ5TFczakMwYlAwNzdaNUZJRW5iSUVOQ21aRnhHbGE1ZHFmSjRVRlNZTjVtM0xrRWkvYkxvZzVySm5ZOE15dFVSRmF6a0xyalFic21VMk9XZHRmcWRBQzNGL0JjSGFKOVhiVk0rVGV4dTc1TDBHLzF2UHVMcmhmY0JOT0s3TzY3QTdBWkJWUXZxTUl0N0l4ZDNOYmxSS3M9/attach/object/45f01e7d38357c88d329df43ea0ce7e26b9cb35c?">
            <a:extLst>
              <a:ext uri="{FF2B5EF4-FFF2-40B4-BE49-F238E27FC236}">
                <a16:creationId xmlns:a16="http://schemas.microsoft.com/office/drawing/2014/main" id="{FBEB2292-2154-2731-45A1-B657A8265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722" y="1602974"/>
            <a:ext cx="1584347" cy="1234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https://weboffice.feishu-3rd-party-services.com/api/v3/office/copy/a3hEdHc2a0tkdnVNc2t4eFFDQW5zS3RNSTdvR3ErUjB3clZTdTloZWI2ZmZRMnp6UWs3a1NncVlyZ1RIeTRRVzNDZmJIT3NuYndBSjdjbi9vOGF6aE02OHRscjNRb1RaMmNtSFRianRoNTZTa2xhN05SeG9aWGJiYnM3UnVkOG55Vk9UMHAybmQ5TFczakMwYlAwNzdaNUZJRW5iSUVOQ21aRnhHbGE1ZHFmSjRVRlNZTjVtM0xrRWkvYkxvZzVySm5ZOE15dFVSRmF6a0xyalFic21VMk9XZHRmcWRBQzNGL0JjSGFKOVhiVk0rVGV4dTc1TDBHLzF2UHVMcmhmY0JOT0s3TzY3QTdBWkJWUXZxTUl0N0l4ZDNOYmxSS3M9/attach/object/01a1928bc6ea7aac45fa59a198091507838fdcc4?">
            <a:extLst>
              <a:ext uri="{FF2B5EF4-FFF2-40B4-BE49-F238E27FC236}">
                <a16:creationId xmlns:a16="http://schemas.microsoft.com/office/drawing/2014/main" id="{8208205C-AC91-363F-207D-1EF13E0DD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133" y="1678650"/>
            <a:ext cx="1242331" cy="997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https://weboffice.feishu-3rd-party-services.com/api/v3/office/copy/a3hEdHc2a0tkdnVNc2t4eFFDQW5zS3RNSTdvR3ErUjB3clZTdTloZWI2ZmZRMnp6UWs3a1NncVlyZ1RIeTRRVzNDZmJIT3NuYndBSjdjbi9vOGF6aE02OHRscjNRb1RaMmNtSFRianRoNTZTa2xhN05SeG9aWGJiYnM3UnVkOG55Vk9UMHAybmQ5TFczakMwYlAwNzdaNUZJRW5iSUVOQ21aRnhHbGE1ZHFmSjRVRlNZTjVtM0xrRWkvYkxvZzVySm5ZOE15dFVSRmF6a0xyalFic21VMk9XZHRmcWRBQzNGL0JjSGFKOVhiVk0rVGV4dTc1TDBHLzF2UHVMcmhmY0JOT0s3TzY3QTdBWkJWUXZxTUl0N0l4ZDNOYmxSS3M9/attach/object/af494fb26bd45551db09d8840258dd4501eb2470?">
            <a:extLst>
              <a:ext uri="{FF2B5EF4-FFF2-40B4-BE49-F238E27FC236}">
                <a16:creationId xmlns:a16="http://schemas.microsoft.com/office/drawing/2014/main" id="{47DB0A87-8EEF-4329-5ABF-CC5795573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065" y="2992239"/>
            <a:ext cx="1153660" cy="126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https://weboffice.feishu-3rd-party-services.com/api/v3/office/copy/a3hEdHc2a0tkdnVNc2t4eFFDQW5zS3RNSTdvR3ErUjB3clZTdTloZWI2ZmZRMnp6UWs3a1NncVlyZ1RIeTRRVzNDZmJIT3NuYndBSjdjbi9vOGF6aE02OHRscjNRb1RaMmNtSFRianRoNTZTa2xhN05SeG9aWGJiYnM3UnVkOG55Vk9UMHAybmQ5TFczakMwYlAwNzdaNUZJRW5iSUVOQ21aRnhHbGE1ZHFmSjRVRlNZTjVtM0xrRWkvYkxvZzVySm5ZOE15dFVSRmF6a0xyalFic21VMk9XZHRmcWRBQzNGL0JjSGFKOVhiVk0rVGV4dTc1TDBHLzF2UHVMcmhmY0JOT0s3TzY3QTdBWkJWUXZxTUl0N0l4ZDNOYmxSS3M9/attach/object/2beda689f555c27d9212841957a5deee2bf5751f?">
            <a:extLst>
              <a:ext uri="{FF2B5EF4-FFF2-40B4-BE49-F238E27FC236}">
                <a16:creationId xmlns:a16="http://schemas.microsoft.com/office/drawing/2014/main" id="{1338C530-0767-DBDD-268E-B94D18CCA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686" y="3002229"/>
            <a:ext cx="1419225" cy="107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16EBE140-A192-935D-F682-3DB3AB2C26F7}"/>
              </a:ext>
            </a:extLst>
          </p:cNvPr>
          <p:cNvGraphicFramePr>
            <a:graphicFrameLocks noGrp="1"/>
          </p:cNvGraphicFramePr>
          <p:nvPr/>
        </p:nvGraphicFramePr>
        <p:xfrm>
          <a:off x="7472777" y="1164489"/>
          <a:ext cx="4400496" cy="5135129"/>
        </p:xfrm>
        <a:graphic>
          <a:graphicData uri="http://schemas.openxmlformats.org/drawingml/2006/table">
            <a:tbl>
              <a:tblPr/>
              <a:tblGrid>
                <a:gridCol w="574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1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管脚</a:t>
                      </a:r>
                      <a:r>
                        <a:rPr lang="en-US" sz="10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Pin</a:t>
                      </a:r>
                      <a:endParaRPr lang="en-US" sz="1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功能</a:t>
                      </a: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Function</a:t>
                      </a:r>
                      <a:endParaRPr lang="en-US" sz="1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indent="6667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信号类型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线束走向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5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1-1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+mn-ea"/>
                          <a:ea typeface="+mn-ea"/>
                        </a:rPr>
                        <a:t>NA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+mn-ea"/>
                          <a:ea typeface="+mn-ea"/>
                        </a:rPr>
                        <a:t>NA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+mn-ea"/>
                          <a:ea typeface="+mn-ea"/>
                        </a:rPr>
                        <a:t>NA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5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1-2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+mn-ea"/>
                          <a:ea typeface="+mn-ea"/>
                        </a:rPr>
                        <a:t>NA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+mn-ea"/>
                          <a:ea typeface="+mn-ea"/>
                        </a:rPr>
                        <a:t>NA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050" kern="1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2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2-1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+mn-ea"/>
                          <a:ea typeface="+mn-ea"/>
                        </a:rPr>
                        <a:t>NA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</a:rPr>
                        <a:t>车载以太信号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预留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2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2-2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+mn-ea"/>
                          <a:ea typeface="+mn-ea"/>
                        </a:rPr>
                        <a:t>NA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</a:rPr>
                        <a:t>车载以太信号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050" kern="1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83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3-1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</a:rPr>
                        <a:t>座舱数据通信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</a:rPr>
                        <a:t>车载以太信号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座舱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00" dirty="0">
                          <a:effectLst/>
                          <a:latin typeface="+mn-ea"/>
                          <a:ea typeface="+mn-ea"/>
                        </a:rPr>
                        <a:t>1000</a:t>
                      </a:r>
                      <a:r>
                        <a:rPr lang="en-US" sz="1000" kern="100" dirty="0">
                          <a:effectLst/>
                          <a:latin typeface="+mn-ea"/>
                          <a:ea typeface="+mn-ea"/>
                        </a:rPr>
                        <a:t>M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2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3-2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</a:rPr>
                        <a:t>座舱数据通信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</a:rPr>
                        <a:t>车载以太信号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050" kern="1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2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4-1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+mn-ea"/>
                          <a:ea typeface="+mn-ea"/>
                        </a:rPr>
                        <a:t>NA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</a:rPr>
                        <a:t>车载以太信号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预留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20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4-2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+mn-ea"/>
                          <a:ea typeface="+mn-ea"/>
                        </a:rPr>
                        <a:t>NA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</a:rPr>
                        <a:t>车载以太信号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050" kern="1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75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5-1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前</a:t>
                      </a:r>
                      <a:r>
                        <a:rPr lang="en-US" sz="1000" kern="100" dirty="0" err="1">
                          <a:effectLst/>
                          <a:latin typeface="+mn-ea"/>
                          <a:ea typeface="+mn-ea"/>
                        </a:rPr>
                        <a:t>Lidar</a:t>
                      </a: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数据通信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</a:rPr>
                        <a:t>车载以太信号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前</a:t>
                      </a:r>
                      <a:r>
                        <a:rPr lang="en-US" sz="1000" kern="100" dirty="0" err="1">
                          <a:effectLst/>
                          <a:latin typeface="+mn-ea"/>
                          <a:ea typeface="+mn-ea"/>
                        </a:rPr>
                        <a:t>Lidar</a:t>
                      </a:r>
                      <a:endParaRPr lang="en-US" sz="10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+mn-ea"/>
                          <a:ea typeface="+mn-ea"/>
                        </a:rPr>
                        <a:t>1000M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75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5-2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</a:rPr>
                        <a:t>前</a:t>
                      </a:r>
                      <a:r>
                        <a:rPr lang="en-US" sz="1000" kern="100">
                          <a:effectLst/>
                          <a:latin typeface="+mn-ea"/>
                          <a:ea typeface="+mn-ea"/>
                        </a:rPr>
                        <a:t>Lidar</a:t>
                      </a: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</a:rPr>
                        <a:t>数据通信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</a:rPr>
                        <a:t>车载以太信号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050" kern="1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975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6-1</a:t>
                      </a: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前</a:t>
                      </a:r>
                      <a:r>
                        <a:rPr lang="en-US" sz="1000" kern="100" dirty="0">
                          <a:effectLst/>
                          <a:latin typeface="+mn-ea"/>
                          <a:ea typeface="+mn-ea"/>
                        </a:rPr>
                        <a:t>Radar</a:t>
                      </a: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数据通信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</a:rPr>
                        <a:t>车载以太信号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前</a:t>
                      </a:r>
                      <a:r>
                        <a:rPr lang="en-US" sz="1000" kern="100" dirty="0">
                          <a:effectLst/>
                          <a:latin typeface="+mn-ea"/>
                          <a:ea typeface="+mn-ea"/>
                        </a:rPr>
                        <a:t>Radar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+mn-ea"/>
                          <a:ea typeface="+mn-ea"/>
                        </a:rPr>
                        <a:t>100M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975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6-2</a:t>
                      </a: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</a:rPr>
                        <a:t>前</a:t>
                      </a:r>
                      <a:r>
                        <a:rPr lang="en-US" sz="1000" kern="100">
                          <a:effectLst/>
                          <a:latin typeface="+mn-ea"/>
                          <a:ea typeface="+mn-ea"/>
                        </a:rPr>
                        <a:t>Radar</a:t>
                      </a: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</a:rPr>
                        <a:t>数据通信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</a:rPr>
                        <a:t>车载以太信号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50" kern="1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63E1C9E1-2384-9FBD-E534-E72497E8817B}"/>
              </a:ext>
            </a:extLst>
          </p:cNvPr>
          <p:cNvGraphicFramePr>
            <a:graphicFrameLocks noGrp="1"/>
          </p:cNvGraphicFramePr>
          <p:nvPr/>
        </p:nvGraphicFramePr>
        <p:xfrm>
          <a:off x="448493" y="4878912"/>
          <a:ext cx="4447689" cy="426720"/>
        </p:xfrm>
        <a:graphic>
          <a:graphicData uri="http://schemas.openxmlformats.org/drawingml/2006/table">
            <a:tbl>
              <a:tblPr/>
              <a:tblGrid>
                <a:gridCol w="2630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7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4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kern="100" dirty="0">
                          <a:effectLst/>
                          <a:latin typeface="+mj-ea"/>
                          <a:ea typeface="+mj-ea"/>
                        </a:rPr>
                        <a:t>板端连接器型号</a:t>
                      </a:r>
                      <a:r>
                        <a:rPr lang="en-US" altLang="zh-CN" sz="1100" kern="100" dirty="0">
                          <a:effectLst/>
                          <a:latin typeface="+mj-ea"/>
                          <a:ea typeface="+mj-ea"/>
                        </a:rPr>
                        <a:t>:</a:t>
                      </a: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100" kern="100" dirty="0">
                          <a:effectLst/>
                          <a:latin typeface="+mj-ea"/>
                          <a:ea typeface="+mj-ea"/>
                        </a:rPr>
                        <a:t>E6S20F-40MT5-A</a:t>
                      </a:r>
                      <a:endParaRPr lang="zh-CN" altLang="en-US" sz="11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Rosenberger</a:t>
                      </a:r>
                      <a:endParaRPr lang="en-US" sz="1100" kern="100" dirty="0">
                        <a:effectLst/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8623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97706C-0EC6-D8BF-4CEC-84C86F5E2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4571A7-0608-4CA0-91C4-DD76FEAC2393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2025/6/12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D7636EE-F208-A0A3-D8DD-21661DA5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Horizon Continental Technology Shanghai Co., Ltd -  Confidential Information Under NDA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1946A-A8FD-5E8A-143E-7C108749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13275-6251-4C40-AFE1-85D85DA07171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0EB457-AF1C-6733-6BE7-1B121D088254}"/>
              </a:ext>
            </a:extLst>
          </p:cNvPr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硬件</a:t>
            </a: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</a:t>
            </a: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摄像头连接器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C382C86-DADB-7C4D-64C2-A946C5B0F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850645"/>
              </p:ext>
            </p:extLst>
          </p:nvPr>
        </p:nvGraphicFramePr>
        <p:xfrm>
          <a:off x="1223348" y="3983930"/>
          <a:ext cx="4500418" cy="975360"/>
        </p:xfrm>
        <a:graphic>
          <a:graphicData uri="http://schemas.openxmlformats.org/drawingml/2006/table">
            <a:tbl>
              <a:tblPr/>
              <a:tblGrid>
                <a:gridCol w="873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5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后视</a:t>
                      </a:r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60°camera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接后视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前视</a:t>
                      </a:r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30°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camera</a:t>
                      </a:r>
                    </a:p>
                  </a:txBody>
                  <a:tcPr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接前视</a:t>
                      </a:r>
                    </a:p>
                  </a:txBody>
                  <a:tcPr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前视</a:t>
                      </a:r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120°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camera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接前视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endParaRPr lang="en-US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endParaRPr lang="zh-CN" altLang="en-US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46C93AC-E0D3-60FE-DD71-097DF0CC6F72}"/>
              </a:ext>
            </a:extLst>
          </p:cNvPr>
          <p:cNvGraphicFramePr>
            <a:graphicFrameLocks noGrp="1"/>
          </p:cNvGraphicFramePr>
          <p:nvPr/>
        </p:nvGraphicFramePr>
        <p:xfrm>
          <a:off x="1223348" y="5095788"/>
          <a:ext cx="4481235" cy="975360"/>
        </p:xfrm>
        <a:graphic>
          <a:graphicData uri="http://schemas.openxmlformats.org/drawingml/2006/table">
            <a:tbl>
              <a:tblPr/>
              <a:tblGrid>
                <a:gridCol w="870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35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algn="ctr" fontAlgn="b" latinLnBrk="0"/>
                      <a:r>
                        <a:rPr lang="en-US" altLang="zh-CN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algn="ctr" fontAlgn="b" latinLnBrk="0"/>
                      <a:r>
                        <a:rPr lang="zh-CN" altLang="en-US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侧视</a:t>
                      </a:r>
                      <a:r>
                        <a:rPr lang="en-US" altLang="zh-CN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_</a:t>
                      </a:r>
                      <a:r>
                        <a:rPr lang="zh-CN" altLang="en-US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左朝前</a:t>
                      </a:r>
                      <a:r>
                        <a:rPr lang="en-US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camera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algn="l" fontAlgn="b" latinLnBrk="0"/>
                      <a:r>
                        <a:rPr lang="zh-CN" altLang="en-US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接左朝前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algn="ctr" fontAlgn="b" latinLnBrk="0"/>
                      <a:r>
                        <a:rPr lang="en-US" altLang="zh-CN" sz="1000" b="0" i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algn="ctr" fontAlgn="b" latinLnBrk="0"/>
                      <a:r>
                        <a:rPr lang="zh-CN" altLang="en-US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侧视</a:t>
                      </a:r>
                      <a:r>
                        <a:rPr lang="en-US" altLang="zh-CN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_</a:t>
                      </a:r>
                      <a:r>
                        <a:rPr lang="zh-CN" altLang="en-US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右朝前</a:t>
                      </a:r>
                      <a:r>
                        <a:rPr lang="en-US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camera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algn="l" fontAlgn="b" latinLnBrk="0"/>
                      <a:r>
                        <a:rPr lang="zh-CN" altLang="en-US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接右朝前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algn="ctr" fontAlgn="b" latinLnBrk="0"/>
                      <a:r>
                        <a:rPr lang="en-US" altLang="zh-CN" sz="1000" b="0" i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algn="ctr" fontAlgn="b" latinLnBrk="0"/>
                      <a:r>
                        <a:rPr lang="zh-CN" altLang="en-US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侧视</a:t>
                      </a:r>
                      <a:r>
                        <a:rPr lang="en-US" altLang="zh-CN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_</a:t>
                      </a:r>
                      <a:r>
                        <a:rPr lang="zh-CN" altLang="en-US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右朝后</a:t>
                      </a:r>
                      <a:r>
                        <a:rPr lang="en-US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camera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algn="l" fontAlgn="b" latinLnBrk="0"/>
                      <a:r>
                        <a:rPr lang="zh-CN" altLang="en-US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接右朝后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algn="ctr" fontAlgn="b" latinLnBrk="0"/>
                      <a:r>
                        <a:rPr lang="en-US" altLang="zh-CN" sz="1000" b="0" i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algn="ctr" fontAlgn="b" latinLnBrk="0"/>
                      <a:r>
                        <a:rPr lang="zh-CN" altLang="en-US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侧视</a:t>
                      </a:r>
                      <a:r>
                        <a:rPr lang="en-US" altLang="zh-CN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_</a:t>
                      </a:r>
                      <a:r>
                        <a:rPr lang="zh-CN" altLang="en-US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左朝后</a:t>
                      </a:r>
                      <a:r>
                        <a:rPr lang="en-US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camera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algn="l" fontAlgn="b" latinLnBrk="0"/>
                      <a:r>
                        <a:rPr lang="zh-CN" altLang="en-US" sz="1000" b="0" i="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接左朝后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C886768-87DB-DDF6-AE71-765681ED5EBF}"/>
              </a:ext>
            </a:extLst>
          </p:cNvPr>
          <p:cNvGraphicFramePr>
            <a:graphicFrameLocks noGrp="1"/>
          </p:cNvGraphicFramePr>
          <p:nvPr/>
        </p:nvGraphicFramePr>
        <p:xfrm>
          <a:off x="6310511" y="3990969"/>
          <a:ext cx="4280900" cy="975360"/>
        </p:xfrm>
        <a:graphic>
          <a:graphicData uri="http://schemas.openxmlformats.org/drawingml/2006/table">
            <a:tbl>
              <a:tblPr/>
              <a:tblGrid>
                <a:gridCol w="831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1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环视</a:t>
                      </a:r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_</a:t>
                      </a:r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前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camera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接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AVM_</a:t>
                      </a:r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前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环视</a:t>
                      </a:r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_</a:t>
                      </a:r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右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camera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接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AVM_</a:t>
                      </a:r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右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环视</a:t>
                      </a:r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_</a:t>
                      </a:r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后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camera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接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AVM_</a:t>
                      </a:r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后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环视</a:t>
                      </a:r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_</a:t>
                      </a:r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左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camera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接</a:t>
                      </a:r>
                      <a:r>
                        <a:rPr 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AVM_</a:t>
                      </a:r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左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4419143-59EC-C105-CCA4-88249E4BAC87}"/>
              </a:ext>
            </a:extLst>
          </p:cNvPr>
          <p:cNvGraphicFramePr>
            <a:graphicFrameLocks noGrp="1"/>
          </p:cNvGraphicFramePr>
          <p:nvPr/>
        </p:nvGraphicFramePr>
        <p:xfrm>
          <a:off x="6310511" y="5095788"/>
          <a:ext cx="4280900" cy="975360"/>
        </p:xfrm>
        <a:graphic>
          <a:graphicData uri="http://schemas.openxmlformats.org/drawingml/2006/table">
            <a:tbl>
              <a:tblPr/>
              <a:tblGrid>
                <a:gridCol w="831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1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endParaRPr lang="zh-CN" altLang="en-US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endParaRPr lang="zh-CN" altLang="en-US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endParaRPr lang="zh-CN" altLang="en-US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endParaRPr lang="zh-CN" altLang="en-US" sz="1000" b="0" i="0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altLang="zh-CN" sz="10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LVDS</a:t>
                      </a:r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输出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endParaRPr lang="zh-CN" altLang="en-US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r>
                        <a:rPr lang="en-US" altLang="zh-CN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LVDS</a:t>
                      </a:r>
                      <a:r>
                        <a:rPr lang="zh-CN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输出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algn="l" defTabSz="914400" rtl="0" eaLnBrk="1" fontAlgn="b" latinLnBrk="0" hangingPunct="1"/>
                      <a:endParaRPr lang="zh-CN" altLang="en-US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E1E9369B-2B3E-E48E-54F2-83AF95597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585" y="1458266"/>
            <a:ext cx="2016881" cy="1896997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248D3275-E8AA-F1E1-3CDF-73BFE73AB7A8}"/>
              </a:ext>
            </a:extLst>
          </p:cNvPr>
          <p:cNvGraphicFramePr>
            <a:graphicFrameLocks noGrp="1"/>
          </p:cNvGraphicFramePr>
          <p:nvPr/>
        </p:nvGraphicFramePr>
        <p:xfrm>
          <a:off x="6702249" y="1623526"/>
          <a:ext cx="3497424" cy="1853683"/>
        </p:xfrm>
        <a:graphic>
          <a:graphicData uri="http://schemas.openxmlformats.org/drawingml/2006/table">
            <a:tbl>
              <a:tblPr/>
              <a:tblGrid>
                <a:gridCol w="1297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1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连接器</a:t>
                      </a:r>
                      <a:r>
                        <a:rPr lang="en-US" altLang="zh-CN" sz="10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J5:</a:t>
                      </a: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视频连接器 </a:t>
                      </a: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8553" marR="88553" marT="44277" marB="44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板端连接器型号：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818037374</a:t>
                      </a: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Code B），</a:t>
                      </a: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白色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88553" marR="88553" marT="44277" marB="44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4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连接器</a:t>
                      </a:r>
                      <a:r>
                        <a:rPr lang="en-US" altLang="zh-CN" sz="1000" kern="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J7: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视频连接器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88553" marR="88553" marT="44277" marB="44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板端连接器型号</a:t>
                      </a:r>
                      <a:r>
                        <a:rPr lang="en-US" altLang="zh-CN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: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818037376</a:t>
                      </a: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Code D</a:t>
                      </a: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），枣红色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88553" marR="88553" marT="44277" marB="44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5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连接器</a:t>
                      </a:r>
                      <a:r>
                        <a:rPr lang="en-US" altLang="zh-CN" sz="10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J4</a:t>
                      </a:r>
                      <a:r>
                        <a:rPr lang="zh-CN" altLang="en-US" sz="10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：</a:t>
                      </a: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视频连接器</a:t>
                      </a: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8553" marR="88553" marT="44277" marB="44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板端连接器型号</a:t>
                      </a:r>
                      <a:r>
                        <a:rPr lang="en-US" altLang="zh-CN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: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818037373</a:t>
                      </a: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Code A)，</a:t>
                      </a:r>
                      <a:r>
                        <a:rPr lang="zh-CN" altLang="en-US" sz="100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黑色</a:t>
                      </a:r>
                      <a:endParaRPr lang="zh-CN" altLang="en-US" sz="1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88553" marR="88553" marT="44277" marB="44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5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连接器</a:t>
                      </a:r>
                      <a:r>
                        <a:rPr lang="en-US" altLang="zh-CN" sz="10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J6</a:t>
                      </a:r>
                      <a:r>
                        <a:rPr lang="zh-CN" altLang="en-US" sz="10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：</a:t>
                      </a: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视频连接器</a:t>
                      </a: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8553" marR="88553" marT="44277" marB="44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/>
                          <a:ea typeface="微软雅黑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板端连接器型号</a:t>
                      </a:r>
                      <a:r>
                        <a:rPr lang="en-US" altLang="zh-CN" sz="10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:</a:t>
                      </a: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818037375</a:t>
                      </a: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10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Code C)</a:t>
                      </a:r>
                      <a:r>
                        <a:rPr lang="zh-CN" altLang="en-US" sz="100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，蓝色</a:t>
                      </a:r>
                      <a:endParaRPr lang="zh-CN" altLang="en-US" sz="1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88553" marR="88553" marT="44277" marB="4427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4266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A9211F-346D-1345-BB4F-BB3438842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4571A7-0608-4CA0-91C4-DD76FEAC2393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2025/6/12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1830EE-4CA1-9034-471F-3010576AC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Horizon Continental Technology Shanghai Co., Ltd -  Confidential Information Under NDA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E714A8-D9F3-B47A-BA8A-BA316112C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13275-6251-4C40-AFE1-85D85DA07171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26F5E992-369D-75EC-ADA2-6452C2FC0D2F}"/>
              </a:ext>
            </a:extLst>
          </p:cNvPr>
          <p:cNvSpPr txBox="1">
            <a:spLocks/>
          </p:cNvSpPr>
          <p:nvPr/>
        </p:nvSpPr>
        <p:spPr>
          <a:xfrm>
            <a:off x="5749800" y="2132430"/>
            <a:ext cx="4712793" cy="539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型号：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818016081（Code A)</a:t>
            </a: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数量：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1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个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/>
              <a:ea typeface="微软雅黑"/>
              <a:cs typeface="Arial" panose="020B0604020202020204" pitchFamily="34" charset="0"/>
            </a:endParaRPr>
          </a:p>
        </p:txBody>
      </p:sp>
      <p:pic>
        <p:nvPicPr>
          <p:cNvPr id="6" name="pic">
            <a:extLst>
              <a:ext uri="{FF2B5EF4-FFF2-40B4-BE49-F238E27FC236}">
                <a16:creationId xmlns:a16="http://schemas.microsoft.com/office/drawing/2014/main" id="{3EAAEAF8-E70E-21A9-C247-E97E7641C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844752" y="2132430"/>
            <a:ext cx="823125" cy="1478265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77B98C6-E8BD-0E24-EFBB-E2C305668250}"/>
              </a:ext>
            </a:extLst>
          </p:cNvPr>
          <p:cNvGraphicFramePr>
            <a:graphicFrameLocks noGrp="1"/>
          </p:cNvGraphicFramePr>
          <p:nvPr/>
        </p:nvGraphicFramePr>
        <p:xfrm>
          <a:off x="2844752" y="4212710"/>
          <a:ext cx="5232400" cy="274320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algn="ctr" fontAlgn="b" latinLnBrk="0"/>
                      <a:r>
                        <a:rPr lang="en-US" altLang="zh-CN" sz="1200" b="0" i="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algn="ctr" fontAlgn="b" latinLnBrk="0"/>
                      <a:r>
                        <a:rPr lang="en-US" sz="1200" b="0" i="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GNSS_RF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algn="l" fontAlgn="b" latinLnBrk="0"/>
                      <a:r>
                        <a:rPr lang="zh-CN" altLang="en-US" sz="1200" b="0" i="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接</a:t>
                      </a:r>
                      <a:r>
                        <a:rPr lang="en-US" sz="1200" b="0" i="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GNSS</a:t>
                      </a:r>
                      <a:r>
                        <a:rPr lang="zh-CN" altLang="en-US" sz="1200" b="0" i="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天线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4FFFD42F-BDFC-21E2-B866-D3A0F6ED8A7C}"/>
              </a:ext>
            </a:extLst>
          </p:cNvPr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硬件</a:t>
            </a: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-GNSS</a:t>
            </a: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连接器</a:t>
            </a:r>
          </a:p>
        </p:txBody>
      </p:sp>
    </p:spTree>
    <p:extLst>
      <p:ext uri="{BB962C8B-B14F-4D97-AF65-F5344CB8AC3E}">
        <p14:creationId xmlns:p14="http://schemas.microsoft.com/office/powerpoint/2010/main" val="3087885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39A0B93-575C-0A24-5273-D64ADE3AA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4571A7-0608-4CA0-91C4-DD76FEAC2393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2025/6/12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AB1023-90AE-2A85-3391-C8351728D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ea"/>
              </a:rPr>
              <a:t>Horizon Continental Technology Shanghai Co., Ltd -  Confidential Information Under NDA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21E2B5-2547-65A6-4A51-F4F14811B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C13275-6251-4C40-AFE1-85D85DA07171}" type="slidenum">
              <a:rPr kumimoji="0" lang="en-US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srgbClr val="131319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圆角矩形 6">
            <a:extLst>
              <a:ext uri="{FF2B5EF4-FFF2-40B4-BE49-F238E27FC236}">
                <a16:creationId xmlns:a16="http://schemas.microsoft.com/office/drawing/2014/main" id="{24492B2A-EBE7-EDFB-7EB4-7656E122CF8F}"/>
              </a:ext>
            </a:extLst>
          </p:cNvPr>
          <p:cNvSpPr/>
          <p:nvPr/>
        </p:nvSpPr>
        <p:spPr>
          <a:xfrm>
            <a:off x="769620" y="1186592"/>
            <a:ext cx="5029200" cy="5163408"/>
          </a:xfrm>
          <a:prstGeom prst="roundRect">
            <a:avLst>
              <a:gd name="adj" fmla="val 4681"/>
            </a:avLst>
          </a:prstGeom>
          <a:solidFill>
            <a:sysClr val="window" lastClr="FFFFFF">
              <a:alpha val="50000"/>
            </a:sysClr>
          </a:solidFill>
          <a:ln w="12700" cap="flat" cmpd="sng" algn="ctr">
            <a:solidFill>
              <a:schemeClr val="bg2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E75329-4CF6-8C1F-C9F7-3A61DADD61C1}"/>
              </a:ext>
            </a:extLst>
          </p:cNvPr>
          <p:cNvSpPr txBox="1"/>
          <p:nvPr/>
        </p:nvSpPr>
        <p:spPr>
          <a:xfrm>
            <a:off x="1013460" y="1270203"/>
            <a:ext cx="4521200" cy="490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液冷要求：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散热方式：液冷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流    量：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2~5L/min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冷却介质：乙二醇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-50%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冷却水温：≤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65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℃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安装建议：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域控安装要求（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Keep out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区域）：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上方：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50mm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周围：宽度方向单边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50mm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                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长度方向单边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100mm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（考虑出线）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域控安装位置要求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居中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水平，朝向和车身坐标系平行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乘员舱区域，与车身钣金固定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B586A3A-A949-582E-D609-884F8F20F17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24" t="6009" r="2554" b="3057"/>
          <a:stretch/>
        </p:blipFill>
        <p:spPr>
          <a:xfrm>
            <a:off x="6393182" y="2833398"/>
            <a:ext cx="5158155" cy="1764323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0F58DAF-1D24-09EC-8568-531D645F085D}"/>
              </a:ext>
            </a:extLst>
          </p:cNvPr>
          <p:cNvCxnSpPr>
            <a:cxnSpLocks/>
          </p:cNvCxnSpPr>
          <p:nvPr/>
        </p:nvCxnSpPr>
        <p:spPr>
          <a:xfrm>
            <a:off x="987106" y="3119120"/>
            <a:ext cx="4594229" cy="0"/>
          </a:xfrm>
          <a:prstGeom prst="line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</a:ln>
          <a:effectLst/>
        </p:spPr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F68CA29-E775-B68F-A55A-753CE88D870F}"/>
              </a:ext>
            </a:extLst>
          </p:cNvPr>
          <p:cNvSpPr txBox="1"/>
          <p:nvPr/>
        </p:nvSpPr>
        <p:spPr>
          <a:xfrm>
            <a:off x="777240" y="487045"/>
            <a:ext cx="106375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600" b="0" spc="300">
                <a:solidFill>
                  <a:srgbClr val="001432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硬件</a:t>
            </a:r>
            <a:r>
              <a:rPr kumimoji="0" lang="en-US" altLang="zh-CN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-</a:t>
            </a:r>
            <a:r>
              <a:rPr kumimoji="0" lang="zh-CN" altLang="en-US" sz="2600" b="0" i="0" u="none" strike="noStrike" kern="1200" cap="none" spc="300" normalizeH="0" baseline="0" noProof="0" dirty="0">
                <a:ln>
                  <a:noFill/>
                </a:ln>
                <a:solidFill>
                  <a:srgbClr val="13131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安装要求</a:t>
            </a:r>
          </a:p>
        </p:txBody>
      </p:sp>
    </p:spTree>
    <p:extLst>
      <p:ext uri="{BB962C8B-B14F-4D97-AF65-F5344CB8AC3E}">
        <p14:creationId xmlns:p14="http://schemas.microsoft.com/office/powerpoint/2010/main" val="3349581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主题​​">
  <a:themeElements>
    <a:clrScheme name="自定义 12">
      <a:dk1>
        <a:srgbClr val="131319"/>
      </a:dk1>
      <a:lt1>
        <a:srgbClr val="FFFFFF"/>
      </a:lt1>
      <a:dk2>
        <a:srgbClr val="C2C6CF"/>
      </a:dk2>
      <a:lt2>
        <a:srgbClr val="00CCCC"/>
      </a:lt2>
      <a:accent1>
        <a:srgbClr val="00F0DC"/>
      </a:accent1>
      <a:accent2>
        <a:srgbClr val="9CFA78"/>
      </a:accent2>
      <a:accent3>
        <a:srgbClr val="D8FF0D"/>
      </a:accent3>
      <a:accent4>
        <a:srgbClr val="00DED5"/>
      </a:accent4>
      <a:accent5>
        <a:srgbClr val="00CDFF"/>
      </a:accent5>
      <a:accent6>
        <a:srgbClr val="0059FF"/>
      </a:accent6>
      <a:hlink>
        <a:srgbClr val="7823FF"/>
      </a:hlink>
      <a:folHlink>
        <a:srgbClr val="7030A0"/>
      </a:folHlink>
    </a:clrScheme>
    <a:fontScheme name="地平线模板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1571</Words>
  <Application>Microsoft Office PowerPoint</Application>
  <PresentationFormat>宽屏</PresentationFormat>
  <Paragraphs>554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等线</vt:lpstr>
      <vt:lpstr>宋体</vt:lpstr>
      <vt:lpstr>Arial</vt:lpstr>
      <vt:lpstr>Microsoft YaHei</vt:lpstr>
      <vt:lpstr>Microsoft YaHei</vt:lpstr>
      <vt:lpstr>Segoe UI</vt:lpstr>
      <vt:lpstr>1_Office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liqiong Zhao</dc:creator>
  <cp:lastModifiedBy>liqiong Zhao</cp:lastModifiedBy>
  <cp:revision>2</cp:revision>
  <dcterms:created xsi:type="dcterms:W3CDTF">2025-06-10T05:04:00Z</dcterms:created>
  <dcterms:modified xsi:type="dcterms:W3CDTF">2025-06-12T03:47:30Z</dcterms:modified>
</cp:coreProperties>
</file>